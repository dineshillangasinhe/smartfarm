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10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8"/>
  </p:notesMasterIdLst>
  <p:sldIdLst>
    <p:sldId id="256" r:id="rId5"/>
    <p:sldId id="279" r:id="rId6"/>
    <p:sldId id="257" r:id="rId7"/>
    <p:sldId id="258" r:id="rId8"/>
    <p:sldId id="259" r:id="rId9"/>
    <p:sldId id="260" r:id="rId10"/>
    <p:sldId id="261" r:id="rId11"/>
    <p:sldId id="269" r:id="rId12"/>
    <p:sldId id="270" r:id="rId13"/>
    <p:sldId id="271" r:id="rId14"/>
    <p:sldId id="263" r:id="rId15"/>
    <p:sldId id="264" r:id="rId16"/>
    <p:sldId id="265" r:id="rId17"/>
    <p:sldId id="272" r:id="rId18"/>
    <p:sldId id="273" r:id="rId19"/>
    <p:sldId id="274" r:id="rId20"/>
    <p:sldId id="266" r:id="rId21"/>
    <p:sldId id="267" r:id="rId22"/>
    <p:sldId id="268" r:id="rId23"/>
    <p:sldId id="275" r:id="rId24"/>
    <p:sldId id="276" r:id="rId25"/>
    <p:sldId id="277" r:id="rId26"/>
    <p:sldId id="278" r:id="rId2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694CF-FC14-CE76-AE00-E373FF33B289}" v="14" dt="2026-10-10T11:56:21.8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>
      <p:cViewPr varScale="1">
        <p:scale>
          <a:sx n="52" d="100"/>
          <a:sy n="52" d="100"/>
        </p:scale>
        <p:origin x="62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WARDHANA H.A.S it22136138" userId="S::it22136138@my.sliit.lk::550bba27-ee87-4314-908c-1e87166f5555" providerId="AD" clId="Web-{5F9694CF-FC14-CE76-AE00-E373FF33B289}"/>
    <pc:docChg chg="modSld">
      <pc:chgData name="JAYAWARDHANA H.A.S it22136138" userId="S::it22136138@my.sliit.lk::550bba27-ee87-4314-908c-1e87166f5555" providerId="AD" clId="Web-{5F9694CF-FC14-CE76-AE00-E373FF33B289}" dt="2026-10-10T11:56:21.766" v="10" actId="20577"/>
      <pc:docMkLst>
        <pc:docMk/>
      </pc:docMkLst>
      <pc:sldChg chg="modSp">
        <pc:chgData name="JAYAWARDHANA H.A.S it22136138" userId="S::it22136138@my.sliit.lk::550bba27-ee87-4314-908c-1e87166f5555" providerId="AD" clId="Web-{5F9694CF-FC14-CE76-AE00-E373FF33B289}" dt="2026-10-10T11:56:21.766" v="10" actId="20577"/>
        <pc:sldMkLst>
          <pc:docMk/>
          <pc:sldMk cId="0" sldId="256"/>
        </pc:sldMkLst>
        <pc:spChg chg="mod">
          <ac:chgData name="JAYAWARDHANA H.A.S it22136138" userId="S::it22136138@my.sliit.lk::550bba27-ee87-4314-908c-1e87166f5555" providerId="AD" clId="Web-{5F9694CF-FC14-CE76-AE00-E373FF33B289}" dt="2026-10-10T11:56:21.766" v="10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68149-0538-467A-850F-E277FB04A32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DC504-08A7-4FE0-A7F9-F4B6696A0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07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0611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611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5B3DD-1F21-4A6E-A4D3-B4CDEEF378FF}" type="datetime1">
              <a:rPr lang="en-US" smtClean="0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0611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611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04D3D-4869-46C0-A697-C6716BC3B304}" type="datetime1">
              <a:rPr lang="en-US" smtClean="0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0611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5779F-BB75-4E3A-9A34-7D08CCB0E0A2}" type="datetime1">
              <a:rPr lang="en-US" smtClean="0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0611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A488B-DCB1-41EB-B3E9-C9A905ECFDCE}" type="datetime1">
              <a:rPr lang="en-US" smtClean="0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623D1-7819-47B3-B974-C6549A42415D}" type="datetime1">
              <a:rPr lang="en-US" smtClean="0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29911" y="365747"/>
            <a:ext cx="14143355" cy="2012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06117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5469" y="2425172"/>
            <a:ext cx="9853295" cy="5633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611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70952-A71F-4602-9064-521672AA6A26}" type="datetime1">
              <a:rPr lang="en-US" smtClean="0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mysliit-my.sharepoint.com/:v:/g/personal/it22136138_my_sliit_lk/IQBIlv29wEVtSobU_290VE2tAc_48_3YBg7DqIqgZnV5S9E?nav=eyJyZWZlcnJhbEluZm8iOnsicmVmZXJyYWxBcHAiOiJPbmVEcml2ZUZvckJ1c2luZXNzIiwicmVmZXJyYWxBcHBQbGF0Zm9ybSI6IldlYiIsInJlZmVycmFsTW9kZSI6InZpZXciLCJyZWZlcnJhbFZpZXciOiJNeUZpbGVzTGlua0NvcHkifX0&amp;e=wuLOv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1.jp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8.jp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1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3.jp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4.jp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9.png"/><Relationship Id="rId4" Type="http://schemas.openxmlformats.org/officeDocument/2006/relationships/image" Target="../media/image3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4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0014" y="9843293"/>
            <a:ext cx="54546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7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509238" y="9828900"/>
            <a:ext cx="133096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4" name="object 4" descr="A picture containing photo, table, person, monitor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483394"/>
            <a:ext cx="3771899" cy="73542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43000" y="876300"/>
            <a:ext cx="16916400" cy="1791516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lang="en-US" sz="6600" b="1" spc="1045">
                <a:solidFill>
                  <a:srgbClr val="006117"/>
                </a:solidFill>
                <a:latin typeface="Trebuchet MS"/>
              </a:rPr>
              <a:t>Why Did We Change the Topic?</a:t>
            </a:r>
            <a:endParaRPr sz="6600" b="1">
              <a:latin typeface="Trebuchet MS"/>
            </a:endParaRPr>
          </a:p>
          <a:p>
            <a:pPr marL="12700">
              <a:lnSpc>
                <a:spcPct val="100000"/>
              </a:lnSpc>
              <a:spcBef>
                <a:spcPts val="2625"/>
              </a:spcBef>
            </a:pPr>
            <a:r>
              <a:rPr sz="2800" b="1" spc="245" dirty="0">
                <a:latin typeface="Trebuchet MS"/>
                <a:cs typeface="Trebuchet MS"/>
              </a:rPr>
              <a:t>P</a:t>
            </a:r>
            <a:r>
              <a:rPr sz="2800" b="1" spc="-415" dirty="0">
                <a:latin typeface="Trebuchet MS"/>
                <a:cs typeface="Trebuchet MS"/>
              </a:rPr>
              <a:t> </a:t>
            </a:r>
            <a:r>
              <a:rPr sz="2800" b="1" spc="200" dirty="0">
                <a:latin typeface="Trebuchet MS"/>
                <a:cs typeface="Trebuchet MS"/>
              </a:rPr>
              <a:t>r</a:t>
            </a:r>
            <a:r>
              <a:rPr sz="2800" b="1" spc="-415" dirty="0">
                <a:latin typeface="Trebuchet MS"/>
                <a:cs typeface="Trebuchet MS"/>
              </a:rPr>
              <a:t> </a:t>
            </a:r>
            <a:r>
              <a:rPr sz="2800" b="1" spc="265" dirty="0">
                <a:latin typeface="Trebuchet MS"/>
                <a:cs typeface="Trebuchet MS"/>
              </a:rPr>
              <a:t>o</a:t>
            </a:r>
            <a:r>
              <a:rPr sz="2800" b="1" spc="-409" dirty="0">
                <a:latin typeface="Trebuchet MS"/>
                <a:cs typeface="Trebuchet MS"/>
              </a:rPr>
              <a:t> </a:t>
            </a:r>
            <a:r>
              <a:rPr sz="2800" b="1" spc="-200" dirty="0">
                <a:latin typeface="Trebuchet MS"/>
                <a:cs typeface="Trebuchet MS"/>
              </a:rPr>
              <a:t>j</a:t>
            </a:r>
            <a:r>
              <a:rPr sz="2800" b="1" spc="-415" dirty="0">
                <a:latin typeface="Trebuchet MS"/>
                <a:cs typeface="Trebuchet MS"/>
              </a:rPr>
              <a:t> </a:t>
            </a:r>
            <a:r>
              <a:rPr sz="2800" b="1" spc="80" dirty="0">
                <a:latin typeface="Trebuchet MS"/>
                <a:cs typeface="Trebuchet MS"/>
              </a:rPr>
              <a:t>e</a:t>
            </a:r>
            <a:r>
              <a:rPr sz="2800" b="1" spc="-409" dirty="0">
                <a:latin typeface="Trebuchet MS"/>
                <a:cs typeface="Trebuchet MS"/>
              </a:rPr>
              <a:t> </a:t>
            </a:r>
            <a:r>
              <a:rPr sz="2800" b="1" spc="-65" dirty="0">
                <a:latin typeface="Trebuchet MS"/>
                <a:cs typeface="Trebuchet MS"/>
              </a:rPr>
              <a:t>c</a:t>
            </a:r>
            <a:r>
              <a:rPr sz="2800" b="1" spc="-415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t</a:t>
            </a:r>
            <a:r>
              <a:rPr sz="2800" b="1" spc="-25" dirty="0">
                <a:latin typeface="Trebuchet MS"/>
                <a:cs typeface="Trebuchet MS"/>
              </a:rPr>
              <a:t>  </a:t>
            </a:r>
            <a:r>
              <a:rPr sz="2800" b="1" spc="90" dirty="0">
                <a:latin typeface="Trebuchet MS"/>
                <a:cs typeface="Trebuchet MS"/>
              </a:rPr>
              <a:t>I</a:t>
            </a:r>
            <a:r>
              <a:rPr sz="2800" b="1" spc="-415" dirty="0">
                <a:latin typeface="Trebuchet MS"/>
                <a:cs typeface="Trebuchet MS"/>
              </a:rPr>
              <a:t> </a:t>
            </a:r>
            <a:r>
              <a:rPr sz="2800" b="1" spc="270" dirty="0">
                <a:latin typeface="Trebuchet MS"/>
                <a:cs typeface="Trebuchet MS"/>
              </a:rPr>
              <a:t>D</a:t>
            </a:r>
            <a:r>
              <a:rPr sz="2800" b="1" spc="-409" dirty="0">
                <a:latin typeface="Trebuchet MS"/>
                <a:cs typeface="Trebuchet MS"/>
              </a:rPr>
              <a:t> </a:t>
            </a:r>
            <a:r>
              <a:rPr lang="en-US" sz="2800" b="1" spc="215" dirty="0">
                <a:latin typeface="Trebuchet MS"/>
                <a:cs typeface="Trebuchet MS"/>
              </a:rPr>
              <a:t>–</a:t>
            </a:r>
            <a:r>
              <a:rPr sz="2800" b="1" spc="-25" dirty="0">
                <a:latin typeface="Trebuchet MS"/>
                <a:cs typeface="Trebuchet MS"/>
              </a:rPr>
              <a:t> </a:t>
            </a:r>
            <a:r>
              <a:rPr lang="en-US" sz="2800" b="1" spc="-25" dirty="0">
                <a:latin typeface="Trebuchet MS"/>
                <a:cs typeface="Trebuchet MS"/>
              </a:rPr>
              <a:t>R26 – IT - 093</a:t>
            </a:r>
            <a:endParaRPr sz="2800" dirty="0">
              <a:latin typeface="Trebuchet MS"/>
              <a:cs typeface="Trebuchet M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53E4D7-6816-2BAA-66CE-0D9690ECE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00865"/>
            <a:ext cx="5438942" cy="11129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19030D-4E69-8566-D9B2-A80ED30CE1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4000499"/>
            <a:ext cx="16687800" cy="5247401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E311D22-2F44-AC59-4719-694F45EDFA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A7CC09-3A72-C6FE-ADBC-E24521DC5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D799A6-47CD-093F-1566-DFC8BD75B818}"/>
              </a:ext>
            </a:extLst>
          </p:cNvPr>
          <p:cNvSpPr txBox="1"/>
          <p:nvPr/>
        </p:nvSpPr>
        <p:spPr>
          <a:xfrm>
            <a:off x="17140014" y="9843293"/>
            <a:ext cx="54546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700" dirty="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80E0743-85FF-4FCF-C02F-9333DAF82DFD}"/>
              </a:ext>
            </a:extLst>
          </p:cNvPr>
          <p:cNvSpPr txBox="1"/>
          <p:nvPr/>
        </p:nvSpPr>
        <p:spPr>
          <a:xfrm>
            <a:off x="15509238" y="9828900"/>
            <a:ext cx="133096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4" name="object 4" descr="A picture containing photo, table, person, monitor  Description automatically generated">
            <a:extLst>
              <a:ext uri="{FF2B5EF4-FFF2-40B4-BE49-F238E27FC236}">
                <a16:creationId xmlns:a16="http://schemas.microsoft.com/office/drawing/2014/main" id="{CA3144A0-ADB0-205D-F0D0-F32523306E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483394"/>
            <a:ext cx="3771899" cy="735425"/>
          </a:xfrm>
          <a:prstGeom prst="rect">
            <a:avLst/>
          </a:prstGeom>
        </p:spPr>
      </p:pic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44F3F9C-703B-7870-50E4-97D6CBCE65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5341" y="2496114"/>
            <a:ext cx="6978015" cy="1668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750" spc="975" dirty="0"/>
              <a:t>AI</a:t>
            </a:r>
            <a:r>
              <a:rPr sz="10750" spc="-295" dirty="0"/>
              <a:t> </a:t>
            </a:r>
            <a:r>
              <a:rPr sz="10750" spc="1270" dirty="0"/>
              <a:t>SMART</a:t>
            </a:r>
            <a:endParaRPr sz="1075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DC14689-8B41-6D2D-8845-1C1110E10C8E}"/>
              </a:ext>
            </a:extLst>
          </p:cNvPr>
          <p:cNvSpPr txBox="1"/>
          <p:nvPr/>
        </p:nvSpPr>
        <p:spPr>
          <a:xfrm>
            <a:off x="1615341" y="4151330"/>
            <a:ext cx="5443855" cy="23224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50" b="1" spc="1045" dirty="0">
                <a:solidFill>
                  <a:srgbClr val="006117"/>
                </a:solidFill>
                <a:latin typeface="Trebuchet MS"/>
                <a:cs typeface="Trebuchet MS"/>
              </a:rPr>
              <a:t>FARM</a:t>
            </a:r>
            <a:endParaRPr sz="100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625"/>
              </a:spcBef>
            </a:pPr>
            <a:r>
              <a:rPr sz="2800" b="1" spc="245" dirty="0">
                <a:latin typeface="Trebuchet MS"/>
                <a:cs typeface="Trebuchet MS"/>
              </a:rPr>
              <a:t>P</a:t>
            </a:r>
            <a:r>
              <a:rPr sz="2800" b="1" spc="-415" dirty="0">
                <a:latin typeface="Trebuchet MS"/>
                <a:cs typeface="Trebuchet MS"/>
              </a:rPr>
              <a:t> </a:t>
            </a:r>
            <a:r>
              <a:rPr sz="2800" b="1" spc="200" dirty="0">
                <a:latin typeface="Trebuchet MS"/>
                <a:cs typeface="Trebuchet MS"/>
              </a:rPr>
              <a:t>r</a:t>
            </a:r>
            <a:r>
              <a:rPr sz="2800" b="1" spc="-415" dirty="0">
                <a:latin typeface="Trebuchet MS"/>
                <a:cs typeface="Trebuchet MS"/>
              </a:rPr>
              <a:t> </a:t>
            </a:r>
            <a:r>
              <a:rPr sz="2800" b="1" spc="265" dirty="0">
                <a:latin typeface="Trebuchet MS"/>
                <a:cs typeface="Trebuchet MS"/>
              </a:rPr>
              <a:t>o</a:t>
            </a:r>
            <a:r>
              <a:rPr sz="2800" b="1" spc="-409" dirty="0">
                <a:latin typeface="Trebuchet MS"/>
                <a:cs typeface="Trebuchet MS"/>
              </a:rPr>
              <a:t> </a:t>
            </a:r>
            <a:r>
              <a:rPr sz="2800" b="1" spc="-200" dirty="0">
                <a:latin typeface="Trebuchet MS"/>
                <a:cs typeface="Trebuchet MS"/>
              </a:rPr>
              <a:t>j</a:t>
            </a:r>
            <a:r>
              <a:rPr sz="2800" b="1" spc="-415" dirty="0">
                <a:latin typeface="Trebuchet MS"/>
                <a:cs typeface="Trebuchet MS"/>
              </a:rPr>
              <a:t> </a:t>
            </a:r>
            <a:r>
              <a:rPr sz="2800" b="1" spc="80" dirty="0">
                <a:latin typeface="Trebuchet MS"/>
                <a:cs typeface="Trebuchet MS"/>
              </a:rPr>
              <a:t>e</a:t>
            </a:r>
            <a:r>
              <a:rPr sz="2800" b="1" spc="-409" dirty="0">
                <a:latin typeface="Trebuchet MS"/>
                <a:cs typeface="Trebuchet MS"/>
              </a:rPr>
              <a:t> </a:t>
            </a:r>
            <a:r>
              <a:rPr sz="2800" b="1" spc="-65" dirty="0">
                <a:latin typeface="Trebuchet MS"/>
                <a:cs typeface="Trebuchet MS"/>
              </a:rPr>
              <a:t>c</a:t>
            </a:r>
            <a:r>
              <a:rPr sz="2800" b="1" spc="-415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t</a:t>
            </a:r>
            <a:r>
              <a:rPr sz="2800" b="1" spc="-25" dirty="0">
                <a:latin typeface="Trebuchet MS"/>
                <a:cs typeface="Trebuchet MS"/>
              </a:rPr>
              <a:t>  </a:t>
            </a:r>
            <a:r>
              <a:rPr sz="2800" b="1" spc="90" dirty="0">
                <a:latin typeface="Trebuchet MS"/>
                <a:cs typeface="Trebuchet MS"/>
              </a:rPr>
              <a:t>I</a:t>
            </a:r>
            <a:r>
              <a:rPr sz="2800" b="1" spc="-415" dirty="0">
                <a:latin typeface="Trebuchet MS"/>
                <a:cs typeface="Trebuchet MS"/>
              </a:rPr>
              <a:t> </a:t>
            </a:r>
            <a:r>
              <a:rPr sz="2800" b="1" spc="270" dirty="0">
                <a:latin typeface="Trebuchet MS"/>
                <a:cs typeface="Trebuchet MS"/>
              </a:rPr>
              <a:t>D</a:t>
            </a:r>
            <a:r>
              <a:rPr sz="2800" b="1" spc="-409" dirty="0">
                <a:latin typeface="Trebuchet MS"/>
                <a:cs typeface="Trebuchet MS"/>
              </a:rPr>
              <a:t> </a:t>
            </a:r>
            <a:r>
              <a:rPr lang="en-US" sz="2800" b="1" spc="215" dirty="0">
                <a:latin typeface="Trebuchet MS"/>
                <a:cs typeface="Trebuchet MS"/>
              </a:rPr>
              <a:t>–</a:t>
            </a:r>
            <a:r>
              <a:rPr sz="2800" b="1" spc="-25" dirty="0">
                <a:latin typeface="Trebuchet MS"/>
                <a:cs typeface="Trebuchet MS"/>
              </a:rPr>
              <a:t> </a:t>
            </a:r>
            <a:r>
              <a:rPr lang="en-US" sz="2800" b="1" spc="-25" dirty="0">
                <a:latin typeface="Trebuchet MS"/>
                <a:cs typeface="Trebuchet MS"/>
              </a:rPr>
              <a:t>R26 – IT - 093</a:t>
            </a:r>
            <a:endParaRPr sz="2800" dirty="0">
              <a:latin typeface="Trebuchet MS"/>
              <a:cs typeface="Trebuchet M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867E19-BFB9-A91F-E9BC-EC07E7E6E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00865"/>
            <a:ext cx="5438942" cy="1112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BA0D2B-92B9-F04A-CA04-610694035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599" y="1655986"/>
            <a:ext cx="5943600" cy="6975027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FD1232-D99D-40FF-DAB5-46823DCFB5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31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9112" y="5861822"/>
            <a:ext cx="7125789" cy="442517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2399" rIns="0" bIns="0" rtlCol="0">
            <a:spAutoFit/>
          </a:bodyPr>
          <a:lstStyle/>
          <a:p>
            <a:pPr marL="4500880">
              <a:lnSpc>
                <a:spcPct val="100000"/>
              </a:lnSpc>
              <a:spcBef>
                <a:spcPts val="90"/>
              </a:spcBef>
            </a:pPr>
            <a:r>
              <a:rPr sz="6550" spc="290" dirty="0"/>
              <a:t>CONTENT</a:t>
            </a:r>
            <a:endParaRPr sz="6550" dirty="0"/>
          </a:p>
        </p:txBody>
      </p:sp>
      <p:sp>
        <p:nvSpPr>
          <p:cNvPr id="5" name="object 5"/>
          <p:cNvSpPr txBox="1"/>
          <p:nvPr/>
        </p:nvSpPr>
        <p:spPr>
          <a:xfrm>
            <a:off x="2343419" y="2639627"/>
            <a:ext cx="14595475" cy="36214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54685" indent="-645795">
              <a:lnSpc>
                <a:spcPct val="100000"/>
              </a:lnSpc>
              <a:spcBef>
                <a:spcPts val="125"/>
              </a:spcBef>
              <a:buSzPct val="83561"/>
              <a:buAutoNum type="arabicPeriod"/>
              <a:tabLst>
                <a:tab pos="654685" algn="l"/>
              </a:tabLst>
            </a:pPr>
            <a:r>
              <a:rPr sz="3650" spc="-114" dirty="0">
                <a:solidFill>
                  <a:srgbClr val="006117"/>
                </a:solidFill>
                <a:latin typeface="Verdana"/>
                <a:cs typeface="Verdana"/>
              </a:rPr>
              <a:t>Introdution</a:t>
            </a:r>
            <a:endParaRPr sz="3650">
              <a:latin typeface="Verdana"/>
              <a:cs typeface="Verdana"/>
            </a:endParaRPr>
          </a:p>
          <a:p>
            <a:pPr marL="731520" indent="-718820">
              <a:lnSpc>
                <a:spcPct val="100000"/>
              </a:lnSpc>
              <a:spcBef>
                <a:spcPts val="3700"/>
              </a:spcBef>
              <a:buSzPct val="83561"/>
              <a:buAutoNum type="arabicPeriod"/>
              <a:tabLst>
                <a:tab pos="731520" algn="l"/>
              </a:tabLst>
            </a:pPr>
            <a:r>
              <a:rPr sz="3650" spc="-245" dirty="0">
                <a:solidFill>
                  <a:srgbClr val="006117"/>
                </a:solidFill>
                <a:latin typeface="Verdana"/>
                <a:cs typeface="Verdana"/>
              </a:rPr>
              <a:t>Proposed</a:t>
            </a:r>
            <a:r>
              <a:rPr sz="3650" spc="-59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190" dirty="0">
                <a:solidFill>
                  <a:srgbClr val="006117"/>
                </a:solidFill>
                <a:latin typeface="Verdana"/>
                <a:cs typeface="Verdana"/>
              </a:rPr>
              <a:t>Solution</a:t>
            </a:r>
            <a:r>
              <a:rPr sz="3650" spc="8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295" dirty="0">
                <a:solidFill>
                  <a:srgbClr val="006117"/>
                </a:solidFill>
                <a:latin typeface="Verdana"/>
                <a:cs typeface="Verdana"/>
              </a:rPr>
              <a:t>User</a:t>
            </a:r>
            <a:r>
              <a:rPr sz="3650" spc="-59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260" dirty="0">
                <a:solidFill>
                  <a:srgbClr val="006117"/>
                </a:solidFill>
                <a:latin typeface="Verdana"/>
                <a:cs typeface="Verdana"/>
              </a:rPr>
              <a:t>Requirements</a:t>
            </a:r>
            <a:r>
              <a:rPr sz="3650" spc="-59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280" dirty="0">
                <a:solidFill>
                  <a:srgbClr val="006117"/>
                </a:solidFill>
                <a:latin typeface="Verdana"/>
                <a:cs typeface="Verdana"/>
              </a:rPr>
              <a:t>Addressed</a:t>
            </a:r>
            <a:r>
              <a:rPr sz="3650" spc="-59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125" dirty="0">
                <a:solidFill>
                  <a:srgbClr val="006117"/>
                </a:solidFill>
                <a:latin typeface="Verdana"/>
                <a:cs typeface="Verdana"/>
              </a:rPr>
              <a:t>of</a:t>
            </a:r>
            <a:r>
              <a:rPr sz="3650" spc="-59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185" dirty="0">
                <a:solidFill>
                  <a:srgbClr val="006117"/>
                </a:solidFill>
                <a:latin typeface="Verdana"/>
                <a:cs typeface="Verdana"/>
              </a:rPr>
              <a:t>the</a:t>
            </a:r>
            <a:r>
              <a:rPr sz="3650" spc="-59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270" dirty="0">
                <a:solidFill>
                  <a:srgbClr val="006117"/>
                </a:solidFill>
                <a:latin typeface="Verdana"/>
                <a:cs typeface="Verdana"/>
              </a:rPr>
              <a:t>components</a:t>
            </a:r>
            <a:endParaRPr sz="3650">
              <a:latin typeface="Verdana"/>
              <a:cs typeface="Verdana"/>
            </a:endParaRPr>
          </a:p>
          <a:p>
            <a:pPr marL="734695" indent="-711200">
              <a:lnSpc>
                <a:spcPct val="100000"/>
              </a:lnSpc>
              <a:spcBef>
                <a:spcPts val="3375"/>
              </a:spcBef>
              <a:buSzPct val="83561"/>
              <a:buAutoNum type="arabicPeriod"/>
              <a:tabLst>
                <a:tab pos="734695" algn="l"/>
              </a:tabLst>
            </a:pPr>
            <a:r>
              <a:rPr sz="3650" spc="-285" dirty="0">
                <a:solidFill>
                  <a:srgbClr val="006117"/>
                </a:solidFill>
                <a:latin typeface="Verdana"/>
                <a:cs typeface="Verdana"/>
              </a:rPr>
              <a:t>Design</a:t>
            </a:r>
            <a:r>
              <a:rPr sz="3650" spc="-58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260" dirty="0">
                <a:solidFill>
                  <a:srgbClr val="006117"/>
                </a:solidFill>
                <a:latin typeface="Verdana"/>
                <a:cs typeface="Verdana"/>
              </a:rPr>
              <a:t>Excellence</a:t>
            </a:r>
            <a:r>
              <a:rPr sz="3650" spc="-57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300" dirty="0">
                <a:solidFill>
                  <a:srgbClr val="006117"/>
                </a:solidFill>
                <a:latin typeface="Verdana"/>
                <a:cs typeface="Verdana"/>
              </a:rPr>
              <a:t>and</a:t>
            </a:r>
            <a:r>
              <a:rPr sz="3650" spc="13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295" dirty="0">
                <a:solidFill>
                  <a:srgbClr val="006117"/>
                </a:solidFill>
                <a:latin typeface="Verdana"/>
                <a:cs typeface="Verdana"/>
              </a:rPr>
              <a:t>User</a:t>
            </a:r>
            <a:r>
              <a:rPr sz="3650" spc="-58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295" dirty="0">
                <a:solidFill>
                  <a:srgbClr val="006117"/>
                </a:solidFill>
                <a:latin typeface="Verdana"/>
                <a:cs typeface="Verdana"/>
              </a:rPr>
              <a:t>Feedback</a:t>
            </a:r>
            <a:r>
              <a:rPr sz="3650" spc="14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125" dirty="0">
                <a:solidFill>
                  <a:srgbClr val="006117"/>
                </a:solidFill>
                <a:latin typeface="Verdana"/>
                <a:cs typeface="Verdana"/>
              </a:rPr>
              <a:t>of</a:t>
            </a:r>
            <a:r>
              <a:rPr sz="3650" spc="-58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185" dirty="0">
                <a:solidFill>
                  <a:srgbClr val="006117"/>
                </a:solidFill>
                <a:latin typeface="Verdana"/>
                <a:cs typeface="Verdana"/>
              </a:rPr>
              <a:t>the</a:t>
            </a:r>
            <a:r>
              <a:rPr sz="3650" spc="-57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270" dirty="0">
                <a:solidFill>
                  <a:srgbClr val="006117"/>
                </a:solidFill>
                <a:latin typeface="Verdana"/>
                <a:cs typeface="Verdana"/>
              </a:rPr>
              <a:t>components</a:t>
            </a:r>
            <a:endParaRPr sz="3650">
              <a:latin typeface="Verdana"/>
              <a:cs typeface="Verdana"/>
            </a:endParaRPr>
          </a:p>
          <a:p>
            <a:pPr marL="793750" indent="-742315">
              <a:lnSpc>
                <a:spcPct val="100000"/>
              </a:lnSpc>
              <a:spcBef>
                <a:spcPts val="3685"/>
              </a:spcBef>
              <a:buSzPct val="83561"/>
              <a:buAutoNum type="arabicPeriod"/>
              <a:tabLst>
                <a:tab pos="793750" algn="l"/>
              </a:tabLst>
            </a:pPr>
            <a:r>
              <a:rPr sz="3650" spc="-240" dirty="0">
                <a:solidFill>
                  <a:srgbClr val="006117"/>
                </a:solidFill>
                <a:latin typeface="Verdana"/>
                <a:cs typeface="Verdana"/>
              </a:rPr>
              <a:t>Commercialization/Sustainability</a:t>
            </a:r>
            <a:r>
              <a:rPr sz="3650" spc="-434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125" dirty="0">
                <a:solidFill>
                  <a:srgbClr val="006117"/>
                </a:solidFill>
                <a:latin typeface="Verdana"/>
                <a:cs typeface="Verdana"/>
              </a:rPr>
              <a:t>of</a:t>
            </a:r>
            <a:r>
              <a:rPr sz="3650" spc="-434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50" spc="-50" dirty="0">
                <a:solidFill>
                  <a:srgbClr val="006117"/>
                </a:solidFill>
                <a:latin typeface="Verdana"/>
                <a:cs typeface="Verdana"/>
              </a:rPr>
              <a:t>Solution</a:t>
            </a:r>
            <a:endParaRPr sz="3650">
              <a:latin typeface="Verdana"/>
              <a:cs typeface="Verdan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21710F-7639-E525-C3FB-C0D849195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00865"/>
            <a:ext cx="5438942" cy="1112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D18520-628A-CB88-C0AE-D5FA63F53E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D286CA3-F0FE-9E60-D476-36296085C8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7200" y="1744855"/>
            <a:ext cx="6223807" cy="7630331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6071870" marR="5080" indent="-6059805">
              <a:lnSpc>
                <a:spcPts val="7800"/>
              </a:lnSpc>
              <a:spcBef>
                <a:spcPts val="250"/>
              </a:spcBef>
            </a:pPr>
            <a:r>
              <a:rPr sz="6550" spc="70" dirty="0"/>
              <a:t>Converting</a:t>
            </a:r>
            <a:r>
              <a:rPr sz="6550" spc="-730" dirty="0"/>
              <a:t> </a:t>
            </a:r>
            <a:r>
              <a:rPr sz="6550" spc="-60" dirty="0"/>
              <a:t>Traditional</a:t>
            </a:r>
            <a:r>
              <a:rPr sz="6550" spc="-730" dirty="0"/>
              <a:t> </a:t>
            </a:r>
            <a:r>
              <a:rPr sz="6550" spc="-125" dirty="0"/>
              <a:t>farm</a:t>
            </a:r>
            <a:r>
              <a:rPr sz="6550" spc="-730" dirty="0"/>
              <a:t> </a:t>
            </a:r>
            <a:r>
              <a:rPr sz="6550" dirty="0"/>
              <a:t>to</a:t>
            </a:r>
            <a:r>
              <a:rPr sz="6550" spc="-730" dirty="0"/>
              <a:t> </a:t>
            </a:r>
            <a:r>
              <a:rPr sz="6550" spc="90" dirty="0"/>
              <a:t>Smart </a:t>
            </a:r>
            <a:r>
              <a:rPr sz="6550" spc="-20" dirty="0"/>
              <a:t>Farm</a:t>
            </a:r>
            <a:endParaRPr sz="6550"/>
          </a:p>
        </p:txBody>
      </p:sp>
      <p:sp>
        <p:nvSpPr>
          <p:cNvPr id="6" name="object 6"/>
          <p:cNvSpPr txBox="1"/>
          <p:nvPr/>
        </p:nvSpPr>
        <p:spPr>
          <a:xfrm>
            <a:off x="758234" y="2872384"/>
            <a:ext cx="15493365" cy="5375275"/>
          </a:xfrm>
          <a:prstGeom prst="rect">
            <a:avLst/>
          </a:prstGeom>
        </p:spPr>
        <p:txBody>
          <a:bodyPr vert="horz" wrap="square" lIns="0" tIns="286385" rIns="0" bIns="0" rtlCol="0">
            <a:spAutoFit/>
          </a:bodyPr>
          <a:lstStyle/>
          <a:p>
            <a:pPr marL="522605">
              <a:lnSpc>
                <a:spcPct val="100000"/>
              </a:lnSpc>
              <a:spcBef>
                <a:spcPts val="2255"/>
              </a:spcBef>
            </a:pPr>
            <a:r>
              <a:rPr lang="en-US" sz="3500" spc="-75" dirty="0">
                <a:solidFill>
                  <a:srgbClr val="006117"/>
                </a:solidFill>
                <a:latin typeface="Verdana"/>
                <a:cs typeface="Verdana"/>
              </a:rPr>
              <a:t>Traditional farming still faces several major </a:t>
            </a:r>
            <a:r>
              <a:rPr lang="en-US" sz="3500" spc="-75">
                <a:solidFill>
                  <a:srgbClr val="006117"/>
                </a:solidFill>
                <a:latin typeface="Verdana"/>
                <a:cs typeface="Verdana"/>
              </a:rPr>
              <a:t>challengers,</a:t>
            </a:r>
            <a:endParaRPr sz="3500" dirty="0">
              <a:latin typeface="Verdana"/>
              <a:cs typeface="Verdana"/>
            </a:endParaRPr>
          </a:p>
          <a:p>
            <a:pPr marL="12700" marR="5080" indent="-12065">
              <a:lnSpc>
                <a:spcPct val="100000"/>
              </a:lnSpc>
              <a:spcBef>
                <a:spcPts val="2165"/>
              </a:spcBef>
              <a:buSzPct val="82857"/>
              <a:buAutoNum type="arabicParenBoth"/>
              <a:tabLst>
                <a:tab pos="579755" algn="l"/>
              </a:tabLst>
            </a:pPr>
            <a:r>
              <a:rPr sz="3500" spc="-330" dirty="0">
                <a:latin typeface="Verdana"/>
                <a:cs typeface="Verdana"/>
              </a:rPr>
              <a:t>	Lack</a:t>
            </a:r>
            <a:r>
              <a:rPr sz="3500" spc="-530" dirty="0">
                <a:latin typeface="Verdana"/>
                <a:cs typeface="Verdana"/>
              </a:rPr>
              <a:t> </a:t>
            </a:r>
            <a:r>
              <a:rPr sz="3500" spc="-114" dirty="0">
                <a:latin typeface="Verdana"/>
                <a:cs typeface="Verdana"/>
              </a:rPr>
              <a:t>of</a:t>
            </a:r>
            <a:r>
              <a:rPr sz="3500" spc="-530" dirty="0">
                <a:latin typeface="Verdana"/>
                <a:cs typeface="Verdana"/>
              </a:rPr>
              <a:t> </a:t>
            </a:r>
            <a:r>
              <a:rPr sz="3500" spc="-254" dirty="0">
                <a:latin typeface="Verdana"/>
                <a:cs typeface="Verdana"/>
              </a:rPr>
              <a:t>automated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85" dirty="0">
                <a:latin typeface="Verdana"/>
                <a:cs typeface="Verdana"/>
              </a:rPr>
              <a:t>feeding</a:t>
            </a:r>
            <a:r>
              <a:rPr sz="3500" spc="-530" dirty="0">
                <a:latin typeface="Verdana"/>
                <a:cs typeface="Verdana"/>
              </a:rPr>
              <a:t> </a:t>
            </a:r>
            <a:r>
              <a:rPr sz="3500" spc="-285" dirty="0">
                <a:latin typeface="Verdana"/>
                <a:cs typeface="Verdana"/>
              </a:rPr>
              <a:t>and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45" dirty="0">
                <a:latin typeface="Verdana"/>
                <a:cs typeface="Verdana"/>
              </a:rPr>
              <a:t>nutrition</a:t>
            </a:r>
            <a:r>
              <a:rPr sz="3500" spc="-530" dirty="0">
                <a:latin typeface="Verdana"/>
                <a:cs typeface="Verdana"/>
              </a:rPr>
              <a:t> </a:t>
            </a:r>
            <a:r>
              <a:rPr sz="3500" spc="-295" dirty="0">
                <a:latin typeface="Verdana"/>
                <a:cs typeface="Verdana"/>
              </a:rPr>
              <a:t>management</a:t>
            </a:r>
            <a:r>
              <a:rPr sz="3500" spc="-530" dirty="0">
                <a:latin typeface="Verdana"/>
                <a:cs typeface="Verdana"/>
              </a:rPr>
              <a:t> </a:t>
            </a:r>
            <a:r>
              <a:rPr sz="3500" spc="-135" dirty="0">
                <a:latin typeface="Verdana"/>
                <a:cs typeface="Verdana"/>
              </a:rPr>
              <a:t>in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55" dirty="0">
                <a:latin typeface="Verdana"/>
                <a:cs typeface="Verdana"/>
              </a:rPr>
              <a:t>traditional</a:t>
            </a:r>
            <a:r>
              <a:rPr sz="3500" spc="-530" dirty="0">
                <a:latin typeface="Verdana"/>
                <a:cs typeface="Verdana"/>
              </a:rPr>
              <a:t> </a:t>
            </a:r>
            <a:r>
              <a:rPr sz="3500" spc="-100" dirty="0">
                <a:latin typeface="Verdana"/>
                <a:cs typeface="Verdana"/>
              </a:rPr>
              <a:t>livestock </a:t>
            </a:r>
            <a:r>
              <a:rPr sz="3500" spc="-70" dirty="0">
                <a:latin typeface="Verdana"/>
                <a:cs typeface="Verdana"/>
              </a:rPr>
              <a:t>farming</a:t>
            </a:r>
            <a:endParaRPr sz="3500" dirty="0">
              <a:latin typeface="Verdana"/>
              <a:cs typeface="Verdana"/>
            </a:endParaRPr>
          </a:p>
          <a:p>
            <a:pPr marL="12700" marR="1035050" indent="678180">
              <a:lnSpc>
                <a:spcPct val="100000"/>
              </a:lnSpc>
              <a:buSzPct val="82857"/>
              <a:buAutoNum type="arabicParenBoth"/>
              <a:tabLst>
                <a:tab pos="690880" algn="l"/>
              </a:tabLst>
            </a:pPr>
            <a:r>
              <a:rPr sz="3500" spc="-165" dirty="0">
                <a:latin typeface="Verdana"/>
                <a:cs typeface="Verdana"/>
              </a:rPr>
              <a:t>Difficulty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35" dirty="0">
                <a:latin typeface="Verdana"/>
                <a:cs typeface="Verdana"/>
              </a:rPr>
              <a:t>in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250" dirty="0">
                <a:latin typeface="Verdana"/>
                <a:cs typeface="Verdana"/>
              </a:rPr>
              <a:t>early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80" dirty="0">
                <a:latin typeface="Verdana"/>
                <a:cs typeface="Verdana"/>
              </a:rPr>
              <a:t>detection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14" dirty="0">
                <a:latin typeface="Verdana"/>
                <a:cs typeface="Verdana"/>
              </a:rPr>
              <a:t>of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65" dirty="0">
                <a:latin typeface="Verdana"/>
                <a:cs typeface="Verdana"/>
              </a:rPr>
              <a:t>cattle</a:t>
            </a:r>
            <a:r>
              <a:rPr sz="3500" spc="-520" dirty="0">
                <a:latin typeface="Verdana"/>
                <a:cs typeface="Verdana"/>
              </a:rPr>
              <a:t> </a:t>
            </a:r>
            <a:r>
              <a:rPr sz="3500" spc="-254" dirty="0">
                <a:latin typeface="Verdana"/>
                <a:cs typeface="Verdana"/>
              </a:rPr>
              <a:t>diseases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225" dirty="0">
                <a:latin typeface="Verdana"/>
                <a:cs typeface="Verdana"/>
              </a:rPr>
              <a:t>using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295" dirty="0">
                <a:latin typeface="Verdana"/>
                <a:cs typeface="Verdana"/>
              </a:rPr>
              <a:t>manual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50" dirty="0">
                <a:latin typeface="Verdana"/>
                <a:cs typeface="Verdana"/>
              </a:rPr>
              <a:t>observation </a:t>
            </a:r>
            <a:r>
              <a:rPr sz="3500" spc="-100" dirty="0">
                <a:latin typeface="Verdana"/>
                <a:cs typeface="Verdana"/>
              </a:rPr>
              <a:t>methods</a:t>
            </a:r>
            <a:endParaRPr sz="3500" dirty="0">
              <a:latin typeface="Verdana"/>
              <a:cs typeface="Verdana"/>
            </a:endParaRPr>
          </a:p>
          <a:p>
            <a:pPr marL="12700" marR="1543685" indent="671195">
              <a:lnSpc>
                <a:spcPct val="100000"/>
              </a:lnSpc>
              <a:buSzPct val="82857"/>
              <a:buAutoNum type="arabicParenBoth"/>
              <a:tabLst>
                <a:tab pos="683895" algn="l"/>
              </a:tabLst>
            </a:pPr>
            <a:r>
              <a:rPr sz="3500" spc="-285" dirty="0">
                <a:latin typeface="Verdana"/>
                <a:cs typeface="Verdana"/>
              </a:rPr>
              <a:t>Absence</a:t>
            </a:r>
            <a:r>
              <a:rPr sz="3500" spc="-530" dirty="0">
                <a:latin typeface="Verdana"/>
                <a:cs typeface="Verdana"/>
              </a:rPr>
              <a:t> </a:t>
            </a:r>
            <a:r>
              <a:rPr sz="3500" spc="-114" dirty="0">
                <a:latin typeface="Verdana"/>
                <a:cs typeface="Verdana"/>
              </a:rPr>
              <a:t>of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65" dirty="0">
                <a:latin typeface="Verdana"/>
                <a:cs typeface="Verdana"/>
              </a:rPr>
              <a:t>reliable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245" dirty="0">
                <a:latin typeface="Verdana"/>
                <a:cs typeface="Verdana"/>
              </a:rPr>
              <a:t>egg</a:t>
            </a:r>
            <a:r>
              <a:rPr sz="3500" spc="-530" dirty="0">
                <a:latin typeface="Verdana"/>
                <a:cs typeface="Verdana"/>
              </a:rPr>
              <a:t> </a:t>
            </a:r>
            <a:r>
              <a:rPr sz="3500" spc="-204" dirty="0">
                <a:latin typeface="Verdana"/>
                <a:cs typeface="Verdana"/>
              </a:rPr>
              <a:t>hatching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285" dirty="0">
                <a:latin typeface="Verdana"/>
                <a:cs typeface="Verdana"/>
              </a:rPr>
              <a:t>and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25" dirty="0">
                <a:latin typeface="Verdana"/>
                <a:cs typeface="Verdana"/>
              </a:rPr>
              <a:t>birth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70" dirty="0">
                <a:latin typeface="Verdana"/>
                <a:cs typeface="Verdana"/>
              </a:rPr>
              <a:t>prediction</a:t>
            </a:r>
            <a:r>
              <a:rPr sz="3500" spc="-530" dirty="0">
                <a:latin typeface="Verdana"/>
                <a:cs typeface="Verdana"/>
              </a:rPr>
              <a:t> </a:t>
            </a:r>
            <a:r>
              <a:rPr sz="3500" spc="-290" dirty="0">
                <a:latin typeface="Verdana"/>
                <a:cs typeface="Verdana"/>
              </a:rPr>
              <a:t>mechanisms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25" dirty="0">
                <a:latin typeface="Verdana"/>
                <a:cs typeface="Verdana"/>
              </a:rPr>
              <a:t>in </a:t>
            </a:r>
            <a:r>
              <a:rPr sz="3500" spc="-225" dirty="0">
                <a:latin typeface="Verdana"/>
                <a:cs typeface="Verdana"/>
              </a:rPr>
              <a:t>conventional</a:t>
            </a:r>
            <a:r>
              <a:rPr sz="3500" spc="-459" dirty="0">
                <a:latin typeface="Verdana"/>
                <a:cs typeface="Verdana"/>
              </a:rPr>
              <a:t> </a:t>
            </a:r>
            <a:r>
              <a:rPr sz="3500" spc="-275" dirty="0">
                <a:latin typeface="Verdana"/>
                <a:cs typeface="Verdana"/>
              </a:rPr>
              <a:t>farms</a:t>
            </a:r>
            <a:endParaRPr sz="3500" dirty="0">
              <a:latin typeface="Verdana"/>
              <a:cs typeface="Verdana"/>
            </a:endParaRPr>
          </a:p>
          <a:p>
            <a:pPr marL="12700" marR="808990" indent="700405">
              <a:lnSpc>
                <a:spcPct val="100000"/>
              </a:lnSpc>
              <a:buSzPct val="82857"/>
              <a:buAutoNum type="arabicParenBoth"/>
              <a:tabLst>
                <a:tab pos="713105" algn="l"/>
              </a:tabLst>
            </a:pPr>
            <a:r>
              <a:rPr sz="3500" spc="-195" dirty="0">
                <a:latin typeface="Verdana"/>
                <a:cs typeface="Verdana"/>
              </a:rPr>
              <a:t>Limited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295" dirty="0">
                <a:latin typeface="Verdana"/>
                <a:cs typeface="Verdana"/>
              </a:rPr>
              <a:t>access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25" dirty="0">
                <a:latin typeface="Verdana"/>
                <a:cs typeface="Verdana"/>
              </a:rPr>
              <a:t>to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260" dirty="0">
                <a:latin typeface="Verdana"/>
                <a:cs typeface="Verdana"/>
              </a:rPr>
              <a:t>market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70" dirty="0">
                <a:latin typeface="Verdana"/>
                <a:cs typeface="Verdana"/>
              </a:rPr>
              <a:t>prediction</a:t>
            </a:r>
            <a:r>
              <a:rPr sz="3500" spc="-520" dirty="0">
                <a:latin typeface="Verdana"/>
                <a:cs typeface="Verdana"/>
              </a:rPr>
              <a:t> </a:t>
            </a:r>
            <a:r>
              <a:rPr sz="3500" spc="-160" dirty="0">
                <a:latin typeface="Verdana"/>
                <a:cs typeface="Verdana"/>
              </a:rPr>
              <a:t>tools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130" dirty="0">
                <a:latin typeface="Verdana"/>
                <a:cs typeface="Verdana"/>
              </a:rPr>
              <a:t>for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204" dirty="0">
                <a:latin typeface="Verdana"/>
                <a:cs typeface="Verdana"/>
              </a:rPr>
              <a:t>informed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204" dirty="0">
                <a:latin typeface="Verdana"/>
                <a:cs typeface="Verdana"/>
              </a:rPr>
              <a:t>livestock</a:t>
            </a:r>
            <a:r>
              <a:rPr sz="3500" spc="-525" dirty="0">
                <a:latin typeface="Verdana"/>
                <a:cs typeface="Verdana"/>
              </a:rPr>
              <a:t> </a:t>
            </a:r>
            <a:r>
              <a:rPr sz="3500" spc="-80" dirty="0">
                <a:latin typeface="Verdana"/>
                <a:cs typeface="Verdana"/>
              </a:rPr>
              <a:t>product </a:t>
            </a:r>
            <a:r>
              <a:rPr sz="3500" spc="-165" dirty="0">
                <a:latin typeface="Verdana"/>
                <a:cs typeface="Verdana"/>
              </a:rPr>
              <a:t>pricing</a:t>
            </a:r>
            <a:r>
              <a:rPr sz="3500" spc="-530" dirty="0">
                <a:latin typeface="Verdana"/>
                <a:cs typeface="Verdana"/>
              </a:rPr>
              <a:t> </a:t>
            </a:r>
            <a:r>
              <a:rPr sz="3500" spc="-285" dirty="0">
                <a:latin typeface="Verdana"/>
                <a:cs typeface="Verdana"/>
              </a:rPr>
              <a:t>and</a:t>
            </a:r>
            <a:r>
              <a:rPr sz="3500" spc="-530" dirty="0">
                <a:latin typeface="Verdana"/>
                <a:cs typeface="Verdana"/>
              </a:rPr>
              <a:t> </a:t>
            </a:r>
            <a:r>
              <a:rPr sz="3500" spc="-254" dirty="0">
                <a:latin typeface="Verdana"/>
                <a:cs typeface="Verdana"/>
              </a:rPr>
              <a:t>sales</a:t>
            </a:r>
            <a:r>
              <a:rPr sz="3500" spc="-530" dirty="0">
                <a:latin typeface="Verdana"/>
                <a:cs typeface="Verdana"/>
              </a:rPr>
              <a:t> </a:t>
            </a:r>
            <a:r>
              <a:rPr sz="3500" spc="-75" dirty="0">
                <a:latin typeface="Verdana"/>
                <a:cs typeface="Verdana"/>
              </a:rPr>
              <a:t>decisions</a:t>
            </a:r>
            <a:endParaRPr sz="3500" dirty="0">
              <a:latin typeface="Verdana"/>
              <a:cs typeface="Verdana"/>
            </a:endParaRPr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DFB9E654-272E-5DB1-C53C-05D06F53E978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547A57-0AA7-D9E3-5057-973BA5F32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00865"/>
            <a:ext cx="5438942" cy="111291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DC8027-1C00-3544-F407-90F4707A8A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940524" y="2960551"/>
            <a:ext cx="374015" cy="372110"/>
          </a:xfrm>
          <a:custGeom>
            <a:avLst/>
            <a:gdLst/>
            <a:ahLst/>
            <a:cxnLst/>
            <a:rect l="l" t="t" r="r" b="b"/>
            <a:pathLst>
              <a:path w="374014" h="372110">
                <a:moveTo>
                  <a:pt x="176313" y="371926"/>
                </a:moveTo>
                <a:lnTo>
                  <a:pt x="131266" y="363762"/>
                </a:lnTo>
                <a:lnTo>
                  <a:pt x="89700" y="345301"/>
                </a:lnTo>
                <a:lnTo>
                  <a:pt x="53623" y="317235"/>
                </a:lnTo>
                <a:lnTo>
                  <a:pt x="25046" y="280255"/>
                </a:lnTo>
                <a:lnTo>
                  <a:pt x="7041" y="238215"/>
                </a:lnTo>
                <a:lnTo>
                  <a:pt x="0" y="193815"/>
                </a:lnTo>
                <a:lnTo>
                  <a:pt x="3645" y="149193"/>
                </a:lnTo>
                <a:lnTo>
                  <a:pt x="17701" y="106484"/>
                </a:lnTo>
                <a:lnTo>
                  <a:pt x="41889" y="67824"/>
                </a:lnTo>
                <a:lnTo>
                  <a:pt x="75117" y="36134"/>
                </a:lnTo>
                <a:lnTo>
                  <a:pt x="114874" y="13780"/>
                </a:lnTo>
                <a:lnTo>
                  <a:pt x="158757" y="1491"/>
                </a:lnTo>
                <a:lnTo>
                  <a:pt x="204366" y="0"/>
                </a:lnTo>
                <a:lnTo>
                  <a:pt x="249297" y="10034"/>
                </a:lnTo>
                <a:lnTo>
                  <a:pt x="290668" y="31266"/>
                </a:lnTo>
                <a:lnTo>
                  <a:pt x="324794" y="61058"/>
                </a:lnTo>
                <a:lnTo>
                  <a:pt x="324893" y="61199"/>
                </a:lnTo>
                <a:lnTo>
                  <a:pt x="168773" y="61199"/>
                </a:lnTo>
                <a:lnTo>
                  <a:pt x="132778" y="72501"/>
                </a:lnTo>
                <a:lnTo>
                  <a:pt x="102614" y="93732"/>
                </a:lnTo>
                <a:lnTo>
                  <a:pt x="79685" y="122493"/>
                </a:lnTo>
                <a:lnTo>
                  <a:pt x="65396" y="156386"/>
                </a:lnTo>
                <a:lnTo>
                  <a:pt x="61151" y="193015"/>
                </a:lnTo>
                <a:lnTo>
                  <a:pt x="68353" y="229981"/>
                </a:lnTo>
                <a:lnTo>
                  <a:pt x="88408" y="264887"/>
                </a:lnTo>
                <a:lnTo>
                  <a:pt x="117852" y="291159"/>
                </a:lnTo>
                <a:lnTo>
                  <a:pt x="153253" y="306849"/>
                </a:lnTo>
                <a:lnTo>
                  <a:pt x="191720" y="311284"/>
                </a:lnTo>
                <a:lnTo>
                  <a:pt x="322740" y="311284"/>
                </a:lnTo>
                <a:lnTo>
                  <a:pt x="313395" y="322849"/>
                </a:lnTo>
                <a:lnTo>
                  <a:pt x="272066" y="352284"/>
                </a:lnTo>
                <a:lnTo>
                  <a:pt x="222830" y="369102"/>
                </a:lnTo>
                <a:lnTo>
                  <a:pt x="176313" y="371926"/>
                </a:lnTo>
                <a:close/>
              </a:path>
              <a:path w="374014" h="372110">
                <a:moveTo>
                  <a:pt x="312337" y="185966"/>
                </a:moveTo>
                <a:lnTo>
                  <a:pt x="304162" y="142858"/>
                </a:lnTo>
                <a:lnTo>
                  <a:pt x="282782" y="105844"/>
                </a:lnTo>
                <a:lnTo>
                  <a:pt x="250395" y="77954"/>
                </a:lnTo>
                <a:lnTo>
                  <a:pt x="209195" y="62221"/>
                </a:lnTo>
                <a:lnTo>
                  <a:pt x="168773" y="61199"/>
                </a:lnTo>
                <a:lnTo>
                  <a:pt x="324893" y="61199"/>
                </a:lnTo>
                <a:lnTo>
                  <a:pt x="350666" y="97827"/>
                </a:lnTo>
                <a:lnTo>
                  <a:pt x="367275" y="139991"/>
                </a:lnTo>
                <a:lnTo>
                  <a:pt x="369536" y="156386"/>
                </a:lnTo>
                <a:lnTo>
                  <a:pt x="343644" y="156386"/>
                </a:lnTo>
                <a:lnTo>
                  <a:pt x="322295" y="163814"/>
                </a:lnTo>
                <a:lnTo>
                  <a:pt x="312337" y="185966"/>
                </a:lnTo>
                <a:close/>
              </a:path>
              <a:path w="374014" h="372110">
                <a:moveTo>
                  <a:pt x="343517" y="215501"/>
                </a:moveTo>
                <a:lnTo>
                  <a:pt x="322295" y="208118"/>
                </a:lnTo>
                <a:lnTo>
                  <a:pt x="312337" y="185966"/>
                </a:lnTo>
                <a:lnTo>
                  <a:pt x="322295" y="163814"/>
                </a:lnTo>
                <a:lnTo>
                  <a:pt x="343644" y="156386"/>
                </a:lnTo>
                <a:lnTo>
                  <a:pt x="343391" y="156386"/>
                </a:lnTo>
                <a:lnTo>
                  <a:pt x="364468" y="163814"/>
                </a:lnTo>
                <a:lnTo>
                  <a:pt x="373613" y="185966"/>
                </a:lnTo>
                <a:lnTo>
                  <a:pt x="364468" y="208118"/>
                </a:lnTo>
                <a:lnTo>
                  <a:pt x="343517" y="215501"/>
                </a:lnTo>
                <a:close/>
              </a:path>
              <a:path w="374014" h="372110">
                <a:moveTo>
                  <a:pt x="373613" y="185966"/>
                </a:moveTo>
                <a:lnTo>
                  <a:pt x="364468" y="163814"/>
                </a:lnTo>
                <a:lnTo>
                  <a:pt x="343391" y="156386"/>
                </a:lnTo>
                <a:lnTo>
                  <a:pt x="369536" y="156386"/>
                </a:lnTo>
                <a:lnTo>
                  <a:pt x="373613" y="185966"/>
                </a:lnTo>
                <a:close/>
              </a:path>
              <a:path w="374014" h="372110">
                <a:moveTo>
                  <a:pt x="322740" y="311284"/>
                </a:moveTo>
                <a:lnTo>
                  <a:pt x="191720" y="311284"/>
                </a:lnTo>
                <a:lnTo>
                  <a:pt x="230369" y="303788"/>
                </a:lnTo>
                <a:lnTo>
                  <a:pt x="263952" y="285040"/>
                </a:lnTo>
                <a:lnTo>
                  <a:pt x="289580" y="257543"/>
                </a:lnTo>
                <a:lnTo>
                  <a:pt x="306094" y="223713"/>
                </a:lnTo>
                <a:lnTo>
                  <a:pt x="312337" y="185966"/>
                </a:lnTo>
                <a:lnTo>
                  <a:pt x="322295" y="208118"/>
                </a:lnTo>
                <a:lnTo>
                  <a:pt x="343517" y="215501"/>
                </a:lnTo>
                <a:lnTo>
                  <a:pt x="369090" y="215501"/>
                </a:lnTo>
                <a:lnTo>
                  <a:pt x="365801" y="236978"/>
                </a:lnTo>
                <a:lnTo>
                  <a:pt x="345184" y="283510"/>
                </a:lnTo>
                <a:lnTo>
                  <a:pt x="322740" y="311284"/>
                </a:lnTo>
                <a:close/>
              </a:path>
              <a:path w="374014" h="372110">
                <a:moveTo>
                  <a:pt x="369090" y="215501"/>
                </a:moveTo>
                <a:lnTo>
                  <a:pt x="343517" y="215501"/>
                </a:lnTo>
                <a:lnTo>
                  <a:pt x="364468" y="208118"/>
                </a:lnTo>
                <a:lnTo>
                  <a:pt x="373613" y="185966"/>
                </a:lnTo>
                <a:lnTo>
                  <a:pt x="369090" y="2155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40524" y="3951302"/>
            <a:ext cx="374015" cy="372110"/>
          </a:xfrm>
          <a:custGeom>
            <a:avLst/>
            <a:gdLst/>
            <a:ahLst/>
            <a:cxnLst/>
            <a:rect l="l" t="t" r="r" b="b"/>
            <a:pathLst>
              <a:path w="374014" h="372110">
                <a:moveTo>
                  <a:pt x="176313" y="371926"/>
                </a:moveTo>
                <a:lnTo>
                  <a:pt x="131266" y="363762"/>
                </a:lnTo>
                <a:lnTo>
                  <a:pt x="89700" y="345301"/>
                </a:lnTo>
                <a:lnTo>
                  <a:pt x="53623" y="317235"/>
                </a:lnTo>
                <a:lnTo>
                  <a:pt x="25046" y="280255"/>
                </a:lnTo>
                <a:lnTo>
                  <a:pt x="7041" y="238215"/>
                </a:lnTo>
                <a:lnTo>
                  <a:pt x="0" y="193815"/>
                </a:lnTo>
                <a:lnTo>
                  <a:pt x="3645" y="149193"/>
                </a:lnTo>
                <a:lnTo>
                  <a:pt x="17701" y="106484"/>
                </a:lnTo>
                <a:lnTo>
                  <a:pt x="41889" y="67824"/>
                </a:lnTo>
                <a:lnTo>
                  <a:pt x="75117" y="36134"/>
                </a:lnTo>
                <a:lnTo>
                  <a:pt x="114874" y="13780"/>
                </a:lnTo>
                <a:lnTo>
                  <a:pt x="158757" y="1491"/>
                </a:lnTo>
                <a:lnTo>
                  <a:pt x="204366" y="0"/>
                </a:lnTo>
                <a:lnTo>
                  <a:pt x="249297" y="10034"/>
                </a:lnTo>
                <a:lnTo>
                  <a:pt x="290668" y="31266"/>
                </a:lnTo>
                <a:lnTo>
                  <a:pt x="324794" y="61058"/>
                </a:lnTo>
                <a:lnTo>
                  <a:pt x="324893" y="61199"/>
                </a:lnTo>
                <a:lnTo>
                  <a:pt x="168773" y="61199"/>
                </a:lnTo>
                <a:lnTo>
                  <a:pt x="132778" y="72501"/>
                </a:lnTo>
                <a:lnTo>
                  <a:pt x="102614" y="93732"/>
                </a:lnTo>
                <a:lnTo>
                  <a:pt x="79685" y="122493"/>
                </a:lnTo>
                <a:lnTo>
                  <a:pt x="65396" y="156386"/>
                </a:lnTo>
                <a:lnTo>
                  <a:pt x="61151" y="193015"/>
                </a:lnTo>
                <a:lnTo>
                  <a:pt x="68353" y="229981"/>
                </a:lnTo>
                <a:lnTo>
                  <a:pt x="88408" y="264887"/>
                </a:lnTo>
                <a:lnTo>
                  <a:pt x="117852" y="291159"/>
                </a:lnTo>
                <a:lnTo>
                  <a:pt x="153253" y="306849"/>
                </a:lnTo>
                <a:lnTo>
                  <a:pt x="191720" y="311284"/>
                </a:lnTo>
                <a:lnTo>
                  <a:pt x="322740" y="311284"/>
                </a:lnTo>
                <a:lnTo>
                  <a:pt x="313395" y="322849"/>
                </a:lnTo>
                <a:lnTo>
                  <a:pt x="272066" y="352284"/>
                </a:lnTo>
                <a:lnTo>
                  <a:pt x="222830" y="369102"/>
                </a:lnTo>
                <a:lnTo>
                  <a:pt x="176313" y="371926"/>
                </a:lnTo>
                <a:close/>
              </a:path>
              <a:path w="374014" h="372110">
                <a:moveTo>
                  <a:pt x="312337" y="185966"/>
                </a:moveTo>
                <a:lnTo>
                  <a:pt x="304162" y="142858"/>
                </a:lnTo>
                <a:lnTo>
                  <a:pt x="282782" y="105844"/>
                </a:lnTo>
                <a:lnTo>
                  <a:pt x="250395" y="77954"/>
                </a:lnTo>
                <a:lnTo>
                  <a:pt x="209195" y="62221"/>
                </a:lnTo>
                <a:lnTo>
                  <a:pt x="168773" y="61199"/>
                </a:lnTo>
                <a:lnTo>
                  <a:pt x="324893" y="61199"/>
                </a:lnTo>
                <a:lnTo>
                  <a:pt x="350666" y="97827"/>
                </a:lnTo>
                <a:lnTo>
                  <a:pt x="367275" y="139991"/>
                </a:lnTo>
                <a:lnTo>
                  <a:pt x="369536" y="156386"/>
                </a:lnTo>
                <a:lnTo>
                  <a:pt x="343644" y="156386"/>
                </a:lnTo>
                <a:lnTo>
                  <a:pt x="322295" y="163814"/>
                </a:lnTo>
                <a:lnTo>
                  <a:pt x="312337" y="185966"/>
                </a:lnTo>
                <a:close/>
              </a:path>
              <a:path w="374014" h="372110">
                <a:moveTo>
                  <a:pt x="343517" y="215501"/>
                </a:moveTo>
                <a:lnTo>
                  <a:pt x="322295" y="208118"/>
                </a:lnTo>
                <a:lnTo>
                  <a:pt x="312337" y="185966"/>
                </a:lnTo>
                <a:lnTo>
                  <a:pt x="322295" y="163814"/>
                </a:lnTo>
                <a:lnTo>
                  <a:pt x="343644" y="156386"/>
                </a:lnTo>
                <a:lnTo>
                  <a:pt x="343391" y="156386"/>
                </a:lnTo>
                <a:lnTo>
                  <a:pt x="364468" y="163814"/>
                </a:lnTo>
                <a:lnTo>
                  <a:pt x="373613" y="185966"/>
                </a:lnTo>
                <a:lnTo>
                  <a:pt x="364468" y="208118"/>
                </a:lnTo>
                <a:lnTo>
                  <a:pt x="343517" y="215501"/>
                </a:lnTo>
                <a:close/>
              </a:path>
              <a:path w="374014" h="372110">
                <a:moveTo>
                  <a:pt x="373613" y="185966"/>
                </a:moveTo>
                <a:lnTo>
                  <a:pt x="364468" y="163814"/>
                </a:lnTo>
                <a:lnTo>
                  <a:pt x="343391" y="156386"/>
                </a:lnTo>
                <a:lnTo>
                  <a:pt x="369536" y="156386"/>
                </a:lnTo>
                <a:lnTo>
                  <a:pt x="373613" y="185966"/>
                </a:lnTo>
                <a:close/>
              </a:path>
              <a:path w="374014" h="372110">
                <a:moveTo>
                  <a:pt x="322740" y="311284"/>
                </a:moveTo>
                <a:lnTo>
                  <a:pt x="191720" y="311284"/>
                </a:lnTo>
                <a:lnTo>
                  <a:pt x="230369" y="303788"/>
                </a:lnTo>
                <a:lnTo>
                  <a:pt x="263952" y="285040"/>
                </a:lnTo>
                <a:lnTo>
                  <a:pt x="289580" y="257543"/>
                </a:lnTo>
                <a:lnTo>
                  <a:pt x="306094" y="223713"/>
                </a:lnTo>
                <a:lnTo>
                  <a:pt x="312337" y="185966"/>
                </a:lnTo>
                <a:lnTo>
                  <a:pt x="322295" y="208118"/>
                </a:lnTo>
                <a:lnTo>
                  <a:pt x="343517" y="215501"/>
                </a:lnTo>
                <a:lnTo>
                  <a:pt x="369090" y="215501"/>
                </a:lnTo>
                <a:lnTo>
                  <a:pt x="365801" y="236978"/>
                </a:lnTo>
                <a:lnTo>
                  <a:pt x="345184" y="283510"/>
                </a:lnTo>
                <a:lnTo>
                  <a:pt x="322740" y="311284"/>
                </a:lnTo>
                <a:close/>
              </a:path>
              <a:path w="374014" h="372110">
                <a:moveTo>
                  <a:pt x="369090" y="215501"/>
                </a:moveTo>
                <a:lnTo>
                  <a:pt x="343517" y="215501"/>
                </a:lnTo>
                <a:lnTo>
                  <a:pt x="364468" y="208118"/>
                </a:lnTo>
                <a:lnTo>
                  <a:pt x="373613" y="185966"/>
                </a:lnTo>
                <a:lnTo>
                  <a:pt x="369090" y="2155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524" y="5944031"/>
            <a:ext cx="374015" cy="372110"/>
          </a:xfrm>
          <a:custGeom>
            <a:avLst/>
            <a:gdLst/>
            <a:ahLst/>
            <a:cxnLst/>
            <a:rect l="l" t="t" r="r" b="b"/>
            <a:pathLst>
              <a:path w="374014" h="372110">
                <a:moveTo>
                  <a:pt x="176313" y="371926"/>
                </a:moveTo>
                <a:lnTo>
                  <a:pt x="131266" y="363762"/>
                </a:lnTo>
                <a:lnTo>
                  <a:pt x="89700" y="345301"/>
                </a:lnTo>
                <a:lnTo>
                  <a:pt x="53623" y="317235"/>
                </a:lnTo>
                <a:lnTo>
                  <a:pt x="25046" y="280255"/>
                </a:lnTo>
                <a:lnTo>
                  <a:pt x="7041" y="238215"/>
                </a:lnTo>
                <a:lnTo>
                  <a:pt x="0" y="193815"/>
                </a:lnTo>
                <a:lnTo>
                  <a:pt x="3645" y="149193"/>
                </a:lnTo>
                <a:lnTo>
                  <a:pt x="17701" y="106484"/>
                </a:lnTo>
                <a:lnTo>
                  <a:pt x="41889" y="67824"/>
                </a:lnTo>
                <a:lnTo>
                  <a:pt x="75117" y="36134"/>
                </a:lnTo>
                <a:lnTo>
                  <a:pt x="114874" y="13780"/>
                </a:lnTo>
                <a:lnTo>
                  <a:pt x="158757" y="1491"/>
                </a:lnTo>
                <a:lnTo>
                  <a:pt x="204366" y="0"/>
                </a:lnTo>
                <a:lnTo>
                  <a:pt x="249297" y="10034"/>
                </a:lnTo>
                <a:lnTo>
                  <a:pt x="290668" y="31266"/>
                </a:lnTo>
                <a:lnTo>
                  <a:pt x="324794" y="61058"/>
                </a:lnTo>
                <a:lnTo>
                  <a:pt x="324893" y="61199"/>
                </a:lnTo>
                <a:lnTo>
                  <a:pt x="168773" y="61199"/>
                </a:lnTo>
                <a:lnTo>
                  <a:pt x="132778" y="72501"/>
                </a:lnTo>
                <a:lnTo>
                  <a:pt x="102614" y="93732"/>
                </a:lnTo>
                <a:lnTo>
                  <a:pt x="79685" y="122493"/>
                </a:lnTo>
                <a:lnTo>
                  <a:pt x="65396" y="156386"/>
                </a:lnTo>
                <a:lnTo>
                  <a:pt x="61151" y="193015"/>
                </a:lnTo>
                <a:lnTo>
                  <a:pt x="68353" y="229981"/>
                </a:lnTo>
                <a:lnTo>
                  <a:pt x="88408" y="264887"/>
                </a:lnTo>
                <a:lnTo>
                  <a:pt x="117852" y="291159"/>
                </a:lnTo>
                <a:lnTo>
                  <a:pt x="153253" y="306849"/>
                </a:lnTo>
                <a:lnTo>
                  <a:pt x="191720" y="311284"/>
                </a:lnTo>
                <a:lnTo>
                  <a:pt x="322740" y="311284"/>
                </a:lnTo>
                <a:lnTo>
                  <a:pt x="313395" y="322849"/>
                </a:lnTo>
                <a:lnTo>
                  <a:pt x="272066" y="352284"/>
                </a:lnTo>
                <a:lnTo>
                  <a:pt x="222830" y="369102"/>
                </a:lnTo>
                <a:lnTo>
                  <a:pt x="176313" y="371926"/>
                </a:lnTo>
                <a:close/>
              </a:path>
              <a:path w="374014" h="372110">
                <a:moveTo>
                  <a:pt x="312337" y="185966"/>
                </a:moveTo>
                <a:lnTo>
                  <a:pt x="304162" y="142858"/>
                </a:lnTo>
                <a:lnTo>
                  <a:pt x="282782" y="105844"/>
                </a:lnTo>
                <a:lnTo>
                  <a:pt x="250395" y="77954"/>
                </a:lnTo>
                <a:lnTo>
                  <a:pt x="209195" y="62221"/>
                </a:lnTo>
                <a:lnTo>
                  <a:pt x="168773" y="61199"/>
                </a:lnTo>
                <a:lnTo>
                  <a:pt x="324893" y="61199"/>
                </a:lnTo>
                <a:lnTo>
                  <a:pt x="350666" y="97827"/>
                </a:lnTo>
                <a:lnTo>
                  <a:pt x="367275" y="139991"/>
                </a:lnTo>
                <a:lnTo>
                  <a:pt x="369536" y="156386"/>
                </a:lnTo>
                <a:lnTo>
                  <a:pt x="343644" y="156386"/>
                </a:lnTo>
                <a:lnTo>
                  <a:pt x="322295" y="163814"/>
                </a:lnTo>
                <a:lnTo>
                  <a:pt x="312337" y="185966"/>
                </a:lnTo>
                <a:close/>
              </a:path>
              <a:path w="374014" h="372110">
                <a:moveTo>
                  <a:pt x="343517" y="215501"/>
                </a:moveTo>
                <a:lnTo>
                  <a:pt x="322295" y="208118"/>
                </a:lnTo>
                <a:lnTo>
                  <a:pt x="312337" y="185966"/>
                </a:lnTo>
                <a:lnTo>
                  <a:pt x="322295" y="163814"/>
                </a:lnTo>
                <a:lnTo>
                  <a:pt x="343644" y="156386"/>
                </a:lnTo>
                <a:lnTo>
                  <a:pt x="343391" y="156386"/>
                </a:lnTo>
                <a:lnTo>
                  <a:pt x="364468" y="163814"/>
                </a:lnTo>
                <a:lnTo>
                  <a:pt x="373613" y="185966"/>
                </a:lnTo>
                <a:lnTo>
                  <a:pt x="364468" y="208118"/>
                </a:lnTo>
                <a:lnTo>
                  <a:pt x="343517" y="215501"/>
                </a:lnTo>
                <a:close/>
              </a:path>
              <a:path w="374014" h="372110">
                <a:moveTo>
                  <a:pt x="373613" y="185966"/>
                </a:moveTo>
                <a:lnTo>
                  <a:pt x="364468" y="163814"/>
                </a:lnTo>
                <a:lnTo>
                  <a:pt x="343391" y="156386"/>
                </a:lnTo>
                <a:lnTo>
                  <a:pt x="369536" y="156386"/>
                </a:lnTo>
                <a:lnTo>
                  <a:pt x="373613" y="185966"/>
                </a:lnTo>
                <a:close/>
              </a:path>
              <a:path w="374014" h="372110">
                <a:moveTo>
                  <a:pt x="322740" y="311284"/>
                </a:moveTo>
                <a:lnTo>
                  <a:pt x="191720" y="311284"/>
                </a:lnTo>
                <a:lnTo>
                  <a:pt x="230369" y="303788"/>
                </a:lnTo>
                <a:lnTo>
                  <a:pt x="263952" y="285040"/>
                </a:lnTo>
                <a:lnTo>
                  <a:pt x="289580" y="257543"/>
                </a:lnTo>
                <a:lnTo>
                  <a:pt x="306094" y="223713"/>
                </a:lnTo>
                <a:lnTo>
                  <a:pt x="312337" y="185966"/>
                </a:lnTo>
                <a:lnTo>
                  <a:pt x="322295" y="208118"/>
                </a:lnTo>
                <a:lnTo>
                  <a:pt x="343517" y="215501"/>
                </a:lnTo>
                <a:lnTo>
                  <a:pt x="369090" y="215501"/>
                </a:lnTo>
                <a:lnTo>
                  <a:pt x="365801" y="236978"/>
                </a:lnTo>
                <a:lnTo>
                  <a:pt x="345184" y="283510"/>
                </a:lnTo>
                <a:lnTo>
                  <a:pt x="322740" y="311284"/>
                </a:lnTo>
                <a:close/>
              </a:path>
              <a:path w="374014" h="372110">
                <a:moveTo>
                  <a:pt x="369090" y="215501"/>
                </a:moveTo>
                <a:lnTo>
                  <a:pt x="343517" y="215501"/>
                </a:lnTo>
                <a:lnTo>
                  <a:pt x="364468" y="208118"/>
                </a:lnTo>
                <a:lnTo>
                  <a:pt x="373613" y="185966"/>
                </a:lnTo>
                <a:lnTo>
                  <a:pt x="369090" y="2155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40524" y="4937036"/>
            <a:ext cx="374015" cy="372110"/>
          </a:xfrm>
          <a:custGeom>
            <a:avLst/>
            <a:gdLst/>
            <a:ahLst/>
            <a:cxnLst/>
            <a:rect l="l" t="t" r="r" b="b"/>
            <a:pathLst>
              <a:path w="374014" h="372110">
                <a:moveTo>
                  <a:pt x="176313" y="371926"/>
                </a:moveTo>
                <a:lnTo>
                  <a:pt x="131266" y="363762"/>
                </a:lnTo>
                <a:lnTo>
                  <a:pt x="89700" y="345301"/>
                </a:lnTo>
                <a:lnTo>
                  <a:pt x="53623" y="317235"/>
                </a:lnTo>
                <a:lnTo>
                  <a:pt x="25046" y="280255"/>
                </a:lnTo>
                <a:lnTo>
                  <a:pt x="7041" y="238215"/>
                </a:lnTo>
                <a:lnTo>
                  <a:pt x="0" y="193815"/>
                </a:lnTo>
                <a:lnTo>
                  <a:pt x="3645" y="149193"/>
                </a:lnTo>
                <a:lnTo>
                  <a:pt x="17701" y="106484"/>
                </a:lnTo>
                <a:lnTo>
                  <a:pt x="41889" y="67824"/>
                </a:lnTo>
                <a:lnTo>
                  <a:pt x="75117" y="36134"/>
                </a:lnTo>
                <a:lnTo>
                  <a:pt x="114874" y="13780"/>
                </a:lnTo>
                <a:lnTo>
                  <a:pt x="158757" y="1491"/>
                </a:lnTo>
                <a:lnTo>
                  <a:pt x="204366" y="0"/>
                </a:lnTo>
                <a:lnTo>
                  <a:pt x="249297" y="10034"/>
                </a:lnTo>
                <a:lnTo>
                  <a:pt x="290668" y="31266"/>
                </a:lnTo>
                <a:lnTo>
                  <a:pt x="324794" y="61058"/>
                </a:lnTo>
                <a:lnTo>
                  <a:pt x="324893" y="61199"/>
                </a:lnTo>
                <a:lnTo>
                  <a:pt x="168773" y="61199"/>
                </a:lnTo>
                <a:lnTo>
                  <a:pt x="132778" y="72501"/>
                </a:lnTo>
                <a:lnTo>
                  <a:pt x="102614" y="93732"/>
                </a:lnTo>
                <a:lnTo>
                  <a:pt x="79685" y="122493"/>
                </a:lnTo>
                <a:lnTo>
                  <a:pt x="65396" y="156386"/>
                </a:lnTo>
                <a:lnTo>
                  <a:pt x="61151" y="193015"/>
                </a:lnTo>
                <a:lnTo>
                  <a:pt x="68353" y="229981"/>
                </a:lnTo>
                <a:lnTo>
                  <a:pt x="88408" y="264887"/>
                </a:lnTo>
                <a:lnTo>
                  <a:pt x="117852" y="291159"/>
                </a:lnTo>
                <a:lnTo>
                  <a:pt x="153253" y="306849"/>
                </a:lnTo>
                <a:lnTo>
                  <a:pt x="191720" y="311284"/>
                </a:lnTo>
                <a:lnTo>
                  <a:pt x="322740" y="311284"/>
                </a:lnTo>
                <a:lnTo>
                  <a:pt x="313395" y="322849"/>
                </a:lnTo>
                <a:lnTo>
                  <a:pt x="272066" y="352284"/>
                </a:lnTo>
                <a:lnTo>
                  <a:pt x="222830" y="369102"/>
                </a:lnTo>
                <a:lnTo>
                  <a:pt x="176313" y="371926"/>
                </a:lnTo>
                <a:close/>
              </a:path>
              <a:path w="374014" h="372110">
                <a:moveTo>
                  <a:pt x="312337" y="185966"/>
                </a:moveTo>
                <a:lnTo>
                  <a:pt x="304162" y="142858"/>
                </a:lnTo>
                <a:lnTo>
                  <a:pt x="282782" y="105844"/>
                </a:lnTo>
                <a:lnTo>
                  <a:pt x="250395" y="77954"/>
                </a:lnTo>
                <a:lnTo>
                  <a:pt x="209195" y="62221"/>
                </a:lnTo>
                <a:lnTo>
                  <a:pt x="168773" y="61199"/>
                </a:lnTo>
                <a:lnTo>
                  <a:pt x="324893" y="61199"/>
                </a:lnTo>
                <a:lnTo>
                  <a:pt x="350666" y="97827"/>
                </a:lnTo>
                <a:lnTo>
                  <a:pt x="367275" y="139991"/>
                </a:lnTo>
                <a:lnTo>
                  <a:pt x="369536" y="156386"/>
                </a:lnTo>
                <a:lnTo>
                  <a:pt x="343644" y="156386"/>
                </a:lnTo>
                <a:lnTo>
                  <a:pt x="322295" y="163814"/>
                </a:lnTo>
                <a:lnTo>
                  <a:pt x="312337" y="185966"/>
                </a:lnTo>
                <a:close/>
              </a:path>
              <a:path w="374014" h="372110">
                <a:moveTo>
                  <a:pt x="343517" y="215501"/>
                </a:moveTo>
                <a:lnTo>
                  <a:pt x="322295" y="208118"/>
                </a:lnTo>
                <a:lnTo>
                  <a:pt x="312337" y="185966"/>
                </a:lnTo>
                <a:lnTo>
                  <a:pt x="322295" y="163814"/>
                </a:lnTo>
                <a:lnTo>
                  <a:pt x="343644" y="156386"/>
                </a:lnTo>
                <a:lnTo>
                  <a:pt x="343391" y="156386"/>
                </a:lnTo>
                <a:lnTo>
                  <a:pt x="364468" y="163814"/>
                </a:lnTo>
                <a:lnTo>
                  <a:pt x="373613" y="185966"/>
                </a:lnTo>
                <a:lnTo>
                  <a:pt x="364468" y="208118"/>
                </a:lnTo>
                <a:lnTo>
                  <a:pt x="343517" y="215501"/>
                </a:lnTo>
                <a:close/>
              </a:path>
              <a:path w="374014" h="372110">
                <a:moveTo>
                  <a:pt x="373613" y="185966"/>
                </a:moveTo>
                <a:lnTo>
                  <a:pt x="364468" y="163814"/>
                </a:lnTo>
                <a:lnTo>
                  <a:pt x="343391" y="156386"/>
                </a:lnTo>
                <a:lnTo>
                  <a:pt x="369536" y="156386"/>
                </a:lnTo>
                <a:lnTo>
                  <a:pt x="373613" y="185966"/>
                </a:lnTo>
                <a:close/>
              </a:path>
              <a:path w="374014" h="372110">
                <a:moveTo>
                  <a:pt x="322740" y="311284"/>
                </a:moveTo>
                <a:lnTo>
                  <a:pt x="191720" y="311284"/>
                </a:lnTo>
                <a:lnTo>
                  <a:pt x="230369" y="303788"/>
                </a:lnTo>
                <a:lnTo>
                  <a:pt x="263952" y="285040"/>
                </a:lnTo>
                <a:lnTo>
                  <a:pt x="289580" y="257543"/>
                </a:lnTo>
                <a:lnTo>
                  <a:pt x="306094" y="223713"/>
                </a:lnTo>
                <a:lnTo>
                  <a:pt x="312337" y="185966"/>
                </a:lnTo>
                <a:lnTo>
                  <a:pt x="322295" y="208118"/>
                </a:lnTo>
                <a:lnTo>
                  <a:pt x="343517" y="215501"/>
                </a:lnTo>
                <a:lnTo>
                  <a:pt x="369090" y="215501"/>
                </a:lnTo>
                <a:lnTo>
                  <a:pt x="365801" y="236978"/>
                </a:lnTo>
                <a:lnTo>
                  <a:pt x="345184" y="283510"/>
                </a:lnTo>
                <a:lnTo>
                  <a:pt x="322740" y="311284"/>
                </a:lnTo>
                <a:close/>
              </a:path>
              <a:path w="374014" h="372110">
                <a:moveTo>
                  <a:pt x="369090" y="215501"/>
                </a:moveTo>
                <a:lnTo>
                  <a:pt x="343517" y="215501"/>
                </a:lnTo>
                <a:lnTo>
                  <a:pt x="364468" y="208118"/>
                </a:lnTo>
                <a:lnTo>
                  <a:pt x="373613" y="185966"/>
                </a:lnTo>
                <a:lnTo>
                  <a:pt x="369090" y="2155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5809" y="2361369"/>
            <a:ext cx="7981949" cy="4933949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0679" rIns="0" bIns="0" rtlCol="0">
            <a:spAutoFit/>
          </a:bodyPr>
          <a:lstStyle/>
          <a:p>
            <a:pPr marL="1551305">
              <a:lnSpc>
                <a:spcPct val="100000"/>
              </a:lnSpc>
              <a:spcBef>
                <a:spcPts val="125"/>
              </a:spcBef>
            </a:pPr>
            <a:r>
              <a:rPr sz="4500" b="0" spc="-350" dirty="0">
                <a:latin typeface="Verdana"/>
                <a:cs typeface="Verdana"/>
              </a:rPr>
              <a:t>Design</a:t>
            </a:r>
            <a:r>
              <a:rPr sz="4500" b="0" spc="-705" dirty="0">
                <a:latin typeface="Verdana"/>
                <a:cs typeface="Verdana"/>
              </a:rPr>
              <a:t> </a:t>
            </a:r>
            <a:r>
              <a:rPr sz="4500" b="0" spc="-320" dirty="0">
                <a:latin typeface="Verdana"/>
                <a:cs typeface="Verdana"/>
              </a:rPr>
              <a:t>Excellence</a:t>
            </a:r>
            <a:r>
              <a:rPr sz="4500" b="0" spc="-705" dirty="0">
                <a:latin typeface="Verdana"/>
                <a:cs typeface="Verdana"/>
              </a:rPr>
              <a:t> </a:t>
            </a:r>
            <a:r>
              <a:rPr sz="4500" b="0" spc="-155" dirty="0">
                <a:latin typeface="Verdana"/>
                <a:cs typeface="Verdana"/>
              </a:rPr>
              <a:t>of</a:t>
            </a:r>
            <a:r>
              <a:rPr sz="4500" b="0" spc="-705" dirty="0">
                <a:latin typeface="Verdana"/>
                <a:cs typeface="Verdana"/>
              </a:rPr>
              <a:t> </a:t>
            </a:r>
            <a:r>
              <a:rPr sz="4500" b="0" spc="-229" dirty="0">
                <a:latin typeface="Verdana"/>
                <a:cs typeface="Verdana"/>
              </a:rPr>
              <a:t>the</a:t>
            </a:r>
            <a:r>
              <a:rPr sz="4500" b="0" spc="-705" dirty="0">
                <a:latin typeface="Verdana"/>
                <a:cs typeface="Verdana"/>
              </a:rPr>
              <a:t> </a:t>
            </a:r>
            <a:r>
              <a:rPr sz="4500" b="0" spc="-310" dirty="0">
                <a:latin typeface="Verdana"/>
                <a:cs typeface="Verdana"/>
              </a:rPr>
              <a:t>Overall</a:t>
            </a:r>
            <a:r>
              <a:rPr sz="4500" b="0" spc="-700" dirty="0">
                <a:latin typeface="Verdana"/>
                <a:cs typeface="Verdana"/>
              </a:rPr>
              <a:t> </a:t>
            </a:r>
            <a:r>
              <a:rPr sz="4500" b="0" spc="-275" dirty="0">
                <a:latin typeface="Verdana"/>
                <a:cs typeface="Verdana"/>
              </a:rPr>
              <a:t>Solution</a:t>
            </a:r>
            <a:endParaRPr sz="45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66449" y="2899991"/>
            <a:ext cx="5288280" cy="3457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50" spc="-150" dirty="0">
                <a:latin typeface="Verdana"/>
                <a:cs typeface="Verdana"/>
              </a:rPr>
              <a:t>Intelligent</a:t>
            </a:r>
            <a:r>
              <a:rPr sz="2950" spc="-455" dirty="0">
                <a:latin typeface="Verdana"/>
                <a:cs typeface="Verdana"/>
              </a:rPr>
              <a:t> </a:t>
            </a:r>
            <a:r>
              <a:rPr sz="2950" spc="-345" dirty="0">
                <a:latin typeface="Verdana"/>
                <a:cs typeface="Verdana"/>
              </a:rPr>
              <a:t>&amp;</a:t>
            </a:r>
            <a:r>
              <a:rPr sz="2950" spc="-450" dirty="0">
                <a:latin typeface="Verdana"/>
                <a:cs typeface="Verdana"/>
              </a:rPr>
              <a:t> </a:t>
            </a:r>
            <a:r>
              <a:rPr sz="2950" spc="-105" dirty="0">
                <a:latin typeface="Verdana"/>
                <a:cs typeface="Verdana"/>
              </a:rPr>
              <a:t>Automated</a:t>
            </a:r>
            <a:endParaRPr sz="2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2950">
              <a:latin typeface="Verdana"/>
              <a:cs typeface="Verdana"/>
            </a:endParaRPr>
          </a:p>
          <a:p>
            <a:pPr marL="73660">
              <a:lnSpc>
                <a:spcPct val="100000"/>
              </a:lnSpc>
            </a:pPr>
            <a:r>
              <a:rPr sz="2950" spc="-235" dirty="0">
                <a:latin typeface="Verdana"/>
                <a:cs typeface="Verdana"/>
              </a:rPr>
              <a:t>Farmer-</a:t>
            </a:r>
            <a:r>
              <a:rPr sz="2950" spc="-50" dirty="0">
                <a:latin typeface="Verdana"/>
                <a:cs typeface="Verdana"/>
              </a:rPr>
              <a:t>Centric</a:t>
            </a:r>
            <a:endParaRPr sz="2950">
              <a:latin typeface="Verdana"/>
              <a:cs typeface="Verdana"/>
            </a:endParaRPr>
          </a:p>
          <a:p>
            <a:pPr marL="73660" marR="5080">
              <a:lnSpc>
                <a:spcPts val="8260"/>
              </a:lnSpc>
              <a:spcBef>
                <a:spcPts val="365"/>
              </a:spcBef>
            </a:pPr>
            <a:r>
              <a:rPr sz="2950" spc="-110" dirty="0">
                <a:latin typeface="Verdana"/>
                <a:cs typeface="Verdana"/>
              </a:rPr>
              <a:t>Multi-</a:t>
            </a:r>
            <a:r>
              <a:rPr sz="2950" spc="-254" dirty="0">
                <a:latin typeface="Verdana"/>
                <a:cs typeface="Verdana"/>
              </a:rPr>
              <a:t>Component</a:t>
            </a:r>
            <a:r>
              <a:rPr sz="2950" spc="-400" dirty="0">
                <a:latin typeface="Verdana"/>
                <a:cs typeface="Verdana"/>
              </a:rPr>
              <a:t> </a:t>
            </a:r>
            <a:r>
              <a:rPr sz="2950" spc="-290" dirty="0">
                <a:latin typeface="Verdana"/>
                <a:cs typeface="Verdana"/>
              </a:rPr>
              <a:t>Smart</a:t>
            </a:r>
            <a:r>
              <a:rPr sz="2950" spc="-400" dirty="0">
                <a:latin typeface="Verdana"/>
                <a:cs typeface="Verdana"/>
              </a:rPr>
              <a:t> </a:t>
            </a:r>
            <a:r>
              <a:rPr sz="2950" spc="-320" dirty="0">
                <a:latin typeface="Verdana"/>
                <a:cs typeface="Verdana"/>
              </a:rPr>
              <a:t>System </a:t>
            </a:r>
            <a:r>
              <a:rPr sz="2950" spc="-130" dirty="0">
                <a:latin typeface="Verdana"/>
                <a:cs typeface="Verdana"/>
              </a:rPr>
              <a:t>Efficient</a:t>
            </a:r>
            <a:r>
              <a:rPr sz="2950" spc="-434" dirty="0">
                <a:latin typeface="Verdana"/>
                <a:cs typeface="Verdana"/>
              </a:rPr>
              <a:t> </a:t>
            </a:r>
            <a:r>
              <a:rPr sz="2950" spc="-345" dirty="0">
                <a:latin typeface="Verdana"/>
                <a:cs typeface="Verdana"/>
              </a:rPr>
              <a:t>&amp;</a:t>
            </a:r>
            <a:r>
              <a:rPr sz="2950" spc="-430" dirty="0">
                <a:latin typeface="Verdana"/>
                <a:cs typeface="Verdana"/>
              </a:rPr>
              <a:t> </a:t>
            </a:r>
            <a:r>
              <a:rPr sz="2950" spc="-210" dirty="0">
                <a:latin typeface="Verdana"/>
                <a:cs typeface="Verdana"/>
              </a:rPr>
              <a:t>Time-</a:t>
            </a:r>
            <a:r>
              <a:rPr sz="2950" spc="-285" dirty="0">
                <a:latin typeface="Verdana"/>
                <a:cs typeface="Verdana"/>
              </a:rPr>
              <a:t>Saving</a:t>
            </a:r>
            <a:endParaRPr sz="2950">
              <a:latin typeface="Verdana"/>
              <a:cs typeface="Verdana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6A8385-FE94-C7AE-967C-313E69A925E6}"/>
              </a:ext>
            </a:extLst>
          </p:cNvPr>
          <p:cNvGrpSpPr/>
          <p:nvPr/>
        </p:nvGrpSpPr>
        <p:grpSpPr>
          <a:xfrm>
            <a:off x="13182601" y="7962900"/>
            <a:ext cx="6771503" cy="1143000"/>
            <a:chOff x="13182601" y="7962900"/>
            <a:chExt cx="6771503" cy="1143000"/>
          </a:xfrm>
        </p:grpSpPr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8063FCC5-043D-E9A0-576A-DD7D4663AC39}"/>
                </a:ext>
              </a:extLst>
            </p:cNvPr>
            <p:cNvSpPr/>
            <p:nvPr/>
          </p:nvSpPr>
          <p:spPr>
            <a:xfrm>
              <a:off x="13182601" y="7962900"/>
              <a:ext cx="2362200" cy="1143000"/>
            </a:xfrm>
            <a:prstGeom prst="right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hlinkClick r:id="rId4"/>
              <a:extLst>
                <a:ext uri="{FF2B5EF4-FFF2-40B4-BE49-F238E27FC236}">
                  <a16:creationId xmlns:a16="http://schemas.microsoft.com/office/drawing/2014/main" id="{51C49A53-F9E6-D7D8-E7C0-18C1BE4B0969}"/>
                </a:ext>
              </a:extLst>
            </p:cNvPr>
            <p:cNvSpPr txBox="1"/>
            <p:nvPr/>
          </p:nvSpPr>
          <p:spPr>
            <a:xfrm>
              <a:off x="13592946" y="8349734"/>
              <a:ext cx="6361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PP1 Video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90569C2-3421-03B9-FA48-190D2F8DC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200865"/>
            <a:ext cx="5438942" cy="1112919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77211BA-A7A8-0DC2-7067-C06563066B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1866" rIns="0" bIns="0" rtlCol="0">
            <a:spAutoFit/>
          </a:bodyPr>
          <a:lstStyle/>
          <a:p>
            <a:pPr marL="2208530">
              <a:lnSpc>
                <a:spcPct val="100000"/>
              </a:lnSpc>
              <a:spcBef>
                <a:spcPts val="130"/>
              </a:spcBef>
            </a:pPr>
            <a:r>
              <a:rPr sz="4550" b="0" spc="-425" dirty="0">
                <a:latin typeface="Verdana"/>
                <a:cs typeface="Verdana"/>
              </a:rPr>
              <a:t>Data</a:t>
            </a:r>
            <a:r>
              <a:rPr sz="4550" b="0" spc="-695" dirty="0">
                <a:latin typeface="Verdana"/>
                <a:cs typeface="Verdana"/>
              </a:rPr>
              <a:t> </a:t>
            </a:r>
            <a:r>
              <a:rPr sz="4550" b="0" spc="-235" dirty="0">
                <a:latin typeface="Verdana"/>
                <a:cs typeface="Verdana"/>
              </a:rPr>
              <a:t>Collection</a:t>
            </a:r>
            <a:r>
              <a:rPr sz="4550" b="0" spc="-695" dirty="0">
                <a:latin typeface="Verdana"/>
                <a:cs typeface="Verdana"/>
              </a:rPr>
              <a:t> </a:t>
            </a:r>
            <a:r>
              <a:rPr sz="4550" b="0" spc="-270" dirty="0">
                <a:latin typeface="Verdana"/>
                <a:cs typeface="Verdana"/>
              </a:rPr>
              <a:t>Permission</a:t>
            </a:r>
            <a:r>
              <a:rPr sz="4550" b="0" spc="-695" dirty="0">
                <a:latin typeface="Verdana"/>
                <a:cs typeface="Verdana"/>
              </a:rPr>
              <a:t> </a:t>
            </a:r>
            <a:r>
              <a:rPr sz="4550" b="0" spc="-190" dirty="0">
                <a:latin typeface="Verdana"/>
                <a:cs typeface="Verdana"/>
              </a:rPr>
              <a:t>Letter</a:t>
            </a:r>
            <a:endParaRPr sz="4550">
              <a:latin typeface="Verdana"/>
              <a:cs typeface="Verdana"/>
            </a:endParaRPr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9B44517C-5C5D-6343-BDC5-3F96255C976E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92A5EB-A25D-8BB2-99CF-6DF1872B4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505254"/>
            <a:ext cx="6172200" cy="873012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318960-F31C-CBE9-C279-090E7A984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00865"/>
            <a:ext cx="5438942" cy="11129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53EA84-161B-A2FF-CE09-EDCBA4A277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C4EFFE-68B5-D5E0-E840-2E8BC0BE55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2964" y="2158439"/>
            <a:ext cx="4238624" cy="3171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34600" y="2090711"/>
            <a:ext cx="3076574" cy="34289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80776" y="5924518"/>
            <a:ext cx="4438649" cy="33337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96031" y="5816838"/>
            <a:ext cx="2828924" cy="356234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1046" rIns="0" bIns="0" rtlCol="0">
            <a:spAutoFit/>
          </a:bodyPr>
          <a:lstStyle/>
          <a:p>
            <a:pPr marL="3945890">
              <a:lnSpc>
                <a:spcPct val="100000"/>
              </a:lnSpc>
              <a:spcBef>
                <a:spcPts val="110"/>
              </a:spcBef>
            </a:pPr>
            <a:r>
              <a:rPr sz="4550" b="0" spc="-440" dirty="0">
                <a:latin typeface="Verdana"/>
                <a:cs typeface="Verdana"/>
              </a:rPr>
              <a:t>Data</a:t>
            </a:r>
            <a:r>
              <a:rPr sz="4550" b="0" spc="-705" dirty="0">
                <a:latin typeface="Verdana"/>
                <a:cs typeface="Verdana"/>
              </a:rPr>
              <a:t> </a:t>
            </a:r>
            <a:r>
              <a:rPr sz="4550" b="0" spc="-254" dirty="0">
                <a:latin typeface="Verdana"/>
                <a:cs typeface="Verdana"/>
              </a:rPr>
              <a:t>Collection</a:t>
            </a:r>
            <a:r>
              <a:rPr sz="4550" b="0" spc="-705" dirty="0">
                <a:latin typeface="Verdana"/>
                <a:cs typeface="Verdana"/>
              </a:rPr>
              <a:t> </a:t>
            </a:r>
            <a:r>
              <a:rPr sz="4550" b="0" spc="-185" dirty="0">
                <a:latin typeface="Verdana"/>
                <a:cs typeface="Verdana"/>
              </a:rPr>
              <a:t>Activities</a:t>
            </a:r>
            <a:endParaRPr sz="4550" dirty="0">
              <a:latin typeface="Verdana"/>
              <a:cs typeface="Verdan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073821-42A2-E207-1EC4-37D2643DA4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9200865"/>
            <a:ext cx="5438942" cy="11129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59684" y="5697301"/>
            <a:ext cx="2847974" cy="3790949"/>
          </a:xfrm>
          <a:prstGeom prst="rect">
            <a:avLst/>
          </a:prstGeom>
        </p:spPr>
      </p:pic>
      <p:sp>
        <p:nvSpPr>
          <p:cNvPr id="14" name="object 11">
            <a:extLst>
              <a:ext uri="{FF2B5EF4-FFF2-40B4-BE49-F238E27FC236}">
                <a16:creationId xmlns:a16="http://schemas.microsoft.com/office/drawing/2014/main" id="{1FD3B68E-D8CB-E467-5D75-E5ED7DA7AD0C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D8A368-C0FF-00ED-47E8-A1D44F2B2A4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502348-A5DE-6B47-0434-0EA50061E1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2740" y="3860117"/>
            <a:ext cx="11748135" cy="1720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24579" marR="5080" indent="-3612515">
              <a:lnSpc>
                <a:spcPct val="100200"/>
              </a:lnSpc>
              <a:spcBef>
                <a:spcPts val="95"/>
              </a:spcBef>
            </a:pPr>
            <a:r>
              <a:rPr sz="5550" spc="645" dirty="0"/>
              <a:t>ANIMAL</a:t>
            </a:r>
            <a:r>
              <a:rPr sz="5550" spc="-145" dirty="0"/>
              <a:t> </a:t>
            </a:r>
            <a:r>
              <a:rPr sz="5550" spc="280" dirty="0"/>
              <a:t>BIRTH</a:t>
            </a:r>
            <a:r>
              <a:rPr sz="5550" spc="-140" dirty="0"/>
              <a:t> </a:t>
            </a:r>
            <a:r>
              <a:rPr sz="5550" spc="750" dirty="0"/>
              <a:t>AND</a:t>
            </a:r>
            <a:r>
              <a:rPr sz="5550" spc="-145" dirty="0"/>
              <a:t> </a:t>
            </a:r>
            <a:r>
              <a:rPr sz="5550" spc="585" dirty="0"/>
              <a:t>EGG</a:t>
            </a:r>
            <a:r>
              <a:rPr sz="5550" spc="-140" dirty="0"/>
              <a:t> </a:t>
            </a:r>
            <a:r>
              <a:rPr sz="5550" spc="455" dirty="0"/>
              <a:t>HATCH </a:t>
            </a:r>
            <a:r>
              <a:rPr sz="5550" spc="430" dirty="0"/>
              <a:t>PREDICTION</a:t>
            </a:r>
            <a:endParaRPr sz="55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02651" y="2243861"/>
            <a:ext cx="6285348" cy="804313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829800" y="9626247"/>
            <a:ext cx="16764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5" dirty="0">
                <a:latin typeface="Verdana"/>
                <a:cs typeface="Verdana"/>
              </a:rPr>
              <a:t>|</a:t>
            </a:r>
            <a:endParaRPr sz="2700" dirty="0">
              <a:latin typeface="Verdana"/>
              <a:cs typeface="Verdana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08E6AA81-9452-2375-4FF4-1F96DA8718FC}"/>
              </a:ext>
            </a:extLst>
          </p:cNvPr>
          <p:cNvSpPr/>
          <p:nvPr/>
        </p:nvSpPr>
        <p:spPr>
          <a:xfrm>
            <a:off x="15278087" y="11"/>
            <a:ext cx="3009900" cy="3467100"/>
          </a:xfrm>
          <a:custGeom>
            <a:avLst/>
            <a:gdLst/>
            <a:ahLst/>
            <a:cxnLst/>
            <a:rect l="l" t="t" r="r" b="b"/>
            <a:pathLst>
              <a:path w="3009900" h="3467100">
                <a:moveTo>
                  <a:pt x="3009900" y="19050"/>
                </a:moveTo>
                <a:lnTo>
                  <a:pt x="3008401" y="11645"/>
                </a:lnTo>
                <a:lnTo>
                  <a:pt x="3004312" y="5588"/>
                </a:lnTo>
                <a:lnTo>
                  <a:pt x="2998254" y="1498"/>
                </a:lnTo>
                <a:lnTo>
                  <a:pt x="2990850" y="0"/>
                </a:lnTo>
                <a:lnTo>
                  <a:pt x="19050" y="0"/>
                </a:lnTo>
                <a:lnTo>
                  <a:pt x="11658" y="1498"/>
                </a:lnTo>
                <a:lnTo>
                  <a:pt x="5600" y="5588"/>
                </a:lnTo>
                <a:lnTo>
                  <a:pt x="1511" y="11645"/>
                </a:lnTo>
                <a:lnTo>
                  <a:pt x="0" y="19050"/>
                </a:lnTo>
                <a:lnTo>
                  <a:pt x="0" y="3448050"/>
                </a:lnTo>
                <a:lnTo>
                  <a:pt x="1511" y="3455441"/>
                </a:lnTo>
                <a:lnTo>
                  <a:pt x="5600" y="3461499"/>
                </a:lnTo>
                <a:lnTo>
                  <a:pt x="11658" y="3465588"/>
                </a:lnTo>
                <a:lnTo>
                  <a:pt x="19050" y="3467087"/>
                </a:lnTo>
                <a:lnTo>
                  <a:pt x="2990850" y="3467087"/>
                </a:lnTo>
                <a:lnTo>
                  <a:pt x="2998254" y="3465588"/>
                </a:lnTo>
                <a:lnTo>
                  <a:pt x="3004312" y="3461499"/>
                </a:lnTo>
                <a:lnTo>
                  <a:pt x="3008401" y="3455441"/>
                </a:lnTo>
                <a:lnTo>
                  <a:pt x="3009900" y="3448050"/>
                </a:lnTo>
                <a:lnTo>
                  <a:pt x="3009900" y="3429000"/>
                </a:lnTo>
                <a:lnTo>
                  <a:pt x="3009900" y="38100"/>
                </a:lnTo>
                <a:lnTo>
                  <a:pt x="300990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E08E1610-8F96-5354-80F1-781BF964353F}"/>
              </a:ext>
            </a:extLst>
          </p:cNvPr>
          <p:cNvSpPr txBox="1"/>
          <p:nvPr/>
        </p:nvSpPr>
        <p:spPr>
          <a:xfrm>
            <a:off x="685800" y="7553948"/>
            <a:ext cx="12791440" cy="1209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300" spc="-290" dirty="0">
                <a:latin typeface="Verdana"/>
                <a:cs typeface="Verdana"/>
              </a:rPr>
              <a:t>IT22139894</a:t>
            </a:r>
            <a:r>
              <a:rPr lang="en-US" sz="3300" spc="110" dirty="0">
                <a:latin typeface="Verdana"/>
                <a:cs typeface="Verdana"/>
              </a:rPr>
              <a:t> </a:t>
            </a:r>
            <a:r>
              <a:rPr lang="en-US" sz="3300" spc="-135" dirty="0">
                <a:latin typeface="Verdana"/>
                <a:cs typeface="Verdana"/>
              </a:rPr>
              <a:t>|</a:t>
            </a:r>
            <a:r>
              <a:rPr lang="en-US" sz="3300" spc="-525" dirty="0">
                <a:latin typeface="Verdana"/>
                <a:cs typeface="Verdana"/>
              </a:rPr>
              <a:t> </a:t>
            </a:r>
            <a:r>
              <a:rPr lang="en-US" sz="3300" spc="-305" dirty="0">
                <a:latin typeface="Verdana"/>
                <a:cs typeface="Verdana"/>
              </a:rPr>
              <a:t>Shamika</a:t>
            </a:r>
            <a:r>
              <a:rPr lang="en-US" sz="3300" spc="-525" dirty="0">
                <a:latin typeface="Verdana"/>
                <a:cs typeface="Verdana"/>
              </a:rPr>
              <a:t> </a:t>
            </a:r>
            <a:r>
              <a:rPr lang="en-US" sz="3300" spc="-409" dirty="0">
                <a:latin typeface="Verdana"/>
                <a:cs typeface="Verdana"/>
              </a:rPr>
              <a:t>G. L .|</a:t>
            </a:r>
            <a:r>
              <a:rPr lang="en-US" sz="3300" spc="110" dirty="0">
                <a:latin typeface="Verdana"/>
                <a:cs typeface="Verdana"/>
              </a:rPr>
              <a:t> </a:t>
            </a:r>
            <a:r>
              <a:rPr lang="en-US" sz="3300" spc="-290" dirty="0">
                <a:latin typeface="Verdana"/>
                <a:cs typeface="Verdana"/>
              </a:rPr>
              <a:t>R26 – IT - 093</a:t>
            </a:r>
            <a:endParaRPr lang="en-US" sz="33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sz="2700" spc="-345" dirty="0">
                <a:solidFill>
                  <a:srgbClr val="4D4D4D"/>
                </a:solidFill>
                <a:latin typeface="Verdana"/>
                <a:cs typeface="Verdana"/>
              </a:rPr>
              <a:t>BSc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20" dirty="0">
                <a:solidFill>
                  <a:srgbClr val="4D4D4D"/>
                </a:solidFill>
                <a:latin typeface="Verdana"/>
                <a:cs typeface="Verdana"/>
              </a:rPr>
              <a:t>(Hons)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40" dirty="0">
                <a:solidFill>
                  <a:srgbClr val="4D4D4D"/>
                </a:solidFill>
                <a:latin typeface="Verdana"/>
                <a:cs typeface="Verdana"/>
              </a:rPr>
              <a:t>Degree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05" dirty="0">
                <a:solidFill>
                  <a:srgbClr val="4D4D4D"/>
                </a:solidFill>
                <a:latin typeface="Verdana"/>
                <a:cs typeface="Verdana"/>
              </a:rPr>
              <a:t>in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85" dirty="0">
                <a:solidFill>
                  <a:srgbClr val="4D4D4D"/>
                </a:solidFill>
                <a:latin typeface="Verdana"/>
                <a:cs typeface="Verdana"/>
              </a:rPr>
              <a:t>Information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15" dirty="0">
                <a:solidFill>
                  <a:srgbClr val="4D4D4D"/>
                </a:solidFill>
                <a:latin typeface="Verdana"/>
                <a:cs typeface="Verdana"/>
              </a:rPr>
              <a:t>Technology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4D4D4D"/>
                </a:solidFill>
                <a:latin typeface="Verdana"/>
                <a:cs typeface="Verdana"/>
              </a:rPr>
              <a:t>specialization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05" dirty="0">
                <a:solidFill>
                  <a:srgbClr val="4D4D4D"/>
                </a:solidFill>
                <a:latin typeface="Verdana"/>
                <a:cs typeface="Verdana"/>
              </a:rPr>
              <a:t>in</a:t>
            </a:r>
            <a:r>
              <a:rPr sz="2700" spc="-165" dirty="0">
                <a:solidFill>
                  <a:srgbClr val="4D4D4D"/>
                </a:solidFill>
                <a:latin typeface="Verdana"/>
                <a:cs typeface="Verdana"/>
              </a:rPr>
              <a:t>formation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4D4D4D"/>
                </a:solidFill>
                <a:latin typeface="Verdana"/>
                <a:cs typeface="Verdana"/>
              </a:rPr>
              <a:t>Technology</a:t>
            </a:r>
            <a:endParaRPr sz="2700" dirty="0">
              <a:latin typeface="Verdana"/>
              <a:cs typeface="Verdana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F8C261-63BE-3818-A29B-3288875A5779}"/>
              </a:ext>
            </a:extLst>
          </p:cNvPr>
          <p:cNvGrpSpPr/>
          <p:nvPr/>
        </p:nvGrpSpPr>
        <p:grpSpPr>
          <a:xfrm>
            <a:off x="4382329" y="9668178"/>
            <a:ext cx="7673781" cy="428322"/>
            <a:chOff x="4152982" y="9677339"/>
            <a:chExt cx="7673781" cy="428322"/>
          </a:xfrm>
        </p:grpSpPr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3F53E8D6-C892-A7A4-DFC4-F8A9C5167FD3}"/>
                </a:ext>
              </a:extLst>
            </p:cNvPr>
            <p:cNvSpPr txBox="1"/>
            <p:nvPr/>
          </p:nvSpPr>
          <p:spPr>
            <a:xfrm>
              <a:off x="4152982" y="9677339"/>
              <a:ext cx="203327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295" dirty="0">
                  <a:latin typeface="Verdana"/>
                  <a:cs typeface="Verdana"/>
                </a:rPr>
                <a:t>IT22</a:t>
              </a:r>
              <a:r>
                <a:rPr lang="en-US" sz="2700" spc="-295" dirty="0">
                  <a:latin typeface="Verdana"/>
                  <a:cs typeface="Verdana"/>
                </a:rPr>
                <a:t>139894</a:t>
              </a:r>
              <a:r>
                <a:rPr sz="2700" spc="114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7DF63F71-763C-6E84-92D1-E75F0D6FD096}"/>
                </a:ext>
              </a:extLst>
            </p:cNvPr>
            <p:cNvSpPr txBox="1"/>
            <p:nvPr/>
          </p:nvSpPr>
          <p:spPr>
            <a:xfrm>
              <a:off x="6356084" y="9677339"/>
              <a:ext cx="291846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04" dirty="0">
                  <a:latin typeface="Verdana"/>
                  <a:cs typeface="Verdana"/>
                </a:rPr>
                <a:t>Shamika G.L</a:t>
              </a:r>
              <a:r>
                <a:rPr sz="2700" spc="-10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0" name="object 14">
              <a:extLst>
                <a:ext uri="{FF2B5EF4-FFF2-40B4-BE49-F238E27FC236}">
                  <a16:creationId xmlns:a16="http://schemas.microsoft.com/office/drawing/2014/main" id="{4C144C68-4305-31AC-B2C5-6CC6F80655A2}"/>
                </a:ext>
              </a:extLst>
            </p:cNvPr>
            <p:cNvSpPr txBox="1"/>
            <p:nvPr/>
          </p:nvSpPr>
          <p:spPr>
            <a:xfrm>
              <a:off x="9768093" y="9677339"/>
              <a:ext cx="205867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>
                  <a:latin typeface="Verdana"/>
                  <a:cs typeface="Verdana"/>
                </a:rPr>
                <a:t>R26 –IT- 093</a:t>
              </a:r>
              <a:endParaRPr sz="2700" dirty="0">
                <a:latin typeface="Verdana"/>
                <a:cs typeface="Verdana"/>
              </a:endParaRPr>
            </a:p>
          </p:txBody>
        </p:sp>
      </p:grpSp>
      <p:sp>
        <p:nvSpPr>
          <p:cNvPr id="21" name="object 11">
            <a:extLst>
              <a:ext uri="{FF2B5EF4-FFF2-40B4-BE49-F238E27FC236}">
                <a16:creationId xmlns:a16="http://schemas.microsoft.com/office/drawing/2014/main" id="{6B4DB40D-FE38-1EA1-A267-098B7CF9E25E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1FADF-8214-F0E3-1FE9-68E8B3B8D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467490"/>
            <a:ext cx="4135920" cy="8462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2488E7-5053-62F8-6C63-6BF4A1FE9E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AEC98-F5B5-7D17-78F3-EA6839DEA5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E1A01A-44B9-D883-41BA-DCB33F6F10E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5" t="13333" r="12593" b="37778"/>
          <a:stretch>
            <a:fillRect/>
          </a:stretch>
        </p:blipFill>
        <p:spPr>
          <a:xfrm>
            <a:off x="14586155" y="-38100"/>
            <a:ext cx="3733800" cy="35052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59956"/>
            <a:ext cx="3771900" cy="727075"/>
            <a:chOff x="0" y="9559956"/>
            <a:chExt cx="3771900" cy="727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692421"/>
              <a:ext cx="3771899" cy="594578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3588" y="7554209"/>
            <a:ext cx="237735" cy="2375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3588" y="6866748"/>
            <a:ext cx="237735" cy="2375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70426" y="2986226"/>
            <a:ext cx="6223000" cy="4878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0"/>
              </a:spcBef>
            </a:pPr>
            <a:r>
              <a:rPr sz="2700" spc="-229" dirty="0">
                <a:latin typeface="Verdana"/>
                <a:cs typeface="Verdana"/>
              </a:rPr>
              <a:t>Early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145" dirty="0">
                <a:latin typeface="Verdana"/>
                <a:cs typeface="Verdana"/>
              </a:rPr>
              <a:t>detection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100" dirty="0">
                <a:latin typeface="Verdana"/>
                <a:cs typeface="Verdana"/>
              </a:rPr>
              <a:t>of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195" dirty="0">
                <a:latin typeface="Verdana"/>
                <a:cs typeface="Verdana"/>
              </a:rPr>
              <a:t>animal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114" dirty="0">
                <a:latin typeface="Verdana"/>
                <a:cs typeface="Verdana"/>
              </a:rPr>
              <a:t>birthing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160" dirty="0">
                <a:latin typeface="Verdana"/>
                <a:cs typeface="Verdana"/>
              </a:rPr>
              <a:t>events</a:t>
            </a:r>
            <a:endParaRPr sz="2700">
              <a:latin typeface="Verdana"/>
              <a:cs typeface="Verdana"/>
            </a:endParaRPr>
          </a:p>
          <a:p>
            <a:pPr marL="168275">
              <a:lnSpc>
                <a:spcPct val="100000"/>
              </a:lnSpc>
              <a:spcBef>
                <a:spcPts val="2005"/>
              </a:spcBef>
            </a:pPr>
            <a:r>
              <a:rPr sz="2700" spc="-165" dirty="0">
                <a:latin typeface="Verdana"/>
                <a:cs typeface="Verdana"/>
              </a:rPr>
              <a:t>Higher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04" dirty="0">
                <a:latin typeface="Verdana"/>
                <a:cs typeface="Verdana"/>
              </a:rPr>
              <a:t>egg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60" dirty="0">
                <a:latin typeface="Verdana"/>
                <a:cs typeface="Verdana"/>
              </a:rPr>
              <a:t>hatching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success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rate</a:t>
            </a:r>
            <a:endParaRPr sz="2700">
              <a:latin typeface="Verdana"/>
              <a:cs typeface="Verdana"/>
            </a:endParaRPr>
          </a:p>
          <a:p>
            <a:pPr marL="177800">
              <a:lnSpc>
                <a:spcPct val="100000"/>
              </a:lnSpc>
              <a:spcBef>
                <a:spcPts val="2014"/>
              </a:spcBef>
            </a:pPr>
            <a:r>
              <a:rPr sz="2600" spc="-225" dirty="0">
                <a:latin typeface="Verdana"/>
                <a:cs typeface="Verdana"/>
              </a:rPr>
              <a:t>Increased</a:t>
            </a:r>
            <a:r>
              <a:rPr sz="2600" spc="-380" dirty="0">
                <a:latin typeface="Verdana"/>
                <a:cs typeface="Verdana"/>
              </a:rPr>
              <a:t> </a:t>
            </a:r>
            <a:r>
              <a:rPr sz="2600" spc="-185" dirty="0">
                <a:latin typeface="Verdana"/>
                <a:cs typeface="Verdana"/>
              </a:rPr>
              <a:t>farmer</a:t>
            </a:r>
            <a:r>
              <a:rPr sz="2600" spc="-380" dirty="0">
                <a:latin typeface="Verdana"/>
                <a:cs typeface="Verdana"/>
              </a:rPr>
              <a:t> </a:t>
            </a:r>
            <a:r>
              <a:rPr sz="2600" spc="-185" dirty="0">
                <a:latin typeface="Verdana"/>
                <a:cs typeface="Verdana"/>
              </a:rPr>
              <a:t>income</a:t>
            </a:r>
            <a:r>
              <a:rPr sz="2600" spc="-380" dirty="0">
                <a:latin typeface="Verdana"/>
                <a:cs typeface="Verdana"/>
              </a:rPr>
              <a:t> </a:t>
            </a:r>
            <a:r>
              <a:rPr sz="2600" spc="-225" dirty="0">
                <a:latin typeface="Verdana"/>
                <a:cs typeface="Verdana"/>
              </a:rPr>
              <a:t>and</a:t>
            </a:r>
            <a:r>
              <a:rPr sz="2600" spc="-380" dirty="0">
                <a:latin typeface="Verdana"/>
                <a:cs typeface="Verdana"/>
              </a:rPr>
              <a:t> </a:t>
            </a:r>
            <a:r>
              <a:rPr sz="2600" spc="-90" dirty="0">
                <a:latin typeface="Verdana"/>
                <a:cs typeface="Verdana"/>
              </a:rPr>
              <a:t>productivity</a:t>
            </a:r>
            <a:endParaRPr sz="2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2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300" spc="-220" dirty="0">
                <a:solidFill>
                  <a:srgbClr val="006117"/>
                </a:solidFill>
                <a:latin typeface="Verdana"/>
                <a:cs typeface="Verdana"/>
              </a:rPr>
              <a:t>Modules</a:t>
            </a:r>
            <a:r>
              <a:rPr sz="3300" spc="-49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300" spc="-145" dirty="0">
                <a:solidFill>
                  <a:srgbClr val="006117"/>
                </a:solidFill>
                <a:latin typeface="Verdana"/>
                <a:cs typeface="Verdana"/>
              </a:rPr>
              <a:t>Implemented</a:t>
            </a:r>
            <a:endParaRPr sz="3300">
              <a:latin typeface="Verdana"/>
              <a:cs typeface="Verdana"/>
            </a:endParaRPr>
          </a:p>
          <a:p>
            <a:pPr marL="735330" marR="1013460" indent="25400">
              <a:lnSpc>
                <a:spcPct val="167100"/>
              </a:lnSpc>
              <a:spcBef>
                <a:spcPts val="2705"/>
              </a:spcBef>
            </a:pPr>
            <a:r>
              <a:rPr sz="2700" spc="-200" dirty="0">
                <a:latin typeface="Verdana"/>
                <a:cs typeface="Verdana"/>
              </a:rPr>
              <a:t>Animal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35" dirty="0">
                <a:latin typeface="Verdana"/>
                <a:cs typeface="Verdana"/>
              </a:rPr>
              <a:t>Birth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35" dirty="0">
                <a:latin typeface="Verdana"/>
                <a:cs typeface="Verdana"/>
              </a:rPr>
              <a:t>Prediction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40" dirty="0">
                <a:latin typeface="Verdana"/>
                <a:cs typeface="Verdana"/>
              </a:rPr>
              <a:t>Model </a:t>
            </a:r>
            <a:r>
              <a:rPr sz="2700" spc="-250" dirty="0">
                <a:latin typeface="Verdana"/>
                <a:cs typeface="Verdana"/>
              </a:rPr>
              <a:t>Egg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95" dirty="0">
                <a:latin typeface="Verdana"/>
                <a:cs typeface="Verdana"/>
              </a:rPr>
              <a:t>Hatch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35" dirty="0">
                <a:latin typeface="Verdana"/>
                <a:cs typeface="Verdana"/>
              </a:rPr>
              <a:t>Prediction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Model</a:t>
            </a:r>
            <a:endParaRPr sz="27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9167" y="3112719"/>
            <a:ext cx="237735" cy="2375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9167" y="3778887"/>
            <a:ext cx="237735" cy="23750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9167" y="4447190"/>
            <a:ext cx="237735" cy="2375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11146" y="1913744"/>
            <a:ext cx="7776852" cy="6181724"/>
          </a:xfrm>
          <a:prstGeom prst="rect">
            <a:avLst/>
          </a:prstGeom>
        </p:spPr>
      </p:pic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061979" y="1869325"/>
            <a:ext cx="40506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spc="-275" dirty="0">
                <a:latin typeface="Verdana"/>
                <a:cs typeface="Verdana"/>
              </a:rPr>
              <a:t>Proposed</a:t>
            </a:r>
            <a:r>
              <a:rPr sz="4000" b="0" spc="-635" dirty="0">
                <a:latin typeface="Verdana"/>
                <a:cs typeface="Verdana"/>
              </a:rPr>
              <a:t> </a:t>
            </a:r>
            <a:r>
              <a:rPr sz="4000" b="0" spc="-265" dirty="0">
                <a:latin typeface="Verdana"/>
                <a:cs typeface="Verdana"/>
              </a:rPr>
              <a:t>Solution</a:t>
            </a:r>
            <a:endParaRPr sz="4000">
              <a:latin typeface="Verdana"/>
              <a:cs typeface="Verdana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D402BB3-259D-82AD-3E0D-E9222C754463}"/>
              </a:ext>
            </a:extLst>
          </p:cNvPr>
          <p:cNvGrpSpPr/>
          <p:nvPr/>
        </p:nvGrpSpPr>
        <p:grpSpPr>
          <a:xfrm>
            <a:off x="4382329" y="9668178"/>
            <a:ext cx="7350254" cy="428322"/>
            <a:chOff x="4152982" y="9677339"/>
            <a:chExt cx="7350254" cy="428322"/>
          </a:xfrm>
        </p:grpSpPr>
        <p:sp>
          <p:nvSpPr>
            <p:cNvPr id="24" name="object 12">
              <a:extLst>
                <a:ext uri="{FF2B5EF4-FFF2-40B4-BE49-F238E27FC236}">
                  <a16:creationId xmlns:a16="http://schemas.microsoft.com/office/drawing/2014/main" id="{9F8A8C80-7D90-4FFF-7775-C0B375145635}"/>
                </a:ext>
              </a:extLst>
            </p:cNvPr>
            <p:cNvSpPr txBox="1"/>
            <p:nvPr/>
          </p:nvSpPr>
          <p:spPr>
            <a:xfrm>
              <a:off x="4152982" y="9677339"/>
              <a:ext cx="203327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295" dirty="0">
                  <a:latin typeface="Verdana"/>
                  <a:cs typeface="Verdana"/>
                </a:rPr>
                <a:t>IT22</a:t>
              </a:r>
              <a:r>
                <a:rPr lang="en-US" sz="2700" spc="-295" dirty="0">
                  <a:latin typeface="Verdana"/>
                  <a:cs typeface="Verdana"/>
                </a:rPr>
                <a:t>139894</a:t>
              </a:r>
              <a:r>
                <a:rPr sz="2700" spc="114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5" name="object 13">
              <a:extLst>
                <a:ext uri="{FF2B5EF4-FFF2-40B4-BE49-F238E27FC236}">
                  <a16:creationId xmlns:a16="http://schemas.microsoft.com/office/drawing/2014/main" id="{ED8307CE-8D33-4587-729A-0841D764EB74}"/>
                </a:ext>
              </a:extLst>
            </p:cNvPr>
            <p:cNvSpPr txBox="1"/>
            <p:nvPr/>
          </p:nvSpPr>
          <p:spPr>
            <a:xfrm>
              <a:off x="6356084" y="9677339"/>
              <a:ext cx="291846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04" dirty="0">
                  <a:latin typeface="Verdana"/>
                  <a:cs typeface="Verdana"/>
                </a:rPr>
                <a:t>Shamika G.L</a:t>
              </a:r>
              <a:r>
                <a:rPr sz="2700" spc="-10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6" name="object 14">
              <a:extLst>
                <a:ext uri="{FF2B5EF4-FFF2-40B4-BE49-F238E27FC236}">
                  <a16:creationId xmlns:a16="http://schemas.microsoft.com/office/drawing/2014/main" id="{EAC600BD-F4DE-9D2E-4D9C-424F44B7079E}"/>
                </a:ext>
              </a:extLst>
            </p:cNvPr>
            <p:cNvSpPr txBox="1"/>
            <p:nvPr/>
          </p:nvSpPr>
          <p:spPr>
            <a:xfrm>
              <a:off x="9444566" y="9677339"/>
              <a:ext cx="205867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>
                  <a:latin typeface="Verdana"/>
                  <a:cs typeface="Verdana"/>
                </a:rPr>
                <a:t>R26 –IT- 093</a:t>
              </a:r>
              <a:endParaRPr sz="2700" dirty="0">
                <a:latin typeface="Verdana"/>
                <a:cs typeface="Verdana"/>
              </a:endParaRPr>
            </a:p>
          </p:txBody>
        </p:sp>
      </p:grpSp>
      <p:sp>
        <p:nvSpPr>
          <p:cNvPr id="27" name="object 11">
            <a:extLst>
              <a:ext uri="{FF2B5EF4-FFF2-40B4-BE49-F238E27FC236}">
                <a16:creationId xmlns:a16="http://schemas.microsoft.com/office/drawing/2014/main" id="{4E3B56ED-1553-F36C-4D73-BB1B6448CFB6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00FCA9-5AC4-F997-461C-8CE79BF2C7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467490"/>
            <a:ext cx="4135920" cy="8462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B32C67-1139-57E6-CDB4-23BC43D82FC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3335FA1-340E-CDF8-8F95-713866579C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59956"/>
            <a:ext cx="18288000" cy="727075"/>
            <a:chOff x="0" y="9559956"/>
            <a:chExt cx="18288000" cy="727075"/>
          </a:xfrm>
        </p:grpSpPr>
        <p:pic>
          <p:nvPicPr>
            <p:cNvPr id="3" name="object 3" descr="A picture containing photo, table, person, monitor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015355"/>
              <a:ext cx="18288000" cy="271780"/>
            </a:xfrm>
            <a:custGeom>
              <a:avLst/>
              <a:gdLst/>
              <a:ahLst/>
              <a:cxnLst/>
              <a:rect l="l" t="t" r="r" b="b"/>
              <a:pathLst>
                <a:path w="18288000" h="271779">
                  <a:moveTo>
                    <a:pt x="18288000" y="271653"/>
                  </a:moveTo>
                  <a:lnTo>
                    <a:pt x="0" y="271653"/>
                  </a:lnTo>
                  <a:lnTo>
                    <a:pt x="7204900" y="0"/>
                  </a:lnTo>
                  <a:lnTo>
                    <a:pt x="18288000" y="271653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4196" y="3320083"/>
            <a:ext cx="237735" cy="2375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4196" y="3912390"/>
            <a:ext cx="237735" cy="2375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4196" y="4609034"/>
            <a:ext cx="237735" cy="23750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09089" y="2365502"/>
            <a:ext cx="10942955" cy="254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25" dirty="0">
                <a:solidFill>
                  <a:srgbClr val="006117"/>
                </a:solidFill>
                <a:latin typeface="Verdana"/>
                <a:cs typeface="Verdana"/>
              </a:rPr>
              <a:t>Design</a:t>
            </a:r>
            <a:r>
              <a:rPr sz="2700" spc="-39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95" dirty="0">
                <a:solidFill>
                  <a:srgbClr val="006117"/>
                </a:solidFill>
                <a:latin typeface="Verdana"/>
                <a:cs typeface="Verdana"/>
              </a:rPr>
              <a:t>Excellence</a:t>
            </a:r>
            <a:endParaRPr sz="2700" dirty="0">
              <a:latin typeface="Verdana"/>
              <a:cs typeface="Verdana"/>
            </a:endParaRPr>
          </a:p>
          <a:p>
            <a:pPr marL="1238885" marR="5080" indent="32384">
              <a:lnSpc>
                <a:spcPct val="157400"/>
              </a:lnSpc>
              <a:spcBef>
                <a:spcPts val="985"/>
              </a:spcBef>
            </a:pPr>
            <a:r>
              <a:rPr sz="2700" spc="-240" dirty="0">
                <a:latin typeface="Verdana"/>
                <a:cs typeface="Verdana"/>
              </a:rPr>
              <a:t>AI-</a:t>
            </a:r>
            <a:r>
              <a:rPr sz="2700" spc="-185" dirty="0">
                <a:latin typeface="Verdana"/>
                <a:cs typeface="Verdana"/>
              </a:rPr>
              <a:t>driven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35" dirty="0">
                <a:latin typeface="Verdana"/>
                <a:cs typeface="Verdana"/>
              </a:rPr>
              <a:t>prediction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14" dirty="0">
                <a:latin typeface="Verdana"/>
                <a:cs typeface="Verdana"/>
              </a:rPr>
              <a:t>for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95" dirty="0">
                <a:latin typeface="Verdana"/>
                <a:cs typeface="Verdana"/>
              </a:rPr>
              <a:t>animal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00" dirty="0">
                <a:latin typeface="Verdana"/>
                <a:cs typeface="Verdana"/>
              </a:rPr>
              <a:t>birth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and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204" dirty="0">
                <a:latin typeface="Verdana"/>
                <a:cs typeface="Verdana"/>
              </a:rPr>
              <a:t>egg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60" dirty="0">
                <a:latin typeface="Verdana"/>
                <a:cs typeface="Verdana"/>
              </a:rPr>
              <a:t>hatching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90" dirty="0">
                <a:latin typeface="Verdana"/>
                <a:cs typeface="Verdana"/>
              </a:rPr>
              <a:t>outcomes. </a:t>
            </a:r>
            <a:r>
              <a:rPr sz="2700" spc="-140" dirty="0">
                <a:latin typeface="Verdana"/>
                <a:cs typeface="Verdana"/>
              </a:rPr>
              <a:t>Pattern-</a:t>
            </a:r>
            <a:r>
              <a:rPr sz="2700" spc="-229" dirty="0">
                <a:latin typeface="Verdana"/>
                <a:cs typeface="Verdana"/>
              </a:rPr>
              <a:t>based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60" dirty="0">
                <a:latin typeface="Verdana"/>
                <a:cs typeface="Verdana"/>
              </a:rPr>
              <a:t>learning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70" dirty="0">
                <a:latin typeface="Verdana"/>
                <a:cs typeface="Verdana"/>
              </a:rPr>
              <a:t>from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20" dirty="0">
                <a:latin typeface="Verdana"/>
                <a:cs typeface="Verdana"/>
              </a:rPr>
              <a:t>historical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and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35" dirty="0">
                <a:latin typeface="Verdana"/>
                <a:cs typeface="Verdana"/>
              </a:rPr>
              <a:t>real-</a:t>
            </a:r>
            <a:r>
              <a:rPr sz="2700" spc="-150" dirty="0">
                <a:latin typeface="Verdana"/>
                <a:cs typeface="Verdana"/>
              </a:rPr>
              <a:t>time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200" dirty="0">
                <a:latin typeface="Verdana"/>
                <a:cs typeface="Verdana"/>
              </a:rPr>
              <a:t>farm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data.</a:t>
            </a:r>
            <a:endParaRPr sz="2700" dirty="0">
              <a:latin typeface="Verdana"/>
              <a:cs typeface="Verdana"/>
            </a:endParaRPr>
          </a:p>
          <a:p>
            <a:pPr marL="1257935">
              <a:lnSpc>
                <a:spcPct val="100000"/>
              </a:lnSpc>
              <a:spcBef>
                <a:spcPts val="2210"/>
              </a:spcBef>
            </a:pPr>
            <a:r>
              <a:rPr sz="2700" spc="-170" dirty="0">
                <a:latin typeface="Verdana"/>
                <a:cs typeface="Verdana"/>
              </a:rPr>
              <a:t>Actionable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35" dirty="0">
                <a:latin typeface="Verdana"/>
                <a:cs typeface="Verdana"/>
              </a:rPr>
              <a:t>insights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10" dirty="0">
                <a:latin typeface="Verdana"/>
                <a:cs typeface="Verdana"/>
              </a:rPr>
              <a:t>to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180" dirty="0">
                <a:latin typeface="Verdana"/>
                <a:cs typeface="Verdana"/>
              </a:rPr>
              <a:t>support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60" dirty="0">
                <a:latin typeface="Verdana"/>
                <a:cs typeface="Verdana"/>
              </a:rPr>
              <a:t>timely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170" dirty="0">
                <a:latin typeface="Verdana"/>
                <a:cs typeface="Verdana"/>
              </a:rPr>
              <a:t>farming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decisions.</a:t>
            </a:r>
            <a:endParaRPr sz="2700" dirty="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01816" y="5633172"/>
            <a:ext cx="5943599" cy="3590925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3067574" y="708577"/>
            <a:ext cx="12797155" cy="708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35" dirty="0"/>
              <a:t>DESIGN</a:t>
            </a:r>
            <a:r>
              <a:rPr spc="-509" dirty="0"/>
              <a:t> </a:t>
            </a:r>
            <a:r>
              <a:rPr spc="225" dirty="0"/>
              <a:t>CONTRIBUTION</a:t>
            </a:r>
            <a:r>
              <a:rPr spc="-505" dirty="0"/>
              <a:t> </a:t>
            </a:r>
            <a:r>
              <a:rPr spc="290" dirty="0"/>
              <a:t>AND</a:t>
            </a:r>
            <a:r>
              <a:rPr spc="-505" dirty="0"/>
              <a:t> </a:t>
            </a:r>
            <a:r>
              <a:rPr spc="400" dirty="0"/>
              <a:t>USER</a:t>
            </a:r>
            <a:r>
              <a:rPr spc="-505" dirty="0"/>
              <a:t> </a:t>
            </a:r>
            <a:r>
              <a:rPr spc="330" dirty="0"/>
              <a:t>FEEDBACK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0D122C-94DB-A503-4FFA-2A33E51AC53F}"/>
              </a:ext>
            </a:extLst>
          </p:cNvPr>
          <p:cNvGrpSpPr/>
          <p:nvPr/>
        </p:nvGrpSpPr>
        <p:grpSpPr>
          <a:xfrm>
            <a:off x="4382329" y="9668178"/>
            <a:ext cx="7350254" cy="428322"/>
            <a:chOff x="4152982" y="9677339"/>
            <a:chExt cx="7350254" cy="428322"/>
          </a:xfrm>
        </p:grpSpPr>
        <p:sp>
          <p:nvSpPr>
            <p:cNvPr id="21" name="object 12">
              <a:extLst>
                <a:ext uri="{FF2B5EF4-FFF2-40B4-BE49-F238E27FC236}">
                  <a16:creationId xmlns:a16="http://schemas.microsoft.com/office/drawing/2014/main" id="{7746C483-293D-1EAD-FBFE-8E7F2FFE7162}"/>
                </a:ext>
              </a:extLst>
            </p:cNvPr>
            <p:cNvSpPr txBox="1"/>
            <p:nvPr/>
          </p:nvSpPr>
          <p:spPr>
            <a:xfrm>
              <a:off x="4152982" y="9677339"/>
              <a:ext cx="203327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295" dirty="0">
                  <a:latin typeface="Verdana"/>
                  <a:cs typeface="Verdana"/>
                </a:rPr>
                <a:t>IT22</a:t>
              </a:r>
              <a:r>
                <a:rPr lang="en-US" sz="2700" spc="-295" dirty="0">
                  <a:latin typeface="Verdana"/>
                  <a:cs typeface="Verdana"/>
                </a:rPr>
                <a:t>139894</a:t>
              </a:r>
              <a:r>
                <a:rPr sz="2700" spc="114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2" name="object 13">
              <a:extLst>
                <a:ext uri="{FF2B5EF4-FFF2-40B4-BE49-F238E27FC236}">
                  <a16:creationId xmlns:a16="http://schemas.microsoft.com/office/drawing/2014/main" id="{E0822063-B9E6-38AB-A676-D36F35D2184B}"/>
                </a:ext>
              </a:extLst>
            </p:cNvPr>
            <p:cNvSpPr txBox="1"/>
            <p:nvPr/>
          </p:nvSpPr>
          <p:spPr>
            <a:xfrm>
              <a:off x="6356084" y="9677339"/>
              <a:ext cx="291846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04" dirty="0">
                  <a:latin typeface="Verdana"/>
                  <a:cs typeface="Verdana"/>
                </a:rPr>
                <a:t>Shamika G.L</a:t>
              </a:r>
              <a:r>
                <a:rPr sz="2700" spc="-10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3" name="object 14">
              <a:extLst>
                <a:ext uri="{FF2B5EF4-FFF2-40B4-BE49-F238E27FC236}">
                  <a16:creationId xmlns:a16="http://schemas.microsoft.com/office/drawing/2014/main" id="{662357F1-7518-6927-8909-08E237F997D2}"/>
                </a:ext>
              </a:extLst>
            </p:cNvPr>
            <p:cNvSpPr txBox="1"/>
            <p:nvPr/>
          </p:nvSpPr>
          <p:spPr>
            <a:xfrm>
              <a:off x="9444566" y="9677339"/>
              <a:ext cx="205867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>
                  <a:latin typeface="Verdana"/>
                  <a:cs typeface="Verdana"/>
                </a:rPr>
                <a:t>R26 –IT- 093</a:t>
              </a:r>
              <a:endParaRPr sz="2700" dirty="0">
                <a:latin typeface="Verdana"/>
                <a:cs typeface="Verdana"/>
              </a:endParaRPr>
            </a:p>
          </p:txBody>
        </p:sp>
      </p:grpSp>
      <p:sp>
        <p:nvSpPr>
          <p:cNvPr id="24" name="object 11">
            <a:extLst>
              <a:ext uri="{FF2B5EF4-FFF2-40B4-BE49-F238E27FC236}">
                <a16:creationId xmlns:a16="http://schemas.microsoft.com/office/drawing/2014/main" id="{F824E27D-3F69-DE26-637F-D65E86117C94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BEA893-2EE2-8FEE-45BB-BE535A473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467490"/>
            <a:ext cx="4135920" cy="8462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73085D-9618-997C-8DC4-7C63B93C2D5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5AB6447-931D-C194-ABF6-D8DF63745D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78087" y="11"/>
            <a:ext cx="3009900" cy="3467100"/>
          </a:xfrm>
          <a:custGeom>
            <a:avLst/>
            <a:gdLst/>
            <a:ahLst/>
            <a:cxnLst/>
            <a:rect l="l" t="t" r="r" b="b"/>
            <a:pathLst>
              <a:path w="3009900" h="3467100">
                <a:moveTo>
                  <a:pt x="3009900" y="19050"/>
                </a:moveTo>
                <a:lnTo>
                  <a:pt x="3008401" y="11645"/>
                </a:lnTo>
                <a:lnTo>
                  <a:pt x="3004312" y="5588"/>
                </a:lnTo>
                <a:lnTo>
                  <a:pt x="2998254" y="1498"/>
                </a:lnTo>
                <a:lnTo>
                  <a:pt x="2990850" y="0"/>
                </a:lnTo>
                <a:lnTo>
                  <a:pt x="19050" y="0"/>
                </a:lnTo>
                <a:lnTo>
                  <a:pt x="11658" y="1498"/>
                </a:lnTo>
                <a:lnTo>
                  <a:pt x="5600" y="5588"/>
                </a:lnTo>
                <a:lnTo>
                  <a:pt x="1511" y="11645"/>
                </a:lnTo>
                <a:lnTo>
                  <a:pt x="0" y="19050"/>
                </a:lnTo>
                <a:lnTo>
                  <a:pt x="0" y="3448050"/>
                </a:lnTo>
                <a:lnTo>
                  <a:pt x="1511" y="3455441"/>
                </a:lnTo>
                <a:lnTo>
                  <a:pt x="5600" y="3461499"/>
                </a:lnTo>
                <a:lnTo>
                  <a:pt x="11658" y="3465588"/>
                </a:lnTo>
                <a:lnTo>
                  <a:pt x="19050" y="3467087"/>
                </a:lnTo>
                <a:lnTo>
                  <a:pt x="2990850" y="3467087"/>
                </a:lnTo>
                <a:lnTo>
                  <a:pt x="2998254" y="3465588"/>
                </a:lnTo>
                <a:lnTo>
                  <a:pt x="3004312" y="3461499"/>
                </a:lnTo>
                <a:lnTo>
                  <a:pt x="3008401" y="3455441"/>
                </a:lnTo>
                <a:lnTo>
                  <a:pt x="3009900" y="3448050"/>
                </a:lnTo>
                <a:lnTo>
                  <a:pt x="3009900" y="3429000"/>
                </a:lnTo>
                <a:lnTo>
                  <a:pt x="3009900" y="38100"/>
                </a:lnTo>
                <a:lnTo>
                  <a:pt x="300990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364569" y="1088231"/>
            <a:ext cx="2837180" cy="1258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3229"/>
              </a:lnSpc>
              <a:spcBef>
                <a:spcPts val="114"/>
              </a:spcBef>
            </a:pPr>
            <a:r>
              <a:rPr sz="2700" spc="-210" dirty="0">
                <a:solidFill>
                  <a:srgbClr val="FFFFFF"/>
                </a:solidFill>
                <a:latin typeface="Verdana"/>
                <a:cs typeface="Verdana"/>
              </a:rPr>
              <a:t>Student</a:t>
            </a:r>
            <a:r>
              <a:rPr sz="2700" spc="-4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00" dirty="0">
                <a:solidFill>
                  <a:srgbClr val="FFFFFF"/>
                </a:solidFill>
                <a:latin typeface="Verdana"/>
                <a:cs typeface="Verdana"/>
              </a:rPr>
              <a:t>Must</a:t>
            </a:r>
            <a:r>
              <a:rPr sz="2700" spc="-4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9" dirty="0">
                <a:solidFill>
                  <a:srgbClr val="FFFFFF"/>
                </a:solidFill>
                <a:latin typeface="Verdana"/>
                <a:cs typeface="Verdana"/>
              </a:rPr>
              <a:t>add</a:t>
            </a:r>
            <a:r>
              <a:rPr sz="2700" spc="-4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45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2700" spc="-165" dirty="0">
                <a:solidFill>
                  <a:srgbClr val="FFFFFF"/>
                </a:solidFill>
                <a:latin typeface="Verdana"/>
                <a:cs typeface="Verdana"/>
              </a:rPr>
              <a:t>professional</a:t>
            </a:r>
            <a:r>
              <a:rPr sz="2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85" dirty="0">
                <a:solidFill>
                  <a:srgbClr val="FFFFFF"/>
                </a:solidFill>
                <a:latin typeface="Verdana"/>
                <a:cs typeface="Verdana"/>
              </a:rPr>
              <a:t>photo </a:t>
            </a:r>
            <a:r>
              <a:rPr sz="2700" spc="-1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700" spc="-4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10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2700" spc="-4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Verdana"/>
                <a:cs typeface="Verdana"/>
              </a:rPr>
              <a:t>cage</a:t>
            </a:r>
            <a:endParaRPr sz="2700" dirty="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06260" y="3376638"/>
            <a:ext cx="10888345" cy="1720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0480" marR="5080" indent="-1288415">
              <a:lnSpc>
                <a:spcPct val="100200"/>
              </a:lnSpc>
              <a:spcBef>
                <a:spcPts val="95"/>
              </a:spcBef>
            </a:pPr>
            <a:r>
              <a:rPr sz="5550" spc="425" dirty="0">
                <a:solidFill>
                  <a:srgbClr val="20480D"/>
                </a:solidFill>
              </a:rPr>
              <a:t>Automated</a:t>
            </a:r>
            <a:r>
              <a:rPr sz="5550" spc="-140" dirty="0">
                <a:solidFill>
                  <a:srgbClr val="20480D"/>
                </a:solidFill>
              </a:rPr>
              <a:t> </a:t>
            </a:r>
            <a:r>
              <a:rPr sz="5550" spc="305" dirty="0">
                <a:solidFill>
                  <a:srgbClr val="20480D"/>
                </a:solidFill>
              </a:rPr>
              <a:t>Feeding</a:t>
            </a:r>
            <a:r>
              <a:rPr sz="5550" spc="-135" dirty="0">
                <a:solidFill>
                  <a:srgbClr val="20480D"/>
                </a:solidFill>
              </a:rPr>
              <a:t> </a:t>
            </a:r>
            <a:r>
              <a:rPr sz="5550" spc="420" dirty="0">
                <a:solidFill>
                  <a:srgbClr val="20480D"/>
                </a:solidFill>
              </a:rPr>
              <a:t>System</a:t>
            </a:r>
            <a:r>
              <a:rPr sz="5550" spc="-135" dirty="0">
                <a:solidFill>
                  <a:srgbClr val="20480D"/>
                </a:solidFill>
              </a:rPr>
              <a:t> </a:t>
            </a:r>
            <a:r>
              <a:rPr sz="5550" spc="650" dirty="0">
                <a:solidFill>
                  <a:srgbClr val="20480D"/>
                </a:solidFill>
              </a:rPr>
              <a:t>&amp; </a:t>
            </a:r>
            <a:r>
              <a:rPr sz="5550" spc="415" dirty="0">
                <a:solidFill>
                  <a:srgbClr val="20480D"/>
                </a:solidFill>
              </a:rPr>
              <a:t>N</a:t>
            </a:r>
            <a:r>
              <a:rPr lang="en-GB" sz="5550" spc="415">
                <a:solidFill>
                  <a:srgbClr val="20480D"/>
                </a:solidFill>
              </a:rPr>
              <a:t>utrition</a:t>
            </a:r>
            <a:r>
              <a:rPr sz="5550" spc="-135">
                <a:solidFill>
                  <a:srgbClr val="20480D"/>
                </a:solidFill>
              </a:rPr>
              <a:t> </a:t>
            </a:r>
            <a:r>
              <a:rPr sz="5550" spc="330" dirty="0">
                <a:solidFill>
                  <a:srgbClr val="20480D"/>
                </a:solidFill>
              </a:rPr>
              <a:t>Recomender</a:t>
            </a:r>
            <a:endParaRPr sz="555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7120" y="2376478"/>
            <a:ext cx="6604943" cy="791052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56453" y="7563109"/>
            <a:ext cx="12791440" cy="1209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290" dirty="0">
                <a:latin typeface="Verdana"/>
                <a:cs typeface="Verdana"/>
              </a:rPr>
              <a:t>IT2</a:t>
            </a:r>
            <a:r>
              <a:rPr lang="en-US" sz="3300" spc="-290" dirty="0">
                <a:latin typeface="Verdana"/>
                <a:cs typeface="Verdana"/>
              </a:rPr>
              <a:t>2136138</a:t>
            </a:r>
            <a:r>
              <a:rPr sz="3300" spc="110" dirty="0">
                <a:latin typeface="Verdana"/>
                <a:cs typeface="Verdana"/>
              </a:rPr>
              <a:t> </a:t>
            </a:r>
            <a:r>
              <a:rPr sz="3300" spc="-135" dirty="0">
                <a:latin typeface="Verdana"/>
                <a:cs typeface="Verdana"/>
              </a:rPr>
              <a:t>|</a:t>
            </a:r>
            <a:r>
              <a:rPr sz="3300" spc="-525" dirty="0">
                <a:latin typeface="Verdana"/>
                <a:cs typeface="Verdana"/>
              </a:rPr>
              <a:t> </a:t>
            </a:r>
            <a:r>
              <a:rPr lang="en-US" sz="3300" spc="-305" dirty="0" err="1">
                <a:latin typeface="Verdana"/>
                <a:cs typeface="Verdana"/>
              </a:rPr>
              <a:t>Jayawardhana</a:t>
            </a:r>
            <a:r>
              <a:rPr lang="en-US" sz="3300" spc="-305" dirty="0">
                <a:latin typeface="Verdana"/>
                <a:cs typeface="Verdana"/>
              </a:rPr>
              <a:t> H.A.S. </a:t>
            </a:r>
            <a:r>
              <a:rPr sz="3300" spc="-409" dirty="0">
                <a:latin typeface="Verdana"/>
                <a:cs typeface="Verdana"/>
              </a:rPr>
              <a:t>|</a:t>
            </a:r>
            <a:r>
              <a:rPr sz="3300" spc="110" dirty="0">
                <a:latin typeface="Verdana"/>
                <a:cs typeface="Verdana"/>
              </a:rPr>
              <a:t> </a:t>
            </a:r>
            <a:r>
              <a:rPr lang="en-US" sz="3300" spc="-290" dirty="0">
                <a:latin typeface="Verdana"/>
                <a:cs typeface="Verdana"/>
              </a:rPr>
              <a:t>R26 – IT - 093</a:t>
            </a:r>
            <a:endParaRPr sz="33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sz="2700" spc="-345" dirty="0">
                <a:solidFill>
                  <a:srgbClr val="4D4D4D"/>
                </a:solidFill>
                <a:latin typeface="Verdana"/>
                <a:cs typeface="Verdana"/>
              </a:rPr>
              <a:t>BSc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20" dirty="0">
                <a:solidFill>
                  <a:srgbClr val="4D4D4D"/>
                </a:solidFill>
                <a:latin typeface="Verdana"/>
                <a:cs typeface="Verdana"/>
              </a:rPr>
              <a:t>(Hons)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40" dirty="0">
                <a:solidFill>
                  <a:srgbClr val="4D4D4D"/>
                </a:solidFill>
                <a:latin typeface="Verdana"/>
                <a:cs typeface="Verdana"/>
              </a:rPr>
              <a:t>Degree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05" dirty="0">
                <a:solidFill>
                  <a:srgbClr val="4D4D4D"/>
                </a:solidFill>
                <a:latin typeface="Verdana"/>
                <a:cs typeface="Verdana"/>
              </a:rPr>
              <a:t>in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85" dirty="0">
                <a:solidFill>
                  <a:srgbClr val="4D4D4D"/>
                </a:solidFill>
                <a:latin typeface="Verdana"/>
                <a:cs typeface="Verdana"/>
              </a:rPr>
              <a:t>Information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15" dirty="0">
                <a:solidFill>
                  <a:srgbClr val="4D4D4D"/>
                </a:solidFill>
                <a:latin typeface="Verdana"/>
                <a:cs typeface="Verdana"/>
              </a:rPr>
              <a:t>Technology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4D4D4D"/>
                </a:solidFill>
                <a:latin typeface="Verdana"/>
                <a:cs typeface="Verdana"/>
              </a:rPr>
              <a:t>specialization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05" dirty="0">
                <a:solidFill>
                  <a:srgbClr val="4D4D4D"/>
                </a:solidFill>
                <a:latin typeface="Verdana"/>
                <a:cs typeface="Verdana"/>
              </a:rPr>
              <a:t>in</a:t>
            </a:r>
            <a:r>
              <a:rPr sz="2700" spc="-165" dirty="0">
                <a:solidFill>
                  <a:srgbClr val="4D4D4D"/>
                </a:solidFill>
                <a:latin typeface="Verdana"/>
                <a:cs typeface="Verdana"/>
              </a:rPr>
              <a:t>formation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4D4D4D"/>
                </a:solidFill>
                <a:latin typeface="Verdana"/>
                <a:cs typeface="Verdana"/>
              </a:rPr>
              <a:t>Technology</a:t>
            </a:r>
            <a:endParaRPr sz="27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57360" y="9677339"/>
            <a:ext cx="167640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5" dirty="0">
                <a:latin typeface="Verdana"/>
                <a:cs typeface="Verdana"/>
              </a:rPr>
              <a:t>|</a:t>
            </a:r>
            <a:endParaRPr sz="2700" dirty="0">
              <a:latin typeface="Verdana"/>
              <a:cs typeface="Verdana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9DCDDBE-48B6-D0E5-8D95-57C61F9FC759}"/>
              </a:ext>
            </a:extLst>
          </p:cNvPr>
          <p:cNvGrpSpPr/>
          <p:nvPr/>
        </p:nvGrpSpPr>
        <p:grpSpPr>
          <a:xfrm>
            <a:off x="4012155" y="9677339"/>
            <a:ext cx="7722645" cy="428322"/>
            <a:chOff x="3935955" y="9677339"/>
            <a:chExt cx="7722645" cy="428322"/>
          </a:xfrm>
        </p:grpSpPr>
        <p:sp>
          <p:nvSpPr>
            <p:cNvPr id="12" name="object 12"/>
            <p:cNvSpPr txBox="1"/>
            <p:nvPr/>
          </p:nvSpPr>
          <p:spPr>
            <a:xfrm>
              <a:off x="3935955" y="9677339"/>
              <a:ext cx="2110105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225" dirty="0">
                  <a:latin typeface="Verdana"/>
                  <a:cs typeface="Verdana"/>
                </a:rPr>
                <a:t>IT22</a:t>
              </a:r>
              <a:r>
                <a:rPr lang="en-US" sz="2700" spc="-225" dirty="0">
                  <a:latin typeface="Verdana"/>
                  <a:cs typeface="Verdana"/>
                </a:rPr>
                <a:t>136138</a:t>
              </a:r>
              <a:r>
                <a:rPr sz="2700" spc="35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6216150" y="9677339"/>
              <a:ext cx="3186809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54" dirty="0">
                  <a:latin typeface="Verdana"/>
                  <a:cs typeface="Verdana"/>
                </a:rPr>
                <a:t>Jayawardhana H.A.S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9599930" y="9677339"/>
              <a:ext cx="205867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>
                  <a:latin typeface="Verdana"/>
                  <a:cs typeface="Verdana"/>
                </a:rPr>
                <a:t>R26 –IT- 093</a:t>
              </a:r>
              <a:endParaRPr sz="2700" dirty="0">
                <a:latin typeface="Verdana"/>
                <a:cs typeface="Verdana"/>
              </a:endParaRPr>
            </a:p>
          </p:txBody>
        </p:sp>
      </p:grpSp>
      <p:sp>
        <p:nvSpPr>
          <p:cNvPr id="17" name="object 11">
            <a:extLst>
              <a:ext uri="{FF2B5EF4-FFF2-40B4-BE49-F238E27FC236}">
                <a16:creationId xmlns:a16="http://schemas.microsoft.com/office/drawing/2014/main" id="{1A02A0DA-8219-8407-F2C7-15FD899A41DC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936B85-C684-8BE1-2EE5-6A3540C0E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86740"/>
            <a:ext cx="3553129" cy="7270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2D71F0-E5E9-6A03-FD67-40DE3FAF2D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F76962B-5207-9A0E-2CFE-C203945C33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E896A1-2266-BA3C-76F4-995A8B67928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8087" y="49699"/>
            <a:ext cx="3009913" cy="4156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59956"/>
            <a:ext cx="3771900" cy="727075"/>
            <a:chOff x="0" y="9559956"/>
            <a:chExt cx="3771900" cy="727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692421"/>
              <a:ext cx="3771899" cy="594578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3430" y="6941396"/>
            <a:ext cx="237735" cy="2375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3430" y="6312520"/>
            <a:ext cx="237735" cy="2375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0159" y="3112050"/>
            <a:ext cx="237735" cy="2375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0159" y="3778219"/>
            <a:ext cx="237735" cy="23750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6439" y="4446522"/>
            <a:ext cx="237735" cy="23750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75275" y="2985557"/>
            <a:ext cx="5996940" cy="42232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lang="en-US" sz="2700" spc="-145" dirty="0">
                <a:latin typeface="Verdana"/>
                <a:cs typeface="Verdana"/>
              </a:rPr>
              <a:t>Maintain Cattle profile</a:t>
            </a:r>
            <a:endParaRPr sz="2700" dirty="0">
              <a:latin typeface="Verdana"/>
              <a:cs typeface="Verdana"/>
            </a:endParaRPr>
          </a:p>
          <a:p>
            <a:pPr marL="526415" marR="5080" indent="-42545">
              <a:lnSpc>
                <a:spcPts val="5250"/>
              </a:lnSpc>
              <a:spcBef>
                <a:spcPts val="505"/>
              </a:spcBef>
            </a:pPr>
            <a:r>
              <a:rPr sz="2700" spc="-225" dirty="0">
                <a:latin typeface="Verdana"/>
                <a:cs typeface="Verdana"/>
              </a:rPr>
              <a:t>Receive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65" dirty="0">
                <a:latin typeface="Verdana"/>
                <a:cs typeface="Verdana"/>
              </a:rPr>
              <a:t>daily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55" dirty="0">
                <a:latin typeface="Verdana"/>
                <a:cs typeface="Verdana"/>
              </a:rPr>
              <a:t>feeding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50" dirty="0">
                <a:latin typeface="Verdana"/>
                <a:cs typeface="Verdana"/>
              </a:rPr>
              <a:t>quantities</a:t>
            </a:r>
            <a:r>
              <a:rPr sz="2700" spc="-375" dirty="0">
                <a:latin typeface="Verdana"/>
                <a:cs typeface="Verdana"/>
              </a:rPr>
              <a:t> </a:t>
            </a:r>
            <a:r>
              <a:rPr sz="2700" spc="-300" dirty="0">
                <a:latin typeface="Verdana"/>
                <a:cs typeface="Verdana"/>
              </a:rPr>
              <a:t>(kg): </a:t>
            </a:r>
            <a:r>
              <a:rPr sz="2700" spc="-225" dirty="0">
                <a:latin typeface="Verdana"/>
                <a:cs typeface="Verdana"/>
              </a:rPr>
              <a:t>Receive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14" dirty="0">
                <a:latin typeface="Verdana"/>
                <a:cs typeface="Verdana"/>
              </a:rPr>
              <a:t>nutrition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200" dirty="0">
                <a:latin typeface="Verdana"/>
                <a:cs typeface="Verdana"/>
              </a:rPr>
              <a:t>recommendations:</a:t>
            </a:r>
            <a:endParaRPr sz="27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7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300" spc="-220" dirty="0">
                <a:solidFill>
                  <a:srgbClr val="006117"/>
                </a:solidFill>
                <a:latin typeface="Verdana"/>
                <a:cs typeface="Verdana"/>
              </a:rPr>
              <a:t>Modules</a:t>
            </a:r>
            <a:r>
              <a:rPr sz="3300" spc="-49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300" spc="-145" dirty="0">
                <a:solidFill>
                  <a:srgbClr val="006117"/>
                </a:solidFill>
                <a:latin typeface="Verdana"/>
                <a:cs typeface="Verdana"/>
              </a:rPr>
              <a:t>Implemented</a:t>
            </a:r>
            <a:endParaRPr sz="3300" dirty="0">
              <a:latin typeface="Verdana"/>
              <a:cs typeface="Verdana"/>
            </a:endParaRPr>
          </a:p>
          <a:p>
            <a:pPr marL="484505" marR="775335">
              <a:lnSpc>
                <a:spcPct val="153900"/>
              </a:lnSpc>
              <a:spcBef>
                <a:spcPts val="1750"/>
              </a:spcBef>
            </a:pPr>
            <a:r>
              <a:rPr sz="2700" spc="-180" dirty="0">
                <a:latin typeface="Verdana"/>
                <a:cs typeface="Verdana"/>
              </a:rPr>
              <a:t>Cattle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95" dirty="0">
                <a:latin typeface="Verdana"/>
                <a:cs typeface="Verdana"/>
              </a:rPr>
              <a:t>Feeding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135" dirty="0">
                <a:latin typeface="Verdana"/>
                <a:cs typeface="Verdana"/>
              </a:rPr>
              <a:t>Prediction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130" dirty="0">
                <a:latin typeface="Verdana"/>
                <a:cs typeface="Verdana"/>
              </a:rPr>
              <a:t>Model </a:t>
            </a:r>
            <a:r>
              <a:rPr sz="2700" spc="-155" dirty="0">
                <a:latin typeface="Verdana"/>
                <a:cs typeface="Verdana"/>
              </a:rPr>
              <a:t>Nutration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229" dirty="0">
                <a:latin typeface="Verdana"/>
                <a:cs typeface="Verdana"/>
              </a:rPr>
              <a:t>Recomender</a:t>
            </a:r>
            <a:r>
              <a:rPr sz="2700" spc="-37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Model</a:t>
            </a:r>
            <a:endParaRPr sz="2700" dirty="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3403" y="2034283"/>
            <a:ext cx="8696324" cy="5791199"/>
          </a:xfrm>
          <a:prstGeom prst="rect">
            <a:avLst/>
          </a:prstGeom>
        </p:spPr>
      </p:pic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061979" y="1869325"/>
            <a:ext cx="40506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spc="-275" dirty="0">
                <a:latin typeface="Verdana"/>
                <a:cs typeface="Verdana"/>
              </a:rPr>
              <a:t>Proposed</a:t>
            </a:r>
            <a:r>
              <a:rPr sz="4000" b="0" spc="-635" dirty="0">
                <a:latin typeface="Verdana"/>
                <a:cs typeface="Verdana"/>
              </a:rPr>
              <a:t> </a:t>
            </a:r>
            <a:r>
              <a:rPr sz="4000" b="0" spc="-265" dirty="0">
                <a:latin typeface="Verdana"/>
                <a:cs typeface="Verdana"/>
              </a:rPr>
              <a:t>Solution</a:t>
            </a:r>
            <a:endParaRPr sz="4000">
              <a:latin typeface="Verdana"/>
              <a:cs typeface="Verdana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98AFFA9-2C38-8FCC-4972-CBE8EB8223AE}"/>
              </a:ext>
            </a:extLst>
          </p:cNvPr>
          <p:cNvGrpSpPr/>
          <p:nvPr/>
        </p:nvGrpSpPr>
        <p:grpSpPr>
          <a:xfrm>
            <a:off x="3935955" y="9677339"/>
            <a:ext cx="7722645" cy="428322"/>
            <a:chOff x="3935955" y="9677339"/>
            <a:chExt cx="7722645" cy="428322"/>
          </a:xfrm>
        </p:grpSpPr>
        <p:sp>
          <p:nvSpPr>
            <p:cNvPr id="21" name="object 12">
              <a:extLst>
                <a:ext uri="{FF2B5EF4-FFF2-40B4-BE49-F238E27FC236}">
                  <a16:creationId xmlns:a16="http://schemas.microsoft.com/office/drawing/2014/main" id="{4B092C6B-8937-0F2D-1C1F-4C7F6C7BF119}"/>
                </a:ext>
              </a:extLst>
            </p:cNvPr>
            <p:cNvSpPr txBox="1"/>
            <p:nvPr/>
          </p:nvSpPr>
          <p:spPr>
            <a:xfrm>
              <a:off x="3935955" y="9677339"/>
              <a:ext cx="2110105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225" dirty="0">
                  <a:latin typeface="Verdana"/>
                  <a:cs typeface="Verdana"/>
                </a:rPr>
                <a:t>IT22</a:t>
              </a:r>
              <a:r>
                <a:rPr lang="en-US" sz="2700" spc="-225" dirty="0">
                  <a:latin typeface="Verdana"/>
                  <a:cs typeface="Verdana"/>
                </a:rPr>
                <a:t>136138</a:t>
              </a:r>
              <a:r>
                <a:rPr sz="2700" spc="35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2" name="object 13">
              <a:extLst>
                <a:ext uri="{FF2B5EF4-FFF2-40B4-BE49-F238E27FC236}">
                  <a16:creationId xmlns:a16="http://schemas.microsoft.com/office/drawing/2014/main" id="{950D99F5-BC20-21AB-4DCF-C510018374B5}"/>
                </a:ext>
              </a:extLst>
            </p:cNvPr>
            <p:cNvSpPr txBox="1"/>
            <p:nvPr/>
          </p:nvSpPr>
          <p:spPr>
            <a:xfrm>
              <a:off x="6216150" y="9677339"/>
              <a:ext cx="3186809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54" dirty="0">
                  <a:latin typeface="Verdana"/>
                  <a:cs typeface="Verdana"/>
                </a:rPr>
                <a:t>Jayawardhana H.A.S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D322F655-9E9A-861D-B5B0-B165E2A22E4E}"/>
                </a:ext>
              </a:extLst>
            </p:cNvPr>
            <p:cNvSpPr txBox="1"/>
            <p:nvPr/>
          </p:nvSpPr>
          <p:spPr>
            <a:xfrm>
              <a:off x="9599930" y="9677339"/>
              <a:ext cx="205867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>
                  <a:latin typeface="Verdana"/>
                  <a:cs typeface="Verdana"/>
                </a:rPr>
                <a:t>R26 –IT- 093</a:t>
              </a:r>
              <a:endParaRPr sz="2700" dirty="0">
                <a:latin typeface="Verdana"/>
                <a:cs typeface="Verdana"/>
              </a:endParaRPr>
            </a:p>
          </p:txBody>
        </p:sp>
      </p:grpSp>
      <p:sp>
        <p:nvSpPr>
          <p:cNvPr id="24" name="object 11">
            <a:extLst>
              <a:ext uri="{FF2B5EF4-FFF2-40B4-BE49-F238E27FC236}">
                <a16:creationId xmlns:a16="http://schemas.microsoft.com/office/drawing/2014/main" id="{D63CCF3B-4863-AC39-04ED-E5759FEE3B30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F477AE7-5963-D34F-D3A7-15E1AB88E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9586740"/>
            <a:ext cx="3553129" cy="7270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A81625-C4A9-508A-2B2A-BC909F6BE66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10C7767-4FC3-855F-6896-F8A347F23D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picture containing photo, table, person, monitor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3579" y="3199998"/>
            <a:ext cx="237735" cy="2375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3579" y="4325395"/>
            <a:ext cx="237735" cy="2375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3579" y="5551427"/>
            <a:ext cx="237735" cy="23750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929911" y="266700"/>
            <a:ext cx="14143355" cy="2012950"/>
          </a:xfrm>
          <a:prstGeom prst="rect">
            <a:avLst/>
          </a:prstGeom>
        </p:spPr>
        <p:txBody>
          <a:bodyPr vert="horz" wrap="square" lIns="0" tIns="621499" rIns="0" bIns="0" rtlCol="0">
            <a:spAutoFit/>
          </a:bodyPr>
          <a:lstStyle/>
          <a:p>
            <a:pPr marL="754380">
              <a:lnSpc>
                <a:spcPct val="100000"/>
              </a:lnSpc>
              <a:spcBef>
                <a:spcPts val="125"/>
              </a:spcBef>
            </a:pPr>
            <a:r>
              <a:rPr spc="335" dirty="0"/>
              <a:t>DESIGN</a:t>
            </a:r>
            <a:r>
              <a:rPr spc="-509" dirty="0"/>
              <a:t> </a:t>
            </a:r>
            <a:r>
              <a:rPr spc="225" dirty="0"/>
              <a:t>CONTRIBUTION</a:t>
            </a:r>
            <a:r>
              <a:rPr spc="-505" dirty="0"/>
              <a:t> </a:t>
            </a:r>
            <a:r>
              <a:rPr spc="290" dirty="0"/>
              <a:t>AND</a:t>
            </a:r>
            <a:r>
              <a:rPr spc="-505" dirty="0"/>
              <a:t> </a:t>
            </a:r>
            <a:r>
              <a:rPr spc="400" dirty="0"/>
              <a:t>USER</a:t>
            </a:r>
            <a:r>
              <a:rPr spc="-505" dirty="0"/>
              <a:t> </a:t>
            </a:r>
            <a:r>
              <a:rPr spc="330" dirty="0"/>
              <a:t>FEEDBACK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4053691" y="7760446"/>
            <a:ext cx="7310755" cy="1539875"/>
            <a:chOff x="4053691" y="7760446"/>
            <a:chExt cx="7310755" cy="1539875"/>
          </a:xfrm>
        </p:grpSpPr>
        <p:sp>
          <p:nvSpPr>
            <p:cNvPr id="10" name="object 10"/>
            <p:cNvSpPr/>
            <p:nvPr/>
          </p:nvSpPr>
          <p:spPr>
            <a:xfrm>
              <a:off x="4053691" y="8895371"/>
              <a:ext cx="7310755" cy="405130"/>
            </a:xfrm>
            <a:custGeom>
              <a:avLst/>
              <a:gdLst/>
              <a:ahLst/>
              <a:cxnLst/>
              <a:rect l="l" t="t" r="r" b="b"/>
              <a:pathLst>
                <a:path w="7310755" h="405129">
                  <a:moveTo>
                    <a:pt x="3575923" y="404831"/>
                  </a:moveTo>
                  <a:lnTo>
                    <a:pt x="3527143" y="404796"/>
                  </a:lnTo>
                  <a:lnTo>
                    <a:pt x="3478895" y="404149"/>
                  </a:lnTo>
                  <a:lnTo>
                    <a:pt x="3431123" y="402925"/>
                  </a:lnTo>
                  <a:lnTo>
                    <a:pt x="3383775" y="401160"/>
                  </a:lnTo>
                  <a:lnTo>
                    <a:pt x="3336794" y="398888"/>
                  </a:lnTo>
                  <a:lnTo>
                    <a:pt x="3290126" y="396145"/>
                  </a:lnTo>
                  <a:lnTo>
                    <a:pt x="3243718" y="392966"/>
                  </a:lnTo>
                  <a:lnTo>
                    <a:pt x="3197514" y="389385"/>
                  </a:lnTo>
                  <a:lnTo>
                    <a:pt x="3151460" y="385438"/>
                  </a:lnTo>
                  <a:lnTo>
                    <a:pt x="3105501" y="381161"/>
                  </a:lnTo>
                  <a:lnTo>
                    <a:pt x="3013652" y="371752"/>
                  </a:lnTo>
                  <a:lnTo>
                    <a:pt x="2921531" y="361441"/>
                  </a:lnTo>
                  <a:lnTo>
                    <a:pt x="2590666" y="322291"/>
                  </a:lnTo>
                  <a:lnTo>
                    <a:pt x="2491923" y="311389"/>
                  </a:lnTo>
                  <a:lnTo>
                    <a:pt x="2390510" y="301128"/>
                  </a:lnTo>
                  <a:lnTo>
                    <a:pt x="2338665" y="296326"/>
                  </a:lnTo>
                  <a:lnTo>
                    <a:pt x="2285990" y="291789"/>
                  </a:lnTo>
                  <a:lnTo>
                    <a:pt x="2232428" y="287552"/>
                  </a:lnTo>
                  <a:lnTo>
                    <a:pt x="2177927" y="283651"/>
                  </a:lnTo>
                  <a:lnTo>
                    <a:pt x="2122430" y="280121"/>
                  </a:lnTo>
                  <a:lnTo>
                    <a:pt x="2065885" y="276997"/>
                  </a:lnTo>
                  <a:lnTo>
                    <a:pt x="2008236" y="274314"/>
                  </a:lnTo>
                  <a:lnTo>
                    <a:pt x="1949428" y="272106"/>
                  </a:lnTo>
                  <a:lnTo>
                    <a:pt x="1889408" y="270410"/>
                  </a:lnTo>
                  <a:lnTo>
                    <a:pt x="1828121" y="269260"/>
                  </a:lnTo>
                  <a:lnTo>
                    <a:pt x="1765512" y="268691"/>
                  </a:lnTo>
                  <a:lnTo>
                    <a:pt x="1705895" y="268942"/>
                  </a:lnTo>
                  <a:lnTo>
                    <a:pt x="1647572" y="270140"/>
                  </a:lnTo>
                  <a:lnTo>
                    <a:pt x="1590510" y="272190"/>
                  </a:lnTo>
                  <a:lnTo>
                    <a:pt x="1534677" y="274995"/>
                  </a:lnTo>
                  <a:lnTo>
                    <a:pt x="1480039" y="278462"/>
                  </a:lnTo>
                  <a:lnTo>
                    <a:pt x="1426564" y="282494"/>
                  </a:lnTo>
                  <a:lnTo>
                    <a:pt x="1374219" y="286996"/>
                  </a:lnTo>
                  <a:lnTo>
                    <a:pt x="1322972" y="291873"/>
                  </a:lnTo>
                  <a:lnTo>
                    <a:pt x="1223639" y="302369"/>
                  </a:lnTo>
                  <a:lnTo>
                    <a:pt x="1036704" y="323665"/>
                  </a:lnTo>
                  <a:lnTo>
                    <a:pt x="992224" y="328496"/>
                  </a:lnTo>
                  <a:lnTo>
                    <a:pt x="948579" y="332939"/>
                  </a:lnTo>
                  <a:lnTo>
                    <a:pt x="905737" y="336899"/>
                  </a:lnTo>
                  <a:lnTo>
                    <a:pt x="863665" y="340280"/>
                  </a:lnTo>
                  <a:lnTo>
                    <a:pt x="822332" y="342988"/>
                  </a:lnTo>
                  <a:lnTo>
                    <a:pt x="781703" y="344926"/>
                  </a:lnTo>
                  <a:lnTo>
                    <a:pt x="741746" y="346000"/>
                  </a:lnTo>
                  <a:lnTo>
                    <a:pt x="702429" y="346113"/>
                  </a:lnTo>
                  <a:lnTo>
                    <a:pt x="663718" y="345172"/>
                  </a:lnTo>
                  <a:lnTo>
                    <a:pt x="625582" y="343080"/>
                  </a:lnTo>
                  <a:lnTo>
                    <a:pt x="550901" y="335063"/>
                  </a:lnTo>
                  <a:lnTo>
                    <a:pt x="478123" y="321300"/>
                  </a:lnTo>
                  <a:lnTo>
                    <a:pt x="406987" y="301028"/>
                  </a:lnTo>
                  <a:lnTo>
                    <a:pt x="337232" y="273484"/>
                  </a:lnTo>
                  <a:lnTo>
                    <a:pt x="302790" y="256747"/>
                  </a:lnTo>
                  <a:lnTo>
                    <a:pt x="268595" y="237906"/>
                  </a:lnTo>
                  <a:lnTo>
                    <a:pt x="234614" y="216866"/>
                  </a:lnTo>
                  <a:lnTo>
                    <a:pt x="200815" y="193531"/>
                  </a:lnTo>
                  <a:lnTo>
                    <a:pt x="167165" y="167807"/>
                  </a:lnTo>
                  <a:lnTo>
                    <a:pt x="133630" y="139597"/>
                  </a:lnTo>
                  <a:lnTo>
                    <a:pt x="100179" y="108807"/>
                  </a:lnTo>
                  <a:lnTo>
                    <a:pt x="66779" y="75341"/>
                  </a:lnTo>
                  <a:lnTo>
                    <a:pt x="33397" y="39103"/>
                  </a:lnTo>
                  <a:lnTo>
                    <a:pt x="0" y="0"/>
                  </a:lnTo>
                  <a:lnTo>
                    <a:pt x="7310514" y="104683"/>
                  </a:lnTo>
                  <a:lnTo>
                    <a:pt x="7240582" y="126871"/>
                  </a:lnTo>
                  <a:lnTo>
                    <a:pt x="7012892" y="177518"/>
                  </a:lnTo>
                  <a:lnTo>
                    <a:pt x="6600606" y="232750"/>
                  </a:lnTo>
                  <a:lnTo>
                    <a:pt x="5976887" y="268691"/>
                  </a:lnTo>
                  <a:lnTo>
                    <a:pt x="5842441" y="272347"/>
                  </a:lnTo>
                  <a:lnTo>
                    <a:pt x="5713597" y="276467"/>
                  </a:lnTo>
                  <a:lnTo>
                    <a:pt x="5530006" y="283440"/>
                  </a:lnTo>
                  <a:lnTo>
                    <a:pt x="5356885" y="291255"/>
                  </a:lnTo>
                  <a:lnTo>
                    <a:pt x="5192956" y="299793"/>
                  </a:lnTo>
                  <a:lnTo>
                    <a:pt x="5036936" y="308930"/>
                  </a:lnTo>
                  <a:lnTo>
                    <a:pt x="4839002" y="321837"/>
                  </a:lnTo>
                  <a:lnTo>
                    <a:pt x="4058728" y="379504"/>
                  </a:lnTo>
                  <a:lnTo>
                    <a:pt x="3872877" y="392161"/>
                  </a:lnTo>
                  <a:lnTo>
                    <a:pt x="3777448" y="398153"/>
                  </a:lnTo>
                  <a:lnTo>
                    <a:pt x="3725997" y="400916"/>
                  </a:lnTo>
                  <a:lnTo>
                    <a:pt x="3675295" y="402926"/>
                  </a:lnTo>
                  <a:lnTo>
                    <a:pt x="3625289" y="404220"/>
                  </a:lnTo>
                  <a:lnTo>
                    <a:pt x="3575923" y="404831"/>
                  </a:lnTo>
                  <a:close/>
                </a:path>
              </a:pathLst>
            </a:custGeom>
            <a:solidFill>
              <a:srgbClr val="B4BD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6119" y="8617880"/>
              <a:ext cx="6771005" cy="464820"/>
            </a:xfrm>
            <a:custGeom>
              <a:avLst/>
              <a:gdLst/>
              <a:ahLst/>
              <a:cxnLst/>
              <a:rect l="l" t="t" r="r" b="b"/>
              <a:pathLst>
                <a:path w="6771005" h="464820">
                  <a:moveTo>
                    <a:pt x="2949138" y="7620"/>
                  </a:moveTo>
                  <a:lnTo>
                    <a:pt x="1671116" y="7620"/>
                  </a:lnTo>
                  <a:lnTo>
                    <a:pt x="2064332" y="3810"/>
                  </a:lnTo>
                  <a:lnTo>
                    <a:pt x="2477198" y="0"/>
                  </a:lnTo>
                  <a:lnTo>
                    <a:pt x="2506676" y="0"/>
                  </a:lnTo>
                  <a:lnTo>
                    <a:pt x="2506676" y="2540"/>
                  </a:lnTo>
                  <a:lnTo>
                    <a:pt x="2949138" y="7620"/>
                  </a:lnTo>
                  <a:close/>
                </a:path>
                <a:path w="6771005" h="464820">
                  <a:moveTo>
                    <a:pt x="29478" y="341630"/>
                  </a:moveTo>
                  <a:lnTo>
                    <a:pt x="0" y="341630"/>
                  </a:lnTo>
                  <a:lnTo>
                    <a:pt x="0" y="25400"/>
                  </a:lnTo>
                  <a:lnTo>
                    <a:pt x="412866" y="21590"/>
                  </a:lnTo>
                  <a:lnTo>
                    <a:pt x="417806" y="21590"/>
                  </a:lnTo>
                  <a:lnTo>
                    <a:pt x="825732" y="16510"/>
                  </a:lnTo>
                  <a:lnTo>
                    <a:pt x="1651466" y="8890"/>
                  </a:lnTo>
                  <a:lnTo>
                    <a:pt x="1651466" y="7620"/>
                  </a:lnTo>
                  <a:lnTo>
                    <a:pt x="2949138" y="7620"/>
                  </a:lnTo>
                  <a:lnTo>
                    <a:pt x="2949138" y="5080"/>
                  </a:lnTo>
                  <a:lnTo>
                    <a:pt x="2980483" y="5080"/>
                  </a:lnTo>
                  <a:lnTo>
                    <a:pt x="2980483" y="8890"/>
                  </a:lnTo>
                  <a:lnTo>
                    <a:pt x="3421078" y="13970"/>
                  </a:lnTo>
                  <a:lnTo>
                    <a:pt x="3454291" y="13970"/>
                  </a:lnTo>
                  <a:lnTo>
                    <a:pt x="3893017" y="19050"/>
                  </a:lnTo>
                  <a:lnTo>
                    <a:pt x="3928098" y="19050"/>
                  </a:lnTo>
                  <a:lnTo>
                    <a:pt x="4364957" y="24130"/>
                  </a:lnTo>
                  <a:lnTo>
                    <a:pt x="4401903" y="24130"/>
                  </a:lnTo>
                  <a:lnTo>
                    <a:pt x="4401903" y="25400"/>
                  </a:lnTo>
                  <a:lnTo>
                    <a:pt x="2477198" y="25400"/>
                  </a:lnTo>
                  <a:lnTo>
                    <a:pt x="2093810" y="31750"/>
                  </a:lnTo>
                  <a:lnTo>
                    <a:pt x="2064332" y="31750"/>
                  </a:lnTo>
                  <a:lnTo>
                    <a:pt x="1680942" y="38100"/>
                  </a:lnTo>
                  <a:lnTo>
                    <a:pt x="1651466" y="38100"/>
                  </a:lnTo>
                  <a:lnTo>
                    <a:pt x="1268076" y="44450"/>
                  </a:lnTo>
                  <a:lnTo>
                    <a:pt x="1238598" y="44450"/>
                  </a:lnTo>
                  <a:lnTo>
                    <a:pt x="855210" y="50800"/>
                  </a:lnTo>
                  <a:lnTo>
                    <a:pt x="825732" y="50800"/>
                  </a:lnTo>
                  <a:lnTo>
                    <a:pt x="442344" y="57150"/>
                  </a:lnTo>
                  <a:lnTo>
                    <a:pt x="412866" y="57150"/>
                  </a:lnTo>
                  <a:lnTo>
                    <a:pt x="29478" y="62230"/>
                  </a:lnTo>
                  <a:lnTo>
                    <a:pt x="29478" y="139700"/>
                  </a:lnTo>
                  <a:lnTo>
                    <a:pt x="2381351" y="139700"/>
                  </a:lnTo>
                  <a:lnTo>
                    <a:pt x="2093810" y="143510"/>
                  </a:lnTo>
                  <a:lnTo>
                    <a:pt x="2064332" y="143510"/>
                  </a:lnTo>
                  <a:lnTo>
                    <a:pt x="1680942" y="148590"/>
                  </a:lnTo>
                  <a:lnTo>
                    <a:pt x="1651466" y="148590"/>
                  </a:lnTo>
                  <a:lnTo>
                    <a:pt x="1268076" y="153670"/>
                  </a:lnTo>
                  <a:lnTo>
                    <a:pt x="1268076" y="154940"/>
                  </a:lnTo>
                  <a:lnTo>
                    <a:pt x="1238598" y="154940"/>
                  </a:lnTo>
                  <a:lnTo>
                    <a:pt x="855210" y="158750"/>
                  </a:lnTo>
                  <a:lnTo>
                    <a:pt x="855210" y="160020"/>
                  </a:lnTo>
                  <a:lnTo>
                    <a:pt x="825732" y="160020"/>
                  </a:lnTo>
                  <a:lnTo>
                    <a:pt x="442344" y="165100"/>
                  </a:lnTo>
                  <a:lnTo>
                    <a:pt x="412866" y="165100"/>
                  </a:lnTo>
                  <a:lnTo>
                    <a:pt x="29478" y="170180"/>
                  </a:lnTo>
                  <a:lnTo>
                    <a:pt x="29478" y="254000"/>
                  </a:lnTo>
                  <a:lnTo>
                    <a:pt x="2221606" y="254000"/>
                  </a:lnTo>
                  <a:lnTo>
                    <a:pt x="2064332" y="255270"/>
                  </a:lnTo>
                  <a:lnTo>
                    <a:pt x="1680942" y="259080"/>
                  </a:lnTo>
                  <a:lnTo>
                    <a:pt x="1680942" y="260350"/>
                  </a:lnTo>
                  <a:lnTo>
                    <a:pt x="1651466" y="260350"/>
                  </a:lnTo>
                  <a:lnTo>
                    <a:pt x="825732" y="267970"/>
                  </a:lnTo>
                  <a:lnTo>
                    <a:pt x="442344" y="271780"/>
                  </a:lnTo>
                  <a:lnTo>
                    <a:pt x="442344" y="273050"/>
                  </a:lnTo>
                  <a:lnTo>
                    <a:pt x="412866" y="273050"/>
                  </a:lnTo>
                  <a:lnTo>
                    <a:pt x="29478" y="276860"/>
                  </a:lnTo>
                  <a:lnTo>
                    <a:pt x="29478" y="341630"/>
                  </a:lnTo>
                  <a:close/>
                </a:path>
                <a:path w="6771005" h="464820">
                  <a:moveTo>
                    <a:pt x="3454291" y="13970"/>
                  </a:moveTo>
                  <a:lnTo>
                    <a:pt x="3421078" y="13970"/>
                  </a:lnTo>
                  <a:lnTo>
                    <a:pt x="3421078" y="11430"/>
                  </a:lnTo>
                  <a:lnTo>
                    <a:pt x="3454291" y="11430"/>
                  </a:lnTo>
                  <a:lnTo>
                    <a:pt x="3454291" y="13970"/>
                  </a:lnTo>
                  <a:close/>
                </a:path>
                <a:path w="6771005" h="464820">
                  <a:moveTo>
                    <a:pt x="3928098" y="19050"/>
                  </a:moveTo>
                  <a:lnTo>
                    <a:pt x="3893017" y="19050"/>
                  </a:lnTo>
                  <a:lnTo>
                    <a:pt x="3893017" y="17780"/>
                  </a:lnTo>
                  <a:lnTo>
                    <a:pt x="3928098" y="17780"/>
                  </a:lnTo>
                  <a:lnTo>
                    <a:pt x="3928098" y="19050"/>
                  </a:lnTo>
                  <a:close/>
                </a:path>
                <a:path w="6771005" h="464820">
                  <a:moveTo>
                    <a:pt x="2654163" y="118110"/>
                  </a:moveTo>
                  <a:lnTo>
                    <a:pt x="2093810" y="118110"/>
                  </a:lnTo>
                  <a:lnTo>
                    <a:pt x="2477198" y="114300"/>
                  </a:lnTo>
                  <a:lnTo>
                    <a:pt x="2477198" y="25400"/>
                  </a:lnTo>
                  <a:lnTo>
                    <a:pt x="2506676" y="25400"/>
                  </a:lnTo>
                  <a:lnTo>
                    <a:pt x="2506676" y="115570"/>
                  </a:lnTo>
                  <a:lnTo>
                    <a:pt x="2654163" y="118110"/>
                  </a:lnTo>
                  <a:close/>
                </a:path>
                <a:path w="6771005" h="464820">
                  <a:moveTo>
                    <a:pt x="2980483" y="123190"/>
                  </a:moveTo>
                  <a:lnTo>
                    <a:pt x="2949138" y="123190"/>
                  </a:lnTo>
                  <a:lnTo>
                    <a:pt x="2949138" y="31750"/>
                  </a:lnTo>
                  <a:lnTo>
                    <a:pt x="2506676" y="25400"/>
                  </a:lnTo>
                  <a:lnTo>
                    <a:pt x="4401903" y="25400"/>
                  </a:lnTo>
                  <a:lnTo>
                    <a:pt x="4836897" y="30480"/>
                  </a:lnTo>
                  <a:lnTo>
                    <a:pt x="4875711" y="30480"/>
                  </a:lnTo>
                  <a:lnTo>
                    <a:pt x="5103607" y="33020"/>
                  </a:lnTo>
                  <a:lnTo>
                    <a:pt x="2980483" y="33020"/>
                  </a:lnTo>
                  <a:lnTo>
                    <a:pt x="2980483" y="123190"/>
                  </a:lnTo>
                  <a:close/>
                </a:path>
                <a:path w="6771005" h="464820">
                  <a:moveTo>
                    <a:pt x="2875394" y="121920"/>
                  </a:moveTo>
                  <a:lnTo>
                    <a:pt x="1680942" y="121920"/>
                  </a:lnTo>
                  <a:lnTo>
                    <a:pt x="2064332" y="118110"/>
                  </a:lnTo>
                  <a:lnTo>
                    <a:pt x="2064332" y="31750"/>
                  </a:lnTo>
                  <a:lnTo>
                    <a:pt x="2093810" y="31750"/>
                  </a:lnTo>
                  <a:lnTo>
                    <a:pt x="2093810" y="118110"/>
                  </a:lnTo>
                  <a:lnTo>
                    <a:pt x="2654163" y="118110"/>
                  </a:lnTo>
                  <a:lnTo>
                    <a:pt x="2875394" y="121920"/>
                  </a:lnTo>
                  <a:close/>
                </a:path>
                <a:path w="6771005" h="464820">
                  <a:moveTo>
                    <a:pt x="3454291" y="130810"/>
                  </a:moveTo>
                  <a:lnTo>
                    <a:pt x="3421078" y="130810"/>
                  </a:lnTo>
                  <a:lnTo>
                    <a:pt x="3421078" y="39370"/>
                  </a:lnTo>
                  <a:lnTo>
                    <a:pt x="2980483" y="33020"/>
                  </a:lnTo>
                  <a:lnTo>
                    <a:pt x="5103607" y="33020"/>
                  </a:lnTo>
                  <a:lnTo>
                    <a:pt x="5331503" y="35560"/>
                  </a:lnTo>
                  <a:lnTo>
                    <a:pt x="5349519" y="35560"/>
                  </a:lnTo>
                  <a:lnTo>
                    <a:pt x="5349519" y="36830"/>
                  </a:lnTo>
                  <a:lnTo>
                    <a:pt x="5568199" y="39370"/>
                  </a:lnTo>
                  <a:lnTo>
                    <a:pt x="3454291" y="39370"/>
                  </a:lnTo>
                  <a:lnTo>
                    <a:pt x="3454291" y="130810"/>
                  </a:lnTo>
                  <a:close/>
                </a:path>
                <a:path w="6771005" h="464820">
                  <a:moveTo>
                    <a:pt x="3200781" y="127000"/>
                  </a:moveTo>
                  <a:lnTo>
                    <a:pt x="1268076" y="127000"/>
                  </a:lnTo>
                  <a:lnTo>
                    <a:pt x="1651466" y="123190"/>
                  </a:lnTo>
                  <a:lnTo>
                    <a:pt x="1651466" y="38100"/>
                  </a:lnTo>
                  <a:lnTo>
                    <a:pt x="1680942" y="38100"/>
                  </a:lnTo>
                  <a:lnTo>
                    <a:pt x="1680942" y="121920"/>
                  </a:lnTo>
                  <a:lnTo>
                    <a:pt x="2875394" y="121920"/>
                  </a:lnTo>
                  <a:lnTo>
                    <a:pt x="2949138" y="123190"/>
                  </a:lnTo>
                  <a:lnTo>
                    <a:pt x="2980483" y="123190"/>
                  </a:lnTo>
                  <a:lnTo>
                    <a:pt x="3200781" y="127000"/>
                  </a:lnTo>
                  <a:close/>
                </a:path>
                <a:path w="6771005" h="464820">
                  <a:moveTo>
                    <a:pt x="3928098" y="139700"/>
                  </a:moveTo>
                  <a:lnTo>
                    <a:pt x="3893017" y="139700"/>
                  </a:lnTo>
                  <a:lnTo>
                    <a:pt x="3893017" y="46990"/>
                  </a:lnTo>
                  <a:lnTo>
                    <a:pt x="3454291" y="39370"/>
                  </a:lnTo>
                  <a:lnTo>
                    <a:pt x="5568199" y="39370"/>
                  </a:lnTo>
                  <a:lnTo>
                    <a:pt x="6224240" y="46990"/>
                  </a:lnTo>
                  <a:lnTo>
                    <a:pt x="3928098" y="46990"/>
                  </a:lnTo>
                  <a:lnTo>
                    <a:pt x="3928098" y="139700"/>
                  </a:lnTo>
                  <a:close/>
                </a:path>
                <a:path w="6771005" h="464820">
                  <a:moveTo>
                    <a:pt x="3421078" y="130810"/>
                  </a:moveTo>
                  <a:lnTo>
                    <a:pt x="855210" y="130810"/>
                  </a:lnTo>
                  <a:lnTo>
                    <a:pt x="1238598" y="127000"/>
                  </a:lnTo>
                  <a:lnTo>
                    <a:pt x="1238598" y="44450"/>
                  </a:lnTo>
                  <a:lnTo>
                    <a:pt x="1268076" y="44450"/>
                  </a:lnTo>
                  <a:lnTo>
                    <a:pt x="1268076" y="127000"/>
                  </a:lnTo>
                  <a:lnTo>
                    <a:pt x="3200781" y="127000"/>
                  </a:lnTo>
                  <a:lnTo>
                    <a:pt x="3421078" y="130810"/>
                  </a:lnTo>
                  <a:close/>
                </a:path>
                <a:path w="6771005" h="464820">
                  <a:moveTo>
                    <a:pt x="4401903" y="147320"/>
                  </a:moveTo>
                  <a:lnTo>
                    <a:pt x="4364957" y="147320"/>
                  </a:lnTo>
                  <a:lnTo>
                    <a:pt x="4364957" y="53340"/>
                  </a:lnTo>
                  <a:lnTo>
                    <a:pt x="3928098" y="46990"/>
                  </a:lnTo>
                  <a:lnTo>
                    <a:pt x="6224240" y="46990"/>
                  </a:lnTo>
                  <a:lnTo>
                    <a:pt x="6770941" y="53340"/>
                  </a:lnTo>
                  <a:lnTo>
                    <a:pt x="6770941" y="54610"/>
                  </a:lnTo>
                  <a:lnTo>
                    <a:pt x="4401903" y="54610"/>
                  </a:lnTo>
                  <a:lnTo>
                    <a:pt x="4401903" y="147320"/>
                  </a:lnTo>
                  <a:close/>
                </a:path>
                <a:path w="6771005" h="464820">
                  <a:moveTo>
                    <a:pt x="3673654" y="135890"/>
                  </a:moveTo>
                  <a:lnTo>
                    <a:pt x="442344" y="135890"/>
                  </a:lnTo>
                  <a:lnTo>
                    <a:pt x="825732" y="130810"/>
                  </a:lnTo>
                  <a:lnTo>
                    <a:pt x="825732" y="50800"/>
                  </a:lnTo>
                  <a:lnTo>
                    <a:pt x="855210" y="50800"/>
                  </a:lnTo>
                  <a:lnTo>
                    <a:pt x="855210" y="130810"/>
                  </a:lnTo>
                  <a:lnTo>
                    <a:pt x="3454291" y="130810"/>
                  </a:lnTo>
                  <a:lnTo>
                    <a:pt x="3454291" y="132080"/>
                  </a:lnTo>
                  <a:lnTo>
                    <a:pt x="3673654" y="135890"/>
                  </a:lnTo>
                  <a:close/>
                </a:path>
                <a:path w="6771005" h="464820">
                  <a:moveTo>
                    <a:pt x="4875711" y="154940"/>
                  </a:moveTo>
                  <a:lnTo>
                    <a:pt x="4836897" y="154940"/>
                  </a:lnTo>
                  <a:lnTo>
                    <a:pt x="4836897" y="60960"/>
                  </a:lnTo>
                  <a:lnTo>
                    <a:pt x="4401903" y="54610"/>
                  </a:lnTo>
                  <a:lnTo>
                    <a:pt x="6770941" y="54610"/>
                  </a:lnTo>
                  <a:lnTo>
                    <a:pt x="6770941" y="62230"/>
                  </a:lnTo>
                  <a:lnTo>
                    <a:pt x="4875711" y="62230"/>
                  </a:lnTo>
                  <a:lnTo>
                    <a:pt x="4875711" y="154940"/>
                  </a:lnTo>
                  <a:close/>
                </a:path>
                <a:path w="6771005" h="464820">
                  <a:moveTo>
                    <a:pt x="2381351" y="139700"/>
                  </a:moveTo>
                  <a:lnTo>
                    <a:pt x="29478" y="139700"/>
                  </a:lnTo>
                  <a:lnTo>
                    <a:pt x="412866" y="135890"/>
                  </a:lnTo>
                  <a:lnTo>
                    <a:pt x="412866" y="57150"/>
                  </a:lnTo>
                  <a:lnTo>
                    <a:pt x="442344" y="57150"/>
                  </a:lnTo>
                  <a:lnTo>
                    <a:pt x="442344" y="135890"/>
                  </a:lnTo>
                  <a:lnTo>
                    <a:pt x="3673654" y="135890"/>
                  </a:lnTo>
                  <a:lnTo>
                    <a:pt x="3819896" y="138430"/>
                  </a:lnTo>
                  <a:lnTo>
                    <a:pt x="2477198" y="138430"/>
                  </a:lnTo>
                  <a:lnTo>
                    <a:pt x="2381351" y="139700"/>
                  </a:lnTo>
                  <a:close/>
                </a:path>
                <a:path w="6771005" h="464820">
                  <a:moveTo>
                    <a:pt x="5349519" y="162560"/>
                  </a:moveTo>
                  <a:lnTo>
                    <a:pt x="5308837" y="162560"/>
                  </a:lnTo>
                  <a:lnTo>
                    <a:pt x="5308837" y="68580"/>
                  </a:lnTo>
                  <a:lnTo>
                    <a:pt x="4875711" y="62230"/>
                  </a:lnTo>
                  <a:lnTo>
                    <a:pt x="6770941" y="62230"/>
                  </a:lnTo>
                  <a:lnTo>
                    <a:pt x="6770941" y="68580"/>
                  </a:lnTo>
                  <a:lnTo>
                    <a:pt x="5349519" y="68580"/>
                  </a:lnTo>
                  <a:lnTo>
                    <a:pt x="5349519" y="162560"/>
                  </a:lnTo>
                  <a:close/>
                </a:path>
                <a:path w="6771005" h="464820">
                  <a:moveTo>
                    <a:pt x="5823326" y="171450"/>
                  </a:moveTo>
                  <a:lnTo>
                    <a:pt x="5780777" y="171450"/>
                  </a:lnTo>
                  <a:lnTo>
                    <a:pt x="5780777" y="74930"/>
                  </a:lnTo>
                  <a:lnTo>
                    <a:pt x="5349519" y="68580"/>
                  </a:lnTo>
                  <a:lnTo>
                    <a:pt x="6770941" y="68580"/>
                  </a:lnTo>
                  <a:lnTo>
                    <a:pt x="6770941" y="76200"/>
                  </a:lnTo>
                  <a:lnTo>
                    <a:pt x="5823326" y="76200"/>
                  </a:lnTo>
                  <a:lnTo>
                    <a:pt x="5823326" y="171450"/>
                  </a:lnTo>
                  <a:close/>
                </a:path>
                <a:path w="6771005" h="464820">
                  <a:moveTo>
                    <a:pt x="6297134" y="179070"/>
                  </a:moveTo>
                  <a:lnTo>
                    <a:pt x="6252717" y="179070"/>
                  </a:lnTo>
                  <a:lnTo>
                    <a:pt x="6252717" y="82550"/>
                  </a:lnTo>
                  <a:lnTo>
                    <a:pt x="5823326" y="76200"/>
                  </a:lnTo>
                  <a:lnTo>
                    <a:pt x="6770941" y="76200"/>
                  </a:lnTo>
                  <a:lnTo>
                    <a:pt x="6770941" y="83820"/>
                  </a:lnTo>
                  <a:lnTo>
                    <a:pt x="6297134" y="83820"/>
                  </a:lnTo>
                  <a:lnTo>
                    <a:pt x="6297134" y="179070"/>
                  </a:lnTo>
                  <a:close/>
                </a:path>
                <a:path w="6771005" h="464820">
                  <a:moveTo>
                    <a:pt x="5349519" y="290830"/>
                  </a:moveTo>
                  <a:lnTo>
                    <a:pt x="5308837" y="290830"/>
                  </a:lnTo>
                  <a:lnTo>
                    <a:pt x="5308837" y="195580"/>
                  </a:lnTo>
                  <a:lnTo>
                    <a:pt x="4875711" y="186690"/>
                  </a:lnTo>
                  <a:lnTo>
                    <a:pt x="6724659" y="186690"/>
                  </a:lnTo>
                  <a:lnTo>
                    <a:pt x="6724659" y="90170"/>
                  </a:lnTo>
                  <a:lnTo>
                    <a:pt x="6297134" y="83820"/>
                  </a:lnTo>
                  <a:lnTo>
                    <a:pt x="6770941" y="83820"/>
                  </a:lnTo>
                  <a:lnTo>
                    <a:pt x="6770941" y="196850"/>
                  </a:lnTo>
                  <a:lnTo>
                    <a:pt x="5349519" y="196850"/>
                  </a:lnTo>
                  <a:lnTo>
                    <a:pt x="5349519" y="290830"/>
                  </a:lnTo>
                  <a:close/>
                </a:path>
                <a:path w="6771005" h="464820">
                  <a:moveTo>
                    <a:pt x="2672599" y="232410"/>
                  </a:moveTo>
                  <a:lnTo>
                    <a:pt x="2093810" y="232410"/>
                  </a:lnTo>
                  <a:lnTo>
                    <a:pt x="2477198" y="228600"/>
                  </a:lnTo>
                  <a:lnTo>
                    <a:pt x="2477198" y="138430"/>
                  </a:lnTo>
                  <a:lnTo>
                    <a:pt x="2506676" y="138430"/>
                  </a:lnTo>
                  <a:lnTo>
                    <a:pt x="2506676" y="228600"/>
                  </a:lnTo>
                  <a:lnTo>
                    <a:pt x="2672599" y="232410"/>
                  </a:lnTo>
                  <a:close/>
                </a:path>
                <a:path w="6771005" h="464820">
                  <a:moveTo>
                    <a:pt x="2980483" y="238760"/>
                  </a:moveTo>
                  <a:lnTo>
                    <a:pt x="2949138" y="238760"/>
                  </a:lnTo>
                  <a:lnTo>
                    <a:pt x="2949138" y="147320"/>
                  </a:lnTo>
                  <a:lnTo>
                    <a:pt x="2506676" y="138430"/>
                  </a:lnTo>
                  <a:lnTo>
                    <a:pt x="3819896" y="138430"/>
                  </a:lnTo>
                  <a:lnTo>
                    <a:pt x="3893017" y="139700"/>
                  </a:lnTo>
                  <a:lnTo>
                    <a:pt x="3928098" y="139700"/>
                  </a:lnTo>
                  <a:lnTo>
                    <a:pt x="4364957" y="147320"/>
                  </a:lnTo>
                  <a:lnTo>
                    <a:pt x="4401903" y="147320"/>
                  </a:lnTo>
                  <a:lnTo>
                    <a:pt x="4474402" y="148590"/>
                  </a:lnTo>
                  <a:lnTo>
                    <a:pt x="2980483" y="148590"/>
                  </a:lnTo>
                  <a:lnTo>
                    <a:pt x="2980483" y="238760"/>
                  </a:lnTo>
                  <a:close/>
                </a:path>
                <a:path w="6771005" h="464820">
                  <a:moveTo>
                    <a:pt x="2838522" y="236220"/>
                  </a:moveTo>
                  <a:lnTo>
                    <a:pt x="1680942" y="236220"/>
                  </a:lnTo>
                  <a:lnTo>
                    <a:pt x="2064332" y="232410"/>
                  </a:lnTo>
                  <a:lnTo>
                    <a:pt x="2064332" y="143510"/>
                  </a:lnTo>
                  <a:lnTo>
                    <a:pt x="2093810" y="143510"/>
                  </a:lnTo>
                  <a:lnTo>
                    <a:pt x="2093810" y="232410"/>
                  </a:lnTo>
                  <a:lnTo>
                    <a:pt x="2672599" y="232410"/>
                  </a:lnTo>
                  <a:lnTo>
                    <a:pt x="2838522" y="236220"/>
                  </a:lnTo>
                  <a:close/>
                </a:path>
                <a:path w="6771005" h="464820">
                  <a:moveTo>
                    <a:pt x="3090632" y="241300"/>
                  </a:moveTo>
                  <a:lnTo>
                    <a:pt x="1268076" y="241300"/>
                  </a:lnTo>
                  <a:lnTo>
                    <a:pt x="1651466" y="236220"/>
                  </a:lnTo>
                  <a:lnTo>
                    <a:pt x="1651466" y="148590"/>
                  </a:lnTo>
                  <a:lnTo>
                    <a:pt x="1680942" y="148590"/>
                  </a:lnTo>
                  <a:lnTo>
                    <a:pt x="1680942" y="236220"/>
                  </a:lnTo>
                  <a:lnTo>
                    <a:pt x="2838522" y="236220"/>
                  </a:lnTo>
                  <a:lnTo>
                    <a:pt x="2949138" y="238760"/>
                  </a:lnTo>
                  <a:lnTo>
                    <a:pt x="2980483" y="238760"/>
                  </a:lnTo>
                  <a:lnTo>
                    <a:pt x="3090632" y="241300"/>
                  </a:lnTo>
                  <a:close/>
                </a:path>
                <a:path w="6771005" h="464820">
                  <a:moveTo>
                    <a:pt x="3454291" y="248920"/>
                  </a:moveTo>
                  <a:lnTo>
                    <a:pt x="3421078" y="248920"/>
                  </a:lnTo>
                  <a:lnTo>
                    <a:pt x="3421078" y="157480"/>
                  </a:lnTo>
                  <a:lnTo>
                    <a:pt x="2980483" y="148590"/>
                  </a:lnTo>
                  <a:lnTo>
                    <a:pt x="4474402" y="148590"/>
                  </a:lnTo>
                  <a:lnTo>
                    <a:pt x="4836897" y="154940"/>
                  </a:lnTo>
                  <a:lnTo>
                    <a:pt x="4875711" y="154940"/>
                  </a:lnTo>
                  <a:lnTo>
                    <a:pt x="4875711" y="156210"/>
                  </a:lnTo>
                  <a:lnTo>
                    <a:pt x="4962337" y="157480"/>
                  </a:lnTo>
                  <a:lnTo>
                    <a:pt x="3454291" y="157480"/>
                  </a:lnTo>
                  <a:lnTo>
                    <a:pt x="3454291" y="248920"/>
                  </a:lnTo>
                  <a:close/>
                </a:path>
                <a:path w="6771005" h="464820">
                  <a:moveTo>
                    <a:pt x="3255855" y="245110"/>
                  </a:moveTo>
                  <a:lnTo>
                    <a:pt x="855210" y="245110"/>
                  </a:lnTo>
                  <a:lnTo>
                    <a:pt x="1238598" y="241300"/>
                  </a:lnTo>
                  <a:lnTo>
                    <a:pt x="1238598" y="154940"/>
                  </a:lnTo>
                  <a:lnTo>
                    <a:pt x="1268076" y="154940"/>
                  </a:lnTo>
                  <a:lnTo>
                    <a:pt x="1268076" y="241300"/>
                  </a:lnTo>
                  <a:lnTo>
                    <a:pt x="3090632" y="241300"/>
                  </a:lnTo>
                  <a:lnTo>
                    <a:pt x="3255855" y="245110"/>
                  </a:lnTo>
                  <a:close/>
                </a:path>
                <a:path w="6771005" h="464820">
                  <a:moveTo>
                    <a:pt x="3928098" y="259080"/>
                  </a:moveTo>
                  <a:lnTo>
                    <a:pt x="3893017" y="259080"/>
                  </a:lnTo>
                  <a:lnTo>
                    <a:pt x="3893017" y="166370"/>
                  </a:lnTo>
                  <a:lnTo>
                    <a:pt x="3454291" y="157480"/>
                  </a:lnTo>
                  <a:lnTo>
                    <a:pt x="4962337" y="157480"/>
                  </a:lnTo>
                  <a:lnTo>
                    <a:pt x="5308837" y="162560"/>
                  </a:lnTo>
                  <a:lnTo>
                    <a:pt x="5349519" y="162560"/>
                  </a:lnTo>
                  <a:lnTo>
                    <a:pt x="5349519" y="163830"/>
                  </a:lnTo>
                  <a:lnTo>
                    <a:pt x="5565148" y="167640"/>
                  </a:lnTo>
                  <a:lnTo>
                    <a:pt x="3928098" y="167640"/>
                  </a:lnTo>
                  <a:lnTo>
                    <a:pt x="3928098" y="259080"/>
                  </a:lnTo>
                  <a:close/>
                </a:path>
                <a:path w="6771005" h="464820">
                  <a:moveTo>
                    <a:pt x="3509132" y="250190"/>
                  </a:moveTo>
                  <a:lnTo>
                    <a:pt x="442344" y="250190"/>
                  </a:lnTo>
                  <a:lnTo>
                    <a:pt x="825732" y="245110"/>
                  </a:lnTo>
                  <a:lnTo>
                    <a:pt x="825732" y="160020"/>
                  </a:lnTo>
                  <a:lnTo>
                    <a:pt x="855210" y="160020"/>
                  </a:lnTo>
                  <a:lnTo>
                    <a:pt x="855210" y="245110"/>
                  </a:lnTo>
                  <a:lnTo>
                    <a:pt x="3255855" y="245110"/>
                  </a:lnTo>
                  <a:lnTo>
                    <a:pt x="3421078" y="248920"/>
                  </a:lnTo>
                  <a:lnTo>
                    <a:pt x="3454291" y="248920"/>
                  </a:lnTo>
                  <a:lnTo>
                    <a:pt x="3509132" y="250190"/>
                  </a:lnTo>
                  <a:close/>
                </a:path>
                <a:path w="6771005" h="464820">
                  <a:moveTo>
                    <a:pt x="2221606" y="254000"/>
                  </a:moveTo>
                  <a:lnTo>
                    <a:pt x="29478" y="254000"/>
                  </a:lnTo>
                  <a:lnTo>
                    <a:pt x="412866" y="250190"/>
                  </a:lnTo>
                  <a:lnTo>
                    <a:pt x="412866" y="165100"/>
                  </a:lnTo>
                  <a:lnTo>
                    <a:pt x="442344" y="165100"/>
                  </a:lnTo>
                  <a:lnTo>
                    <a:pt x="442344" y="250190"/>
                  </a:lnTo>
                  <a:lnTo>
                    <a:pt x="3509132" y="250190"/>
                  </a:lnTo>
                  <a:lnTo>
                    <a:pt x="3563973" y="251460"/>
                  </a:lnTo>
                  <a:lnTo>
                    <a:pt x="2477198" y="251460"/>
                  </a:lnTo>
                  <a:lnTo>
                    <a:pt x="2221606" y="254000"/>
                  </a:lnTo>
                  <a:close/>
                </a:path>
                <a:path w="6771005" h="464820">
                  <a:moveTo>
                    <a:pt x="4401903" y="269240"/>
                  </a:moveTo>
                  <a:lnTo>
                    <a:pt x="4364957" y="269240"/>
                  </a:lnTo>
                  <a:lnTo>
                    <a:pt x="4364957" y="176530"/>
                  </a:lnTo>
                  <a:lnTo>
                    <a:pt x="3928098" y="167640"/>
                  </a:lnTo>
                  <a:lnTo>
                    <a:pt x="5565148" y="167640"/>
                  </a:lnTo>
                  <a:lnTo>
                    <a:pt x="5780777" y="171450"/>
                  </a:lnTo>
                  <a:lnTo>
                    <a:pt x="5823326" y="171450"/>
                  </a:lnTo>
                  <a:lnTo>
                    <a:pt x="6109587" y="176530"/>
                  </a:lnTo>
                  <a:lnTo>
                    <a:pt x="4401903" y="176530"/>
                  </a:lnTo>
                  <a:lnTo>
                    <a:pt x="4401903" y="269240"/>
                  </a:lnTo>
                  <a:close/>
                </a:path>
                <a:path w="6771005" h="464820">
                  <a:moveTo>
                    <a:pt x="4875711" y="279400"/>
                  </a:moveTo>
                  <a:lnTo>
                    <a:pt x="4836897" y="279400"/>
                  </a:lnTo>
                  <a:lnTo>
                    <a:pt x="4836897" y="185420"/>
                  </a:lnTo>
                  <a:lnTo>
                    <a:pt x="4401903" y="176530"/>
                  </a:lnTo>
                  <a:lnTo>
                    <a:pt x="6109587" y="176530"/>
                  </a:lnTo>
                  <a:lnTo>
                    <a:pt x="6252717" y="179070"/>
                  </a:lnTo>
                  <a:lnTo>
                    <a:pt x="6297134" y="179070"/>
                  </a:lnTo>
                  <a:lnTo>
                    <a:pt x="6297134" y="180340"/>
                  </a:lnTo>
                  <a:lnTo>
                    <a:pt x="6724659" y="186690"/>
                  </a:lnTo>
                  <a:lnTo>
                    <a:pt x="4875711" y="186690"/>
                  </a:lnTo>
                  <a:lnTo>
                    <a:pt x="4875711" y="279400"/>
                  </a:lnTo>
                  <a:close/>
                </a:path>
                <a:path w="6771005" h="464820">
                  <a:moveTo>
                    <a:pt x="5823326" y="300990"/>
                  </a:moveTo>
                  <a:lnTo>
                    <a:pt x="5780777" y="300990"/>
                  </a:lnTo>
                  <a:lnTo>
                    <a:pt x="5780777" y="204470"/>
                  </a:lnTo>
                  <a:lnTo>
                    <a:pt x="5349519" y="196850"/>
                  </a:lnTo>
                  <a:lnTo>
                    <a:pt x="6770941" y="196850"/>
                  </a:lnTo>
                  <a:lnTo>
                    <a:pt x="6770941" y="205740"/>
                  </a:lnTo>
                  <a:lnTo>
                    <a:pt x="5823326" y="205740"/>
                  </a:lnTo>
                  <a:lnTo>
                    <a:pt x="5823326" y="300990"/>
                  </a:lnTo>
                  <a:close/>
                </a:path>
                <a:path w="6771005" h="464820">
                  <a:moveTo>
                    <a:pt x="5349519" y="415290"/>
                  </a:moveTo>
                  <a:lnTo>
                    <a:pt x="5308837" y="415290"/>
                  </a:lnTo>
                  <a:lnTo>
                    <a:pt x="5308837" y="322580"/>
                  </a:lnTo>
                  <a:lnTo>
                    <a:pt x="4875711" y="311150"/>
                  </a:lnTo>
                  <a:lnTo>
                    <a:pt x="6252717" y="311150"/>
                  </a:lnTo>
                  <a:lnTo>
                    <a:pt x="6252717" y="214630"/>
                  </a:lnTo>
                  <a:lnTo>
                    <a:pt x="5823326" y="205740"/>
                  </a:lnTo>
                  <a:lnTo>
                    <a:pt x="6770941" y="205740"/>
                  </a:lnTo>
                  <a:lnTo>
                    <a:pt x="6770941" y="215900"/>
                  </a:lnTo>
                  <a:lnTo>
                    <a:pt x="6297134" y="215900"/>
                  </a:lnTo>
                  <a:lnTo>
                    <a:pt x="6297134" y="312420"/>
                  </a:lnTo>
                  <a:lnTo>
                    <a:pt x="6724659" y="321310"/>
                  </a:lnTo>
                  <a:lnTo>
                    <a:pt x="6770941" y="321310"/>
                  </a:lnTo>
                  <a:lnTo>
                    <a:pt x="6770941" y="323850"/>
                  </a:lnTo>
                  <a:lnTo>
                    <a:pt x="5349519" y="323850"/>
                  </a:lnTo>
                  <a:lnTo>
                    <a:pt x="5349519" y="415290"/>
                  </a:lnTo>
                  <a:close/>
                </a:path>
                <a:path w="6771005" h="464820">
                  <a:moveTo>
                    <a:pt x="6770941" y="321310"/>
                  </a:moveTo>
                  <a:lnTo>
                    <a:pt x="6724659" y="321310"/>
                  </a:lnTo>
                  <a:lnTo>
                    <a:pt x="6724659" y="224790"/>
                  </a:lnTo>
                  <a:lnTo>
                    <a:pt x="6297134" y="215900"/>
                  </a:lnTo>
                  <a:lnTo>
                    <a:pt x="6770941" y="215900"/>
                  </a:lnTo>
                  <a:lnTo>
                    <a:pt x="6770941" y="321310"/>
                  </a:lnTo>
                  <a:close/>
                </a:path>
                <a:path w="6771005" h="464820">
                  <a:moveTo>
                    <a:pt x="2506676" y="316230"/>
                  </a:moveTo>
                  <a:lnTo>
                    <a:pt x="2477198" y="316230"/>
                  </a:lnTo>
                  <a:lnTo>
                    <a:pt x="2477198" y="251460"/>
                  </a:lnTo>
                  <a:lnTo>
                    <a:pt x="2506676" y="251460"/>
                  </a:lnTo>
                  <a:lnTo>
                    <a:pt x="2506676" y="316230"/>
                  </a:lnTo>
                  <a:close/>
                </a:path>
                <a:path w="6771005" h="464820">
                  <a:moveTo>
                    <a:pt x="2980483" y="332740"/>
                  </a:moveTo>
                  <a:lnTo>
                    <a:pt x="2949138" y="332740"/>
                  </a:lnTo>
                  <a:lnTo>
                    <a:pt x="2949138" y="262890"/>
                  </a:lnTo>
                  <a:lnTo>
                    <a:pt x="2506676" y="251460"/>
                  </a:lnTo>
                  <a:lnTo>
                    <a:pt x="3563973" y="251460"/>
                  </a:lnTo>
                  <a:lnTo>
                    <a:pt x="3893017" y="259080"/>
                  </a:lnTo>
                  <a:lnTo>
                    <a:pt x="3928098" y="259080"/>
                  </a:lnTo>
                  <a:lnTo>
                    <a:pt x="3928098" y="260350"/>
                  </a:lnTo>
                  <a:lnTo>
                    <a:pt x="4052915" y="262890"/>
                  </a:lnTo>
                  <a:lnTo>
                    <a:pt x="2980483" y="262890"/>
                  </a:lnTo>
                  <a:lnTo>
                    <a:pt x="2980483" y="332740"/>
                  </a:lnTo>
                  <a:close/>
                </a:path>
                <a:path w="6771005" h="464820">
                  <a:moveTo>
                    <a:pt x="2093810" y="320040"/>
                  </a:moveTo>
                  <a:lnTo>
                    <a:pt x="2064332" y="320040"/>
                  </a:lnTo>
                  <a:lnTo>
                    <a:pt x="2064332" y="255270"/>
                  </a:lnTo>
                  <a:lnTo>
                    <a:pt x="2093810" y="255270"/>
                  </a:lnTo>
                  <a:lnTo>
                    <a:pt x="2093810" y="320040"/>
                  </a:lnTo>
                  <a:close/>
                </a:path>
                <a:path w="6771005" h="464820">
                  <a:moveTo>
                    <a:pt x="1680942" y="325120"/>
                  </a:moveTo>
                  <a:lnTo>
                    <a:pt x="1651466" y="325120"/>
                  </a:lnTo>
                  <a:lnTo>
                    <a:pt x="1651466" y="260350"/>
                  </a:lnTo>
                  <a:lnTo>
                    <a:pt x="1680942" y="260350"/>
                  </a:lnTo>
                  <a:lnTo>
                    <a:pt x="1680942" y="325120"/>
                  </a:lnTo>
                  <a:close/>
                </a:path>
                <a:path w="6771005" h="464820">
                  <a:moveTo>
                    <a:pt x="3454291" y="349250"/>
                  </a:moveTo>
                  <a:lnTo>
                    <a:pt x="3421078" y="349250"/>
                  </a:lnTo>
                  <a:lnTo>
                    <a:pt x="3421078" y="274320"/>
                  </a:lnTo>
                  <a:lnTo>
                    <a:pt x="2980483" y="262890"/>
                  </a:lnTo>
                  <a:lnTo>
                    <a:pt x="4052915" y="262890"/>
                  </a:lnTo>
                  <a:lnTo>
                    <a:pt x="4364957" y="269240"/>
                  </a:lnTo>
                  <a:lnTo>
                    <a:pt x="4401903" y="269240"/>
                  </a:lnTo>
                  <a:lnTo>
                    <a:pt x="4401903" y="270510"/>
                  </a:lnTo>
                  <a:lnTo>
                    <a:pt x="4650471" y="275590"/>
                  </a:lnTo>
                  <a:lnTo>
                    <a:pt x="3454291" y="275590"/>
                  </a:lnTo>
                  <a:lnTo>
                    <a:pt x="3454291" y="349250"/>
                  </a:lnTo>
                  <a:close/>
                </a:path>
                <a:path w="6771005" h="464820">
                  <a:moveTo>
                    <a:pt x="1268076" y="328930"/>
                  </a:moveTo>
                  <a:lnTo>
                    <a:pt x="1238598" y="328930"/>
                  </a:lnTo>
                  <a:lnTo>
                    <a:pt x="1238598" y="264160"/>
                  </a:lnTo>
                  <a:lnTo>
                    <a:pt x="1268076" y="264160"/>
                  </a:lnTo>
                  <a:lnTo>
                    <a:pt x="1268076" y="328930"/>
                  </a:lnTo>
                  <a:close/>
                </a:path>
                <a:path w="6771005" h="464820">
                  <a:moveTo>
                    <a:pt x="855210" y="332740"/>
                  </a:moveTo>
                  <a:lnTo>
                    <a:pt x="825732" y="332740"/>
                  </a:lnTo>
                  <a:lnTo>
                    <a:pt x="825732" y="267970"/>
                  </a:lnTo>
                  <a:lnTo>
                    <a:pt x="855210" y="267970"/>
                  </a:lnTo>
                  <a:lnTo>
                    <a:pt x="855210" y="332740"/>
                  </a:lnTo>
                  <a:close/>
                </a:path>
                <a:path w="6771005" h="464820">
                  <a:moveTo>
                    <a:pt x="442344" y="337820"/>
                  </a:moveTo>
                  <a:lnTo>
                    <a:pt x="412866" y="337820"/>
                  </a:lnTo>
                  <a:lnTo>
                    <a:pt x="412866" y="273050"/>
                  </a:lnTo>
                  <a:lnTo>
                    <a:pt x="442344" y="273050"/>
                  </a:lnTo>
                  <a:lnTo>
                    <a:pt x="442344" y="337820"/>
                  </a:lnTo>
                  <a:close/>
                </a:path>
                <a:path w="6771005" h="464820">
                  <a:moveTo>
                    <a:pt x="3928098" y="365760"/>
                  </a:moveTo>
                  <a:lnTo>
                    <a:pt x="3893017" y="365760"/>
                  </a:lnTo>
                  <a:lnTo>
                    <a:pt x="3893017" y="287020"/>
                  </a:lnTo>
                  <a:lnTo>
                    <a:pt x="3454291" y="275590"/>
                  </a:lnTo>
                  <a:lnTo>
                    <a:pt x="4650471" y="275590"/>
                  </a:lnTo>
                  <a:lnTo>
                    <a:pt x="4836897" y="279400"/>
                  </a:lnTo>
                  <a:lnTo>
                    <a:pt x="4875711" y="279400"/>
                  </a:lnTo>
                  <a:lnTo>
                    <a:pt x="4875711" y="280670"/>
                  </a:lnTo>
                  <a:lnTo>
                    <a:pt x="5146415" y="287020"/>
                  </a:lnTo>
                  <a:lnTo>
                    <a:pt x="3928098" y="287020"/>
                  </a:lnTo>
                  <a:lnTo>
                    <a:pt x="3928098" y="365760"/>
                  </a:lnTo>
                  <a:close/>
                </a:path>
                <a:path w="6771005" h="464820">
                  <a:moveTo>
                    <a:pt x="4401903" y="382270"/>
                  </a:moveTo>
                  <a:lnTo>
                    <a:pt x="4364957" y="382270"/>
                  </a:lnTo>
                  <a:lnTo>
                    <a:pt x="4364957" y="298450"/>
                  </a:lnTo>
                  <a:lnTo>
                    <a:pt x="3928098" y="287020"/>
                  </a:lnTo>
                  <a:lnTo>
                    <a:pt x="5146415" y="287020"/>
                  </a:lnTo>
                  <a:lnTo>
                    <a:pt x="5308837" y="290830"/>
                  </a:lnTo>
                  <a:lnTo>
                    <a:pt x="5349519" y="290830"/>
                  </a:lnTo>
                  <a:lnTo>
                    <a:pt x="5726870" y="299720"/>
                  </a:lnTo>
                  <a:lnTo>
                    <a:pt x="4401903" y="299720"/>
                  </a:lnTo>
                  <a:lnTo>
                    <a:pt x="4401903" y="382270"/>
                  </a:lnTo>
                  <a:close/>
                </a:path>
                <a:path w="6771005" h="464820">
                  <a:moveTo>
                    <a:pt x="4875711" y="398780"/>
                  </a:moveTo>
                  <a:lnTo>
                    <a:pt x="4836897" y="398780"/>
                  </a:lnTo>
                  <a:lnTo>
                    <a:pt x="4836897" y="311150"/>
                  </a:lnTo>
                  <a:lnTo>
                    <a:pt x="4401903" y="299720"/>
                  </a:lnTo>
                  <a:lnTo>
                    <a:pt x="5726870" y="299720"/>
                  </a:lnTo>
                  <a:lnTo>
                    <a:pt x="5780777" y="300990"/>
                  </a:lnTo>
                  <a:lnTo>
                    <a:pt x="5823326" y="300990"/>
                  </a:lnTo>
                  <a:lnTo>
                    <a:pt x="5823326" y="302260"/>
                  </a:lnTo>
                  <a:lnTo>
                    <a:pt x="6252717" y="311150"/>
                  </a:lnTo>
                  <a:lnTo>
                    <a:pt x="4875711" y="311150"/>
                  </a:lnTo>
                  <a:lnTo>
                    <a:pt x="4875711" y="398780"/>
                  </a:lnTo>
                  <a:close/>
                </a:path>
                <a:path w="6771005" h="464820">
                  <a:moveTo>
                    <a:pt x="5823326" y="431800"/>
                  </a:moveTo>
                  <a:lnTo>
                    <a:pt x="5780777" y="431800"/>
                  </a:lnTo>
                  <a:lnTo>
                    <a:pt x="5780777" y="335280"/>
                  </a:lnTo>
                  <a:lnTo>
                    <a:pt x="5349519" y="323850"/>
                  </a:lnTo>
                  <a:lnTo>
                    <a:pt x="6770941" y="323850"/>
                  </a:lnTo>
                  <a:lnTo>
                    <a:pt x="6770941" y="335280"/>
                  </a:lnTo>
                  <a:lnTo>
                    <a:pt x="5823326" y="335280"/>
                  </a:lnTo>
                  <a:lnTo>
                    <a:pt x="5823326" y="431800"/>
                  </a:lnTo>
                  <a:close/>
                </a:path>
                <a:path w="6771005" h="464820">
                  <a:moveTo>
                    <a:pt x="6297134" y="448310"/>
                  </a:moveTo>
                  <a:lnTo>
                    <a:pt x="6252717" y="448310"/>
                  </a:lnTo>
                  <a:lnTo>
                    <a:pt x="6252717" y="346710"/>
                  </a:lnTo>
                  <a:lnTo>
                    <a:pt x="5823326" y="335280"/>
                  </a:lnTo>
                  <a:lnTo>
                    <a:pt x="6770941" y="335280"/>
                  </a:lnTo>
                  <a:lnTo>
                    <a:pt x="6770941" y="347980"/>
                  </a:lnTo>
                  <a:lnTo>
                    <a:pt x="6297134" y="347980"/>
                  </a:lnTo>
                  <a:lnTo>
                    <a:pt x="6297134" y="448310"/>
                  </a:lnTo>
                  <a:close/>
                </a:path>
                <a:path w="6771005" h="464820">
                  <a:moveTo>
                    <a:pt x="6770941" y="464820"/>
                  </a:moveTo>
                  <a:lnTo>
                    <a:pt x="6724659" y="464820"/>
                  </a:lnTo>
                  <a:lnTo>
                    <a:pt x="6724659" y="359410"/>
                  </a:lnTo>
                  <a:lnTo>
                    <a:pt x="6297134" y="347980"/>
                  </a:lnTo>
                  <a:lnTo>
                    <a:pt x="6770941" y="347980"/>
                  </a:lnTo>
                  <a:lnTo>
                    <a:pt x="6770941" y="464820"/>
                  </a:lnTo>
                  <a:close/>
                </a:path>
              </a:pathLst>
            </a:custGeom>
            <a:solidFill>
              <a:srgbClr val="3329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78589" y="7835892"/>
              <a:ext cx="81229" cy="10924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835779" y="7827276"/>
              <a:ext cx="2205355" cy="1104900"/>
            </a:xfrm>
            <a:custGeom>
              <a:avLst/>
              <a:gdLst/>
              <a:ahLst/>
              <a:cxnLst/>
              <a:rect l="l" t="t" r="r" b="b"/>
              <a:pathLst>
                <a:path w="2205354" h="1104900">
                  <a:moveTo>
                    <a:pt x="2204732" y="533184"/>
                  </a:moveTo>
                  <a:lnTo>
                    <a:pt x="1615020" y="0"/>
                  </a:lnTo>
                  <a:lnTo>
                    <a:pt x="844664" y="413753"/>
                  </a:lnTo>
                  <a:lnTo>
                    <a:pt x="0" y="474472"/>
                  </a:lnTo>
                  <a:lnTo>
                    <a:pt x="0" y="1062710"/>
                  </a:lnTo>
                  <a:lnTo>
                    <a:pt x="860983" y="1104734"/>
                  </a:lnTo>
                  <a:lnTo>
                    <a:pt x="860983" y="515950"/>
                  </a:lnTo>
                  <a:lnTo>
                    <a:pt x="2204732" y="533184"/>
                  </a:lnTo>
                  <a:close/>
                </a:path>
              </a:pathLst>
            </a:custGeom>
            <a:solidFill>
              <a:srgbClr val="0583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35787" y="8239841"/>
              <a:ext cx="861060" cy="692785"/>
            </a:xfrm>
            <a:custGeom>
              <a:avLst/>
              <a:gdLst/>
              <a:ahLst/>
              <a:cxnLst/>
              <a:rect l="l" t="t" r="r" b="b"/>
              <a:pathLst>
                <a:path w="861060" h="692784">
                  <a:moveTo>
                    <a:pt x="860986" y="692163"/>
                  </a:moveTo>
                  <a:lnTo>
                    <a:pt x="0" y="650137"/>
                  </a:lnTo>
                  <a:lnTo>
                    <a:pt x="0" y="61895"/>
                  </a:lnTo>
                  <a:lnTo>
                    <a:pt x="860986" y="0"/>
                  </a:lnTo>
                  <a:lnTo>
                    <a:pt x="860986" y="692163"/>
                  </a:lnTo>
                  <a:close/>
                </a:path>
              </a:pathLst>
            </a:custGeom>
            <a:solidFill>
              <a:srgbClr val="FFFFFD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96773" y="7859507"/>
              <a:ext cx="1242060" cy="1072515"/>
            </a:xfrm>
            <a:custGeom>
              <a:avLst/>
              <a:gdLst/>
              <a:ahLst/>
              <a:cxnLst/>
              <a:rect l="l" t="t" r="r" b="b"/>
              <a:pathLst>
                <a:path w="1242059" h="1072515">
                  <a:moveTo>
                    <a:pt x="1241470" y="1072498"/>
                  </a:moveTo>
                  <a:lnTo>
                    <a:pt x="0" y="1072498"/>
                  </a:lnTo>
                  <a:lnTo>
                    <a:pt x="0" y="387938"/>
                  </a:lnTo>
                  <a:lnTo>
                    <a:pt x="696183" y="0"/>
                  </a:lnTo>
                  <a:lnTo>
                    <a:pt x="1241470" y="484612"/>
                  </a:lnTo>
                  <a:lnTo>
                    <a:pt x="1241470" y="1072498"/>
                  </a:lnTo>
                  <a:close/>
                </a:path>
              </a:pathLst>
            </a:custGeom>
            <a:solidFill>
              <a:srgbClr val="FFFF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65521" y="7760446"/>
              <a:ext cx="1996439" cy="1168400"/>
            </a:xfrm>
            <a:custGeom>
              <a:avLst/>
              <a:gdLst/>
              <a:ahLst/>
              <a:cxnLst/>
              <a:rect l="l" t="t" r="r" b="b"/>
              <a:pathLst>
                <a:path w="1996440" h="1168400">
                  <a:moveTo>
                    <a:pt x="1001506" y="88448"/>
                  </a:moveTo>
                  <a:lnTo>
                    <a:pt x="1099119" y="0"/>
                  </a:lnTo>
                  <a:lnTo>
                    <a:pt x="1183123" y="75444"/>
                  </a:lnTo>
                  <a:lnTo>
                    <a:pt x="1094296" y="75444"/>
                  </a:lnTo>
                  <a:lnTo>
                    <a:pt x="1001506" y="88448"/>
                  </a:lnTo>
                  <a:close/>
                </a:path>
                <a:path w="1996440" h="1168400">
                  <a:moveTo>
                    <a:pt x="0" y="568862"/>
                  </a:moveTo>
                  <a:lnTo>
                    <a:pt x="667616" y="232690"/>
                  </a:lnTo>
                  <a:lnTo>
                    <a:pt x="1685289" y="66825"/>
                  </a:lnTo>
                  <a:lnTo>
                    <a:pt x="890646" y="509624"/>
                  </a:lnTo>
                  <a:lnTo>
                    <a:pt x="0" y="568862"/>
                  </a:lnTo>
                  <a:close/>
                </a:path>
                <a:path w="1996440" h="1168400">
                  <a:moveTo>
                    <a:pt x="1193509" y="84773"/>
                  </a:moveTo>
                  <a:lnTo>
                    <a:pt x="1094296" y="75444"/>
                  </a:lnTo>
                  <a:lnTo>
                    <a:pt x="1183123" y="75444"/>
                  </a:lnTo>
                  <a:lnTo>
                    <a:pt x="1193509" y="84773"/>
                  </a:lnTo>
                  <a:close/>
                </a:path>
                <a:path w="1996440" h="1168400">
                  <a:moveTo>
                    <a:pt x="1725571" y="457738"/>
                  </a:moveTo>
                  <a:lnTo>
                    <a:pt x="1569392" y="445082"/>
                  </a:lnTo>
                  <a:lnTo>
                    <a:pt x="1569392" y="229964"/>
                  </a:lnTo>
                  <a:lnTo>
                    <a:pt x="1725571" y="242620"/>
                  </a:lnTo>
                  <a:lnTo>
                    <a:pt x="1725571" y="457738"/>
                  </a:lnTo>
                  <a:close/>
                </a:path>
                <a:path w="1996440" h="1168400">
                  <a:moveTo>
                    <a:pt x="1860864" y="1167982"/>
                  </a:moveTo>
                  <a:lnTo>
                    <a:pt x="1426933" y="1167982"/>
                  </a:lnTo>
                  <a:lnTo>
                    <a:pt x="1426933" y="527452"/>
                  </a:lnTo>
                  <a:lnTo>
                    <a:pt x="1255893" y="518291"/>
                  </a:lnTo>
                  <a:lnTo>
                    <a:pt x="1255893" y="497903"/>
                  </a:lnTo>
                  <a:lnTo>
                    <a:pt x="1995885" y="537544"/>
                  </a:lnTo>
                  <a:lnTo>
                    <a:pt x="1995885" y="550696"/>
                  </a:lnTo>
                  <a:lnTo>
                    <a:pt x="1860864" y="550696"/>
                  </a:lnTo>
                  <a:lnTo>
                    <a:pt x="1860864" y="1167982"/>
                  </a:lnTo>
                  <a:close/>
                </a:path>
                <a:path w="1996440" h="1168400">
                  <a:moveTo>
                    <a:pt x="1995885" y="557932"/>
                  </a:moveTo>
                  <a:lnTo>
                    <a:pt x="1860864" y="550696"/>
                  </a:lnTo>
                  <a:lnTo>
                    <a:pt x="1995885" y="550696"/>
                  </a:lnTo>
                  <a:lnTo>
                    <a:pt x="1995885" y="557932"/>
                  </a:lnTo>
                  <a:close/>
                </a:path>
                <a:path w="1996440" h="1168400">
                  <a:moveTo>
                    <a:pt x="809939" y="1165639"/>
                  </a:moveTo>
                  <a:lnTo>
                    <a:pt x="666521" y="1158635"/>
                  </a:lnTo>
                  <a:lnTo>
                    <a:pt x="666521" y="742274"/>
                  </a:lnTo>
                  <a:lnTo>
                    <a:pt x="809939" y="742274"/>
                  </a:lnTo>
                  <a:lnTo>
                    <a:pt x="809939" y="1165639"/>
                  </a:lnTo>
                  <a:close/>
                </a:path>
                <a:path w="1996440" h="1168400">
                  <a:moveTo>
                    <a:pt x="481372" y="1149316"/>
                  </a:moveTo>
                  <a:lnTo>
                    <a:pt x="369617" y="1143979"/>
                  </a:lnTo>
                  <a:lnTo>
                    <a:pt x="369617" y="750435"/>
                  </a:lnTo>
                  <a:lnTo>
                    <a:pt x="481372" y="750435"/>
                  </a:lnTo>
                  <a:lnTo>
                    <a:pt x="481372" y="1149316"/>
                  </a:lnTo>
                  <a:close/>
                </a:path>
                <a:path w="1996440" h="1168400">
                  <a:moveTo>
                    <a:pt x="223526" y="1136854"/>
                  </a:moveTo>
                  <a:lnTo>
                    <a:pt x="129882" y="1132562"/>
                  </a:lnTo>
                  <a:lnTo>
                    <a:pt x="129882" y="756018"/>
                  </a:lnTo>
                  <a:lnTo>
                    <a:pt x="223526" y="756018"/>
                  </a:lnTo>
                  <a:lnTo>
                    <a:pt x="223526" y="1136854"/>
                  </a:lnTo>
                  <a:close/>
                </a:path>
              </a:pathLst>
            </a:custGeom>
            <a:solidFill>
              <a:srgbClr val="0583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6119" y="7827271"/>
              <a:ext cx="6770941" cy="138271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849099" y="3042132"/>
            <a:ext cx="14210665" cy="3223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Farmers were able to provide the required feed amount individually for each animal based on its weight and breed, while also reducing discomfort for the cattle.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7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700" spc="-270" dirty="0">
                <a:latin typeface="Verdana"/>
                <a:cs typeface="Verdana"/>
              </a:rPr>
              <a:t>Farm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operators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225" dirty="0">
                <a:latin typeface="Verdana"/>
                <a:cs typeface="Verdana"/>
              </a:rPr>
              <a:t>valued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145" dirty="0">
                <a:latin typeface="Verdana"/>
                <a:cs typeface="Verdana"/>
              </a:rPr>
              <a:t>the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210" dirty="0">
                <a:latin typeface="Verdana"/>
                <a:cs typeface="Verdana"/>
              </a:rPr>
              <a:t>automated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170" dirty="0">
                <a:latin typeface="Verdana"/>
                <a:cs typeface="Verdana"/>
              </a:rPr>
              <a:t>feed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65" dirty="0">
                <a:latin typeface="Verdana"/>
                <a:cs typeface="Verdana"/>
              </a:rPr>
              <a:t>calculations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35" dirty="0">
                <a:latin typeface="Verdana"/>
                <a:cs typeface="Verdana"/>
              </a:rPr>
              <a:t>that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210" dirty="0">
                <a:latin typeface="Verdana"/>
                <a:cs typeface="Verdana"/>
              </a:rPr>
              <a:t>reduced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229" dirty="0">
                <a:latin typeface="Verdana"/>
                <a:cs typeface="Verdana"/>
              </a:rPr>
              <a:t>guesswork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and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70" dirty="0">
                <a:latin typeface="Verdana"/>
                <a:cs typeface="Verdana"/>
              </a:rPr>
              <a:t>feed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14" dirty="0">
                <a:latin typeface="Verdana"/>
                <a:cs typeface="Verdana"/>
              </a:rPr>
              <a:t>waste.</a:t>
            </a:r>
            <a:endParaRPr sz="2700" dirty="0">
              <a:latin typeface="Verdana"/>
              <a:cs typeface="Verdana"/>
            </a:endParaRPr>
          </a:p>
          <a:p>
            <a:pPr marL="7258050">
              <a:lnSpc>
                <a:spcPct val="100000"/>
              </a:lnSpc>
              <a:spcBef>
                <a:spcPts val="1620"/>
              </a:spcBef>
            </a:pPr>
            <a:r>
              <a:rPr lang="en-US" sz="2700" spc="-700" dirty="0">
                <a:latin typeface="Verdana"/>
                <a:cs typeface="Verdana"/>
              </a:rPr>
              <a:t>:</a:t>
            </a:r>
            <a:endParaRPr lang="en-US" sz="2700" dirty="0">
              <a:latin typeface="Verdana"/>
              <a:cs typeface="Verdana"/>
            </a:endParaRPr>
          </a:p>
          <a:p>
            <a:pPr marL="12700" marR="421005">
              <a:lnSpc>
                <a:spcPts val="3220"/>
              </a:lnSpc>
              <a:spcBef>
                <a:spcPts val="525"/>
              </a:spcBef>
            </a:pPr>
            <a:r>
              <a:rPr sz="2700" spc="-210" dirty="0">
                <a:latin typeface="Verdana"/>
                <a:cs typeface="Verdana"/>
              </a:rPr>
              <a:t>Stakeholders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80" dirty="0">
                <a:latin typeface="Verdana"/>
                <a:cs typeface="Verdana"/>
              </a:rPr>
              <a:t>recognized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45" dirty="0">
                <a:latin typeface="Verdana"/>
                <a:cs typeface="Verdana"/>
              </a:rPr>
              <a:t>the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204" dirty="0">
                <a:latin typeface="Verdana"/>
                <a:cs typeface="Verdana"/>
              </a:rPr>
              <a:t>system’s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30" dirty="0">
                <a:latin typeface="Verdana"/>
                <a:cs typeface="Verdana"/>
              </a:rPr>
              <a:t>potential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10" dirty="0">
                <a:latin typeface="Verdana"/>
                <a:cs typeface="Verdana"/>
              </a:rPr>
              <a:t>to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204" dirty="0">
                <a:latin typeface="Verdana"/>
                <a:cs typeface="Verdana"/>
              </a:rPr>
              <a:t>improve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60" dirty="0">
                <a:latin typeface="Verdana"/>
                <a:cs typeface="Verdana"/>
              </a:rPr>
              <a:t>productivity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65" dirty="0">
                <a:latin typeface="Verdana"/>
                <a:cs typeface="Verdana"/>
              </a:rPr>
              <a:t>through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65" dirty="0">
                <a:latin typeface="Verdana"/>
                <a:cs typeface="Verdana"/>
              </a:rPr>
              <a:t>data-</a:t>
            </a:r>
            <a:r>
              <a:rPr sz="2700" spc="-65" dirty="0">
                <a:latin typeface="Verdana"/>
                <a:cs typeface="Verdana"/>
              </a:rPr>
              <a:t>driven </a:t>
            </a:r>
            <a:r>
              <a:rPr sz="2700" spc="-265" dirty="0">
                <a:latin typeface="Verdana"/>
                <a:cs typeface="Verdana"/>
              </a:rPr>
              <a:t>management.</a:t>
            </a:r>
            <a:endParaRPr sz="2700" dirty="0">
              <a:latin typeface="Verdana"/>
              <a:cs typeface="Verdana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CB083-15BE-7AE4-2923-D2BF4EE123BE}"/>
              </a:ext>
            </a:extLst>
          </p:cNvPr>
          <p:cNvGrpSpPr/>
          <p:nvPr/>
        </p:nvGrpSpPr>
        <p:grpSpPr>
          <a:xfrm>
            <a:off x="3935955" y="9677339"/>
            <a:ext cx="7722645" cy="428322"/>
            <a:chOff x="3935955" y="9677339"/>
            <a:chExt cx="7722645" cy="428322"/>
          </a:xfrm>
        </p:grpSpPr>
        <p:sp>
          <p:nvSpPr>
            <p:cNvPr id="21" name="object 12">
              <a:extLst>
                <a:ext uri="{FF2B5EF4-FFF2-40B4-BE49-F238E27FC236}">
                  <a16:creationId xmlns:a16="http://schemas.microsoft.com/office/drawing/2014/main" id="{6A0BEB6A-EF66-BE3C-A909-CC7B67C43894}"/>
                </a:ext>
              </a:extLst>
            </p:cNvPr>
            <p:cNvSpPr txBox="1"/>
            <p:nvPr/>
          </p:nvSpPr>
          <p:spPr>
            <a:xfrm>
              <a:off x="3935955" y="9677339"/>
              <a:ext cx="2110105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225" dirty="0">
                  <a:latin typeface="Verdana"/>
                  <a:cs typeface="Verdana"/>
                </a:rPr>
                <a:t>IT22</a:t>
              </a:r>
              <a:r>
                <a:rPr lang="en-US" sz="2700" spc="-225" dirty="0">
                  <a:latin typeface="Verdana"/>
                  <a:cs typeface="Verdana"/>
                </a:rPr>
                <a:t>136138</a:t>
              </a:r>
              <a:r>
                <a:rPr sz="2700" spc="35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2" name="object 13">
              <a:extLst>
                <a:ext uri="{FF2B5EF4-FFF2-40B4-BE49-F238E27FC236}">
                  <a16:creationId xmlns:a16="http://schemas.microsoft.com/office/drawing/2014/main" id="{C1AB55E1-3129-72E9-D81E-37C0D6294BCF}"/>
                </a:ext>
              </a:extLst>
            </p:cNvPr>
            <p:cNvSpPr txBox="1"/>
            <p:nvPr/>
          </p:nvSpPr>
          <p:spPr>
            <a:xfrm>
              <a:off x="6216150" y="9677339"/>
              <a:ext cx="3186809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54" dirty="0">
                  <a:latin typeface="Verdana"/>
                  <a:cs typeface="Verdana"/>
                </a:rPr>
                <a:t>Jayawardhana H.A.S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71EEA09C-27C9-2112-5D5D-0CBBFF3EC20C}"/>
                </a:ext>
              </a:extLst>
            </p:cNvPr>
            <p:cNvSpPr txBox="1"/>
            <p:nvPr/>
          </p:nvSpPr>
          <p:spPr>
            <a:xfrm>
              <a:off x="9599930" y="9677339"/>
              <a:ext cx="2058670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>
                  <a:latin typeface="Verdana"/>
                  <a:cs typeface="Verdana"/>
                </a:rPr>
                <a:t>R26 –IT- 093</a:t>
              </a:r>
              <a:endParaRPr sz="2700" dirty="0">
                <a:latin typeface="Verdana"/>
                <a:cs typeface="Verdana"/>
              </a:endParaRPr>
            </a:p>
          </p:txBody>
        </p:sp>
      </p:grpSp>
      <p:sp>
        <p:nvSpPr>
          <p:cNvPr id="24" name="object 11">
            <a:extLst>
              <a:ext uri="{FF2B5EF4-FFF2-40B4-BE49-F238E27FC236}">
                <a16:creationId xmlns:a16="http://schemas.microsoft.com/office/drawing/2014/main" id="{0B3A5A93-34CD-C766-8E4A-58B7CF31CFA2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0892E2-DF42-17AD-70E7-51336EFE28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9586740"/>
            <a:ext cx="3553129" cy="7270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2436863-91E8-50FF-B40E-8CE83E820E7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101EDFEF-572F-F138-5484-F00565EB76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59956"/>
            <a:ext cx="18288000" cy="727075"/>
            <a:chOff x="0" y="9559956"/>
            <a:chExt cx="18288000" cy="727075"/>
          </a:xfrm>
        </p:grpSpPr>
        <p:pic>
          <p:nvPicPr>
            <p:cNvPr id="3" name="object 3" descr="A picture containing photo, table, person, monitor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015355"/>
              <a:ext cx="18288000" cy="271780"/>
            </a:xfrm>
            <a:custGeom>
              <a:avLst/>
              <a:gdLst/>
              <a:ahLst/>
              <a:cxnLst/>
              <a:rect l="l" t="t" r="r" b="b"/>
              <a:pathLst>
                <a:path w="18288000" h="271779">
                  <a:moveTo>
                    <a:pt x="18288000" y="271653"/>
                  </a:moveTo>
                  <a:lnTo>
                    <a:pt x="0" y="271653"/>
                  </a:lnTo>
                  <a:lnTo>
                    <a:pt x="7204900" y="0"/>
                  </a:lnTo>
                  <a:lnTo>
                    <a:pt x="18288000" y="271653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5278087" y="11"/>
            <a:ext cx="3009900" cy="3467100"/>
          </a:xfrm>
          <a:custGeom>
            <a:avLst/>
            <a:gdLst/>
            <a:ahLst/>
            <a:cxnLst/>
            <a:rect l="l" t="t" r="r" b="b"/>
            <a:pathLst>
              <a:path w="3009900" h="3467100">
                <a:moveTo>
                  <a:pt x="3009900" y="19050"/>
                </a:moveTo>
                <a:lnTo>
                  <a:pt x="3008401" y="11645"/>
                </a:lnTo>
                <a:lnTo>
                  <a:pt x="3004312" y="5588"/>
                </a:lnTo>
                <a:lnTo>
                  <a:pt x="2998254" y="1498"/>
                </a:lnTo>
                <a:lnTo>
                  <a:pt x="2990850" y="0"/>
                </a:lnTo>
                <a:lnTo>
                  <a:pt x="19050" y="0"/>
                </a:lnTo>
                <a:lnTo>
                  <a:pt x="11658" y="1498"/>
                </a:lnTo>
                <a:lnTo>
                  <a:pt x="5600" y="5588"/>
                </a:lnTo>
                <a:lnTo>
                  <a:pt x="1511" y="11645"/>
                </a:lnTo>
                <a:lnTo>
                  <a:pt x="0" y="19050"/>
                </a:lnTo>
                <a:lnTo>
                  <a:pt x="0" y="3448050"/>
                </a:lnTo>
                <a:lnTo>
                  <a:pt x="1511" y="3455441"/>
                </a:lnTo>
                <a:lnTo>
                  <a:pt x="5600" y="3461499"/>
                </a:lnTo>
                <a:lnTo>
                  <a:pt x="11658" y="3465588"/>
                </a:lnTo>
                <a:lnTo>
                  <a:pt x="19050" y="3467087"/>
                </a:lnTo>
                <a:lnTo>
                  <a:pt x="2990850" y="3467087"/>
                </a:lnTo>
                <a:lnTo>
                  <a:pt x="2998254" y="3465588"/>
                </a:lnTo>
                <a:lnTo>
                  <a:pt x="3004312" y="3461499"/>
                </a:lnTo>
                <a:lnTo>
                  <a:pt x="3008401" y="3455441"/>
                </a:lnTo>
                <a:lnTo>
                  <a:pt x="3009900" y="3448050"/>
                </a:lnTo>
                <a:lnTo>
                  <a:pt x="3009900" y="3429000"/>
                </a:lnTo>
                <a:lnTo>
                  <a:pt x="3009900" y="38100"/>
                </a:lnTo>
                <a:lnTo>
                  <a:pt x="300990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364569" y="1088231"/>
            <a:ext cx="2837180" cy="1258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3229"/>
              </a:lnSpc>
              <a:spcBef>
                <a:spcPts val="114"/>
              </a:spcBef>
            </a:pPr>
            <a:r>
              <a:rPr sz="2700" spc="-210" dirty="0">
                <a:solidFill>
                  <a:srgbClr val="FFFFFF"/>
                </a:solidFill>
                <a:latin typeface="Verdana"/>
                <a:cs typeface="Verdana"/>
              </a:rPr>
              <a:t>Student</a:t>
            </a:r>
            <a:r>
              <a:rPr sz="2700" spc="-4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00" dirty="0">
                <a:solidFill>
                  <a:srgbClr val="FFFFFF"/>
                </a:solidFill>
                <a:latin typeface="Verdana"/>
                <a:cs typeface="Verdana"/>
              </a:rPr>
              <a:t>Must</a:t>
            </a:r>
            <a:r>
              <a:rPr sz="2700" spc="-4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9" dirty="0">
                <a:solidFill>
                  <a:srgbClr val="FFFFFF"/>
                </a:solidFill>
                <a:latin typeface="Verdana"/>
                <a:cs typeface="Verdana"/>
              </a:rPr>
              <a:t>add</a:t>
            </a:r>
            <a:r>
              <a:rPr sz="2700" spc="-4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45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2700" spc="-165" dirty="0">
                <a:solidFill>
                  <a:srgbClr val="FFFFFF"/>
                </a:solidFill>
                <a:latin typeface="Verdana"/>
                <a:cs typeface="Verdana"/>
              </a:rPr>
              <a:t>professional</a:t>
            </a:r>
            <a:r>
              <a:rPr sz="2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85" dirty="0">
                <a:solidFill>
                  <a:srgbClr val="FFFFFF"/>
                </a:solidFill>
                <a:latin typeface="Verdana"/>
                <a:cs typeface="Verdana"/>
              </a:rPr>
              <a:t>photo </a:t>
            </a:r>
            <a:r>
              <a:rPr sz="2700" spc="-1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700" spc="-4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10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2700" spc="-4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Verdana"/>
                <a:cs typeface="Verdana"/>
              </a:rPr>
              <a:t>cage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370753" y="3460591"/>
            <a:ext cx="10601325" cy="171132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80160" marR="5080" indent="-1268095">
              <a:lnSpc>
                <a:spcPts val="6600"/>
              </a:lnSpc>
              <a:spcBef>
                <a:spcPts val="275"/>
              </a:spcBef>
            </a:pPr>
            <a:r>
              <a:rPr sz="5550" spc="350" dirty="0"/>
              <a:t>Customized</a:t>
            </a:r>
            <a:r>
              <a:rPr sz="5550" spc="-145" dirty="0"/>
              <a:t> </a:t>
            </a:r>
            <a:r>
              <a:rPr sz="5550" spc="190" dirty="0"/>
              <a:t>Live</a:t>
            </a:r>
            <a:r>
              <a:rPr sz="5550" spc="-145" dirty="0"/>
              <a:t> </a:t>
            </a:r>
            <a:r>
              <a:rPr sz="5550" spc="415" dirty="0"/>
              <a:t>Milk</a:t>
            </a:r>
            <a:r>
              <a:rPr sz="5550" spc="-140" dirty="0"/>
              <a:t> </a:t>
            </a:r>
            <a:r>
              <a:rPr sz="5550" spc="484" dirty="0"/>
              <a:t>Market </a:t>
            </a:r>
            <a:r>
              <a:rPr sz="5550" spc="240" dirty="0"/>
              <a:t>prediction</a:t>
            </a:r>
            <a:r>
              <a:rPr sz="5550" spc="-145" dirty="0"/>
              <a:t> </a:t>
            </a:r>
            <a:r>
              <a:rPr sz="5550" spc="365" dirty="0"/>
              <a:t>with</a:t>
            </a:r>
            <a:r>
              <a:rPr sz="5550" spc="-140" dirty="0"/>
              <a:t> </a:t>
            </a:r>
            <a:r>
              <a:rPr sz="5550" spc="665" dirty="0"/>
              <a:t>AI/ML</a:t>
            </a:r>
            <a:endParaRPr sz="5550"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91790" y="1206741"/>
            <a:ext cx="6604943" cy="805155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56453" y="7563109"/>
            <a:ext cx="12791440" cy="1209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390" dirty="0">
                <a:latin typeface="Verdana"/>
                <a:cs typeface="Verdana"/>
              </a:rPr>
              <a:t>IT221</a:t>
            </a:r>
            <a:r>
              <a:rPr lang="en-US" sz="3300" spc="-390" dirty="0">
                <a:latin typeface="Verdana"/>
                <a:cs typeface="Verdana"/>
              </a:rPr>
              <a:t>34608</a:t>
            </a:r>
            <a:r>
              <a:rPr sz="3300" spc="90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|</a:t>
            </a:r>
            <a:r>
              <a:rPr sz="3300" spc="-80" dirty="0">
                <a:latin typeface="Verdana"/>
                <a:cs typeface="Verdana"/>
              </a:rPr>
              <a:t> </a:t>
            </a:r>
            <a:r>
              <a:rPr lang="en-US" sz="3300" spc="-320" dirty="0" err="1">
                <a:latin typeface="Verdana"/>
                <a:cs typeface="Verdana"/>
              </a:rPr>
              <a:t>Arachchi</a:t>
            </a:r>
            <a:r>
              <a:rPr lang="en-US" sz="3300" spc="-320" dirty="0">
                <a:latin typeface="Verdana"/>
                <a:cs typeface="Verdana"/>
              </a:rPr>
              <a:t> W.A.A.I.W.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|</a:t>
            </a:r>
            <a:r>
              <a:rPr sz="3300" spc="65" dirty="0">
                <a:latin typeface="Verdana"/>
                <a:cs typeface="Verdana"/>
              </a:rPr>
              <a:t> </a:t>
            </a:r>
            <a:r>
              <a:rPr lang="en-US" sz="3300" spc="-290" dirty="0">
                <a:latin typeface="Verdana"/>
                <a:cs typeface="Verdana"/>
              </a:rPr>
              <a:t>R26 – IT - 093</a:t>
            </a:r>
            <a:endParaRPr sz="33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sz="2700" spc="-345" dirty="0">
                <a:solidFill>
                  <a:srgbClr val="4D4D4D"/>
                </a:solidFill>
                <a:latin typeface="Verdana"/>
                <a:cs typeface="Verdana"/>
              </a:rPr>
              <a:t>BSc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20" dirty="0">
                <a:solidFill>
                  <a:srgbClr val="4D4D4D"/>
                </a:solidFill>
                <a:latin typeface="Verdana"/>
                <a:cs typeface="Verdana"/>
              </a:rPr>
              <a:t>(Hons)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40" dirty="0">
                <a:solidFill>
                  <a:srgbClr val="4D4D4D"/>
                </a:solidFill>
                <a:latin typeface="Verdana"/>
                <a:cs typeface="Verdana"/>
              </a:rPr>
              <a:t>Degree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05" dirty="0">
                <a:solidFill>
                  <a:srgbClr val="4D4D4D"/>
                </a:solidFill>
                <a:latin typeface="Verdana"/>
                <a:cs typeface="Verdana"/>
              </a:rPr>
              <a:t>in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85" dirty="0">
                <a:solidFill>
                  <a:srgbClr val="4D4D4D"/>
                </a:solidFill>
                <a:latin typeface="Verdana"/>
                <a:cs typeface="Verdana"/>
              </a:rPr>
              <a:t>Information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15" dirty="0">
                <a:solidFill>
                  <a:srgbClr val="4D4D4D"/>
                </a:solidFill>
                <a:latin typeface="Verdana"/>
                <a:cs typeface="Verdana"/>
              </a:rPr>
              <a:t>Technology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4D4D4D"/>
                </a:solidFill>
                <a:latin typeface="Verdana"/>
                <a:cs typeface="Verdana"/>
              </a:rPr>
              <a:t>specialization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05" dirty="0">
                <a:solidFill>
                  <a:srgbClr val="4D4D4D"/>
                </a:solidFill>
                <a:latin typeface="Verdana"/>
                <a:cs typeface="Verdana"/>
              </a:rPr>
              <a:t>i</a:t>
            </a:r>
            <a:r>
              <a:rPr sz="2700" spc="-165" dirty="0">
                <a:solidFill>
                  <a:srgbClr val="4D4D4D"/>
                </a:solidFill>
                <a:latin typeface="Verdana"/>
                <a:cs typeface="Verdana"/>
              </a:rPr>
              <a:t>nformation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4D4D4D"/>
                </a:solidFill>
                <a:latin typeface="Verdana"/>
                <a:cs typeface="Verdana"/>
              </a:rPr>
              <a:t>Technology</a:t>
            </a:r>
            <a:endParaRPr sz="2700" dirty="0">
              <a:latin typeface="Verdana"/>
              <a:cs typeface="Verdana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034758-4BC4-A9D8-FF0F-2CEE217FDA2F}"/>
              </a:ext>
            </a:extLst>
          </p:cNvPr>
          <p:cNvGrpSpPr/>
          <p:nvPr/>
        </p:nvGrpSpPr>
        <p:grpSpPr>
          <a:xfrm>
            <a:off x="4019022" y="9765016"/>
            <a:ext cx="8172978" cy="464820"/>
            <a:chOff x="4019022" y="9765016"/>
            <a:chExt cx="8172978" cy="464820"/>
          </a:xfrm>
        </p:grpSpPr>
        <p:sp>
          <p:nvSpPr>
            <p:cNvPr id="16" name="object 16"/>
            <p:cNvSpPr txBox="1"/>
            <p:nvPr/>
          </p:nvSpPr>
          <p:spPr>
            <a:xfrm>
              <a:off x="4019022" y="9765016"/>
              <a:ext cx="2009139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310" dirty="0">
                  <a:latin typeface="Verdana"/>
                  <a:cs typeface="Verdana"/>
                </a:rPr>
                <a:t>IT221</a:t>
              </a:r>
              <a:r>
                <a:rPr lang="en-US" sz="2700" spc="-310" dirty="0">
                  <a:latin typeface="Verdana"/>
                  <a:cs typeface="Verdana"/>
                </a:rPr>
                <a:t>34608</a:t>
              </a:r>
              <a:r>
                <a:rPr sz="2700" spc="80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6198015" y="9765016"/>
              <a:ext cx="3098385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60" dirty="0" err="1">
                  <a:latin typeface="Verdana"/>
                  <a:cs typeface="Verdana"/>
                </a:rPr>
                <a:t>Arachchi</a:t>
              </a:r>
              <a:r>
                <a:rPr lang="en-US" sz="2700" spc="-260" dirty="0">
                  <a:latin typeface="Verdana"/>
                  <a:cs typeface="Verdana"/>
                </a:rPr>
                <a:t> W.A.A.I.W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9509760" y="9765016"/>
              <a:ext cx="167640" cy="4648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55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9741166" y="9765016"/>
              <a:ext cx="2450834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>
                  <a:latin typeface="Verdana"/>
                  <a:cs typeface="Verdana"/>
                </a:rPr>
                <a:t>R26 – IT - 093</a:t>
              </a:r>
              <a:endParaRPr sz="2700" dirty="0">
                <a:latin typeface="Verdana"/>
                <a:cs typeface="Verdana"/>
              </a:endParaRPr>
            </a:p>
          </p:txBody>
        </p:sp>
      </p:grpSp>
      <p:sp>
        <p:nvSpPr>
          <p:cNvPr id="21" name="object 11">
            <a:extLst>
              <a:ext uri="{FF2B5EF4-FFF2-40B4-BE49-F238E27FC236}">
                <a16:creationId xmlns:a16="http://schemas.microsoft.com/office/drawing/2014/main" id="{3DCE2CA5-D63A-FC05-6EA8-44B9CA02978F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35256A-10E1-4518-E133-07B041ACD8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586740"/>
            <a:ext cx="3553129" cy="7270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F8CB60-E5F9-77A8-190B-7891DE9353D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D7B101-EC99-3EFB-F532-AC4E395058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A471878-C9FC-B030-D1B1-4BB5358BB4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19267"/>
            <a:ext cx="3096382" cy="38288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455" y="3050881"/>
            <a:ext cx="237735" cy="2375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455" y="3626075"/>
            <a:ext cx="237735" cy="2375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455" y="4218511"/>
            <a:ext cx="237735" cy="2375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103" y="6071728"/>
            <a:ext cx="237735" cy="2375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187" y="6665383"/>
            <a:ext cx="237735" cy="2375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187" y="7297138"/>
            <a:ext cx="237735" cy="2375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66650" y="2319042"/>
            <a:ext cx="6981824" cy="4657724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58792" y="971371"/>
            <a:ext cx="17423130" cy="708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65" dirty="0">
                <a:solidFill>
                  <a:srgbClr val="29266D"/>
                </a:solidFill>
              </a:rPr>
              <a:t>PROPOSED</a:t>
            </a:r>
            <a:r>
              <a:rPr spc="-500" dirty="0">
                <a:solidFill>
                  <a:srgbClr val="29266D"/>
                </a:solidFill>
              </a:rPr>
              <a:t> </a:t>
            </a:r>
            <a:r>
              <a:rPr spc="229" dirty="0">
                <a:solidFill>
                  <a:srgbClr val="29266D"/>
                </a:solidFill>
              </a:rPr>
              <a:t>SOLUTION</a:t>
            </a:r>
            <a:r>
              <a:rPr spc="-495" dirty="0">
                <a:solidFill>
                  <a:srgbClr val="29266D"/>
                </a:solidFill>
              </a:rPr>
              <a:t> </a:t>
            </a:r>
            <a:r>
              <a:rPr spc="290" dirty="0">
                <a:solidFill>
                  <a:srgbClr val="29266D"/>
                </a:solidFill>
              </a:rPr>
              <a:t>AND</a:t>
            </a:r>
            <a:r>
              <a:rPr spc="-495" dirty="0">
                <a:solidFill>
                  <a:srgbClr val="29266D"/>
                </a:solidFill>
              </a:rPr>
              <a:t> </a:t>
            </a:r>
            <a:r>
              <a:rPr spc="400" dirty="0">
                <a:solidFill>
                  <a:srgbClr val="29266D"/>
                </a:solidFill>
              </a:rPr>
              <a:t>USER</a:t>
            </a:r>
            <a:r>
              <a:rPr spc="-495" dirty="0">
                <a:solidFill>
                  <a:srgbClr val="29266D"/>
                </a:solidFill>
              </a:rPr>
              <a:t> </a:t>
            </a:r>
            <a:r>
              <a:rPr spc="315" dirty="0">
                <a:solidFill>
                  <a:srgbClr val="29266D"/>
                </a:solidFill>
              </a:rPr>
              <a:t>REQUIREMENTS</a:t>
            </a:r>
            <a:r>
              <a:rPr spc="-495" dirty="0">
                <a:solidFill>
                  <a:srgbClr val="29266D"/>
                </a:solidFill>
              </a:rPr>
              <a:t> </a:t>
            </a:r>
            <a:r>
              <a:rPr spc="390" dirty="0">
                <a:solidFill>
                  <a:srgbClr val="29266D"/>
                </a:solidFill>
              </a:rPr>
              <a:t>ADDRESSED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70120" y="2001299"/>
            <a:ext cx="10451465" cy="5681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9915" marR="3092450" indent="-509905">
              <a:lnSpc>
                <a:spcPct val="157400"/>
              </a:lnSpc>
              <a:spcBef>
                <a:spcPts val="100"/>
              </a:spcBef>
            </a:pPr>
            <a:r>
              <a:rPr sz="2700" spc="-195" dirty="0">
                <a:solidFill>
                  <a:srgbClr val="006117"/>
                </a:solidFill>
                <a:latin typeface="Verdana"/>
                <a:cs typeface="Verdana"/>
              </a:rPr>
              <a:t>Proposed</a:t>
            </a:r>
            <a:r>
              <a:rPr sz="2700" spc="-37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175" dirty="0">
                <a:solidFill>
                  <a:srgbClr val="006117"/>
                </a:solidFill>
                <a:latin typeface="Verdana"/>
                <a:cs typeface="Verdana"/>
              </a:rPr>
              <a:t>Solution</a:t>
            </a:r>
            <a:r>
              <a:rPr sz="2700" spc="-37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006117"/>
                </a:solidFill>
                <a:latin typeface="Verdana"/>
                <a:cs typeface="Verdana"/>
              </a:rPr>
              <a:t>(Milk</a:t>
            </a:r>
            <a:r>
              <a:rPr sz="2700" spc="-37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135" dirty="0">
                <a:solidFill>
                  <a:srgbClr val="006117"/>
                </a:solidFill>
                <a:latin typeface="Verdana"/>
                <a:cs typeface="Verdana"/>
              </a:rPr>
              <a:t>Prediction</a:t>
            </a:r>
            <a:r>
              <a:rPr sz="2700" spc="-37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270" dirty="0">
                <a:solidFill>
                  <a:srgbClr val="006117"/>
                </a:solidFill>
                <a:latin typeface="Verdana"/>
                <a:cs typeface="Verdana"/>
              </a:rPr>
              <a:t>Component): </a:t>
            </a:r>
            <a:r>
              <a:rPr sz="2700" spc="-95" dirty="0">
                <a:latin typeface="Verdana"/>
                <a:cs typeface="Verdana"/>
              </a:rPr>
              <a:t>Multi-</a:t>
            </a:r>
            <a:r>
              <a:rPr sz="2700" spc="-204" dirty="0">
                <a:latin typeface="Verdana"/>
                <a:cs typeface="Verdana"/>
              </a:rPr>
              <a:t>modal</a:t>
            </a:r>
            <a:r>
              <a:rPr sz="2700" spc="-375" dirty="0">
                <a:latin typeface="Verdana"/>
                <a:cs typeface="Verdana"/>
              </a:rPr>
              <a:t> </a:t>
            </a:r>
            <a:r>
              <a:rPr sz="2700" spc="-204" dirty="0">
                <a:latin typeface="Verdana"/>
                <a:cs typeface="Verdana"/>
              </a:rPr>
              <a:t>data</a:t>
            </a:r>
            <a:r>
              <a:rPr sz="2700" spc="-370" dirty="0">
                <a:latin typeface="Verdana"/>
                <a:cs typeface="Verdana"/>
              </a:rPr>
              <a:t> </a:t>
            </a:r>
            <a:r>
              <a:rPr sz="2700" spc="-155" dirty="0">
                <a:latin typeface="Verdana"/>
                <a:cs typeface="Verdana"/>
              </a:rPr>
              <a:t>fusion</a:t>
            </a:r>
            <a:r>
              <a:rPr sz="2700" spc="-370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(production,</a:t>
            </a:r>
            <a:r>
              <a:rPr sz="2700" spc="-370" dirty="0">
                <a:latin typeface="Verdana"/>
                <a:cs typeface="Verdana"/>
              </a:rPr>
              <a:t> </a:t>
            </a:r>
            <a:r>
              <a:rPr sz="2700" spc="-105" dirty="0">
                <a:latin typeface="Verdana"/>
                <a:cs typeface="Verdana"/>
              </a:rPr>
              <a:t>pricing)</a:t>
            </a:r>
            <a:endParaRPr sz="2700">
              <a:latin typeface="Verdana"/>
              <a:cs typeface="Verdana"/>
            </a:endParaRPr>
          </a:p>
          <a:p>
            <a:pPr marL="584200">
              <a:lnSpc>
                <a:spcPct val="100000"/>
              </a:lnSpc>
              <a:spcBef>
                <a:spcPts val="1425"/>
              </a:spcBef>
            </a:pPr>
            <a:r>
              <a:rPr sz="2700" spc="-175" dirty="0">
                <a:latin typeface="Verdana"/>
                <a:cs typeface="Verdana"/>
              </a:rPr>
              <a:t>Real-</a:t>
            </a:r>
            <a:r>
              <a:rPr sz="2700" spc="-150" dirty="0">
                <a:latin typeface="Verdana"/>
                <a:cs typeface="Verdana"/>
              </a:rPr>
              <a:t>time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215" dirty="0">
                <a:latin typeface="Verdana"/>
                <a:cs typeface="Verdana"/>
              </a:rPr>
              <a:t>market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204" dirty="0">
                <a:latin typeface="Verdana"/>
                <a:cs typeface="Verdana"/>
              </a:rPr>
              <a:t>data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collection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170" dirty="0">
                <a:latin typeface="Verdana"/>
                <a:cs typeface="Verdana"/>
              </a:rPr>
              <a:t>from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75" dirty="0">
                <a:latin typeface="Verdana"/>
                <a:cs typeface="Verdana"/>
              </a:rPr>
              <a:t>industry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20" dirty="0">
                <a:latin typeface="Verdana"/>
                <a:cs typeface="Verdana"/>
              </a:rPr>
              <a:t>sources</a:t>
            </a:r>
            <a:endParaRPr sz="2700">
              <a:latin typeface="Verdana"/>
              <a:cs typeface="Verdana"/>
            </a:endParaRPr>
          </a:p>
          <a:p>
            <a:pPr marL="589915">
              <a:lnSpc>
                <a:spcPct val="100000"/>
              </a:lnSpc>
              <a:spcBef>
                <a:spcPts val="1475"/>
              </a:spcBef>
            </a:pPr>
            <a:r>
              <a:rPr sz="2700" spc="-135" dirty="0">
                <a:latin typeface="Verdana"/>
                <a:cs typeface="Verdana"/>
              </a:rPr>
              <a:t>Prediction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260" dirty="0">
                <a:latin typeface="Verdana"/>
                <a:cs typeface="Verdana"/>
              </a:rPr>
              <a:t>Engine: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440" dirty="0">
                <a:latin typeface="Verdana"/>
                <a:cs typeface="Verdana"/>
              </a:rPr>
              <a:t>1-</a:t>
            </a:r>
            <a:r>
              <a:rPr sz="2700" spc="-190" dirty="0">
                <a:latin typeface="Verdana"/>
                <a:cs typeface="Verdana"/>
              </a:rPr>
              <a:t>month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160" dirty="0">
                <a:latin typeface="Verdana"/>
                <a:cs typeface="Verdana"/>
              </a:rPr>
              <a:t>forecasting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14" dirty="0">
                <a:latin typeface="Verdana"/>
                <a:cs typeface="Verdana"/>
              </a:rPr>
              <a:t>for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200" dirty="0">
                <a:latin typeface="Verdana"/>
                <a:cs typeface="Verdana"/>
              </a:rPr>
              <a:t>farmers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and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60" dirty="0">
                <a:latin typeface="Verdana"/>
                <a:cs typeface="Verdana"/>
              </a:rPr>
              <a:t>businesses</a:t>
            </a:r>
            <a:endParaRPr sz="2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55"/>
              </a:spcBef>
            </a:pPr>
            <a:endParaRPr sz="2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700" spc="-235" dirty="0">
                <a:solidFill>
                  <a:srgbClr val="006117"/>
                </a:solidFill>
                <a:latin typeface="Verdana"/>
                <a:cs typeface="Verdana"/>
              </a:rPr>
              <a:t>User</a:t>
            </a:r>
            <a:r>
              <a:rPr sz="2700" spc="-36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204" dirty="0">
                <a:solidFill>
                  <a:srgbClr val="006117"/>
                </a:solidFill>
                <a:latin typeface="Verdana"/>
                <a:cs typeface="Verdana"/>
              </a:rPr>
              <a:t>Requirements</a:t>
            </a:r>
            <a:r>
              <a:rPr sz="2700" spc="-36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270" dirty="0">
                <a:solidFill>
                  <a:srgbClr val="006117"/>
                </a:solidFill>
                <a:latin typeface="Verdana"/>
                <a:cs typeface="Verdana"/>
              </a:rPr>
              <a:t>Addressed:</a:t>
            </a:r>
            <a:endParaRPr sz="2700">
              <a:latin typeface="Verdana"/>
              <a:cs typeface="Verdana"/>
            </a:endParaRPr>
          </a:p>
          <a:p>
            <a:pPr marL="1003300" marR="40005">
              <a:lnSpc>
                <a:spcPct val="145800"/>
              </a:lnSpc>
              <a:spcBef>
                <a:spcPts val="1200"/>
              </a:spcBef>
            </a:pPr>
            <a:r>
              <a:rPr sz="2700" spc="-215" dirty="0">
                <a:latin typeface="Verdana"/>
                <a:cs typeface="Verdana"/>
              </a:rPr>
              <a:t>For</a:t>
            </a:r>
            <a:r>
              <a:rPr sz="2700" spc="-409" dirty="0">
                <a:latin typeface="Verdana"/>
                <a:cs typeface="Verdana"/>
              </a:rPr>
              <a:t> </a:t>
            </a:r>
            <a:r>
              <a:rPr sz="2700" spc="-290" dirty="0">
                <a:latin typeface="Verdana"/>
                <a:cs typeface="Verdana"/>
              </a:rPr>
              <a:t>Farmers:</a:t>
            </a:r>
            <a:r>
              <a:rPr sz="2700" spc="-409" dirty="0">
                <a:latin typeface="Verdana"/>
                <a:cs typeface="Verdana"/>
              </a:rPr>
              <a:t> </a:t>
            </a:r>
            <a:r>
              <a:rPr sz="2700" spc="-165" dirty="0">
                <a:latin typeface="Verdana"/>
                <a:cs typeface="Verdana"/>
              </a:rPr>
              <a:t>Better</a:t>
            </a:r>
            <a:r>
              <a:rPr sz="2700" spc="-409" dirty="0">
                <a:latin typeface="Verdana"/>
                <a:cs typeface="Verdana"/>
              </a:rPr>
              <a:t> </a:t>
            </a:r>
            <a:r>
              <a:rPr sz="2700" spc="-165" dirty="0">
                <a:latin typeface="Verdana"/>
                <a:cs typeface="Verdana"/>
              </a:rPr>
              <a:t>planning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315" dirty="0">
                <a:latin typeface="Verdana"/>
                <a:cs typeface="Verdana"/>
              </a:rPr>
              <a:t>&amp;</a:t>
            </a:r>
            <a:r>
              <a:rPr sz="2700" spc="-409" dirty="0">
                <a:latin typeface="Verdana"/>
                <a:cs typeface="Verdana"/>
              </a:rPr>
              <a:t> </a:t>
            </a:r>
            <a:r>
              <a:rPr sz="2700" spc="-155" dirty="0">
                <a:latin typeface="Verdana"/>
                <a:cs typeface="Verdana"/>
              </a:rPr>
              <a:t>optimized</a:t>
            </a:r>
            <a:r>
              <a:rPr sz="2700" spc="-409" dirty="0">
                <a:latin typeface="Verdana"/>
                <a:cs typeface="Verdana"/>
              </a:rPr>
              <a:t> </a:t>
            </a:r>
            <a:r>
              <a:rPr sz="2700" spc="-170" dirty="0">
                <a:latin typeface="Verdana"/>
                <a:cs typeface="Verdana"/>
              </a:rPr>
              <a:t>product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25" dirty="0">
                <a:latin typeface="Verdana"/>
                <a:cs typeface="Verdana"/>
              </a:rPr>
              <a:t>mix</a:t>
            </a:r>
            <a:r>
              <a:rPr sz="2700" spc="-409" dirty="0">
                <a:latin typeface="Verdana"/>
                <a:cs typeface="Verdana"/>
              </a:rPr>
              <a:t> </a:t>
            </a:r>
            <a:r>
              <a:rPr sz="2700" spc="-110" dirty="0">
                <a:latin typeface="Verdana"/>
                <a:cs typeface="Verdana"/>
              </a:rPr>
              <a:t>decisions </a:t>
            </a:r>
            <a:r>
              <a:rPr sz="2700" spc="-215" dirty="0">
                <a:latin typeface="Verdana"/>
                <a:cs typeface="Verdana"/>
              </a:rPr>
              <a:t>For</a:t>
            </a:r>
            <a:r>
              <a:rPr sz="2700" spc="-409" dirty="0">
                <a:latin typeface="Verdana"/>
                <a:cs typeface="Verdana"/>
              </a:rPr>
              <a:t> </a:t>
            </a:r>
            <a:r>
              <a:rPr sz="2700" spc="-260" dirty="0">
                <a:latin typeface="Verdana"/>
                <a:cs typeface="Verdana"/>
              </a:rPr>
              <a:t>Businesses: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Competitive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advantage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315" dirty="0">
                <a:latin typeface="Verdana"/>
                <a:cs typeface="Verdana"/>
              </a:rPr>
              <a:t>&amp;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55" dirty="0">
                <a:latin typeface="Verdana"/>
                <a:cs typeface="Verdana"/>
              </a:rPr>
              <a:t>risk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05" dirty="0">
                <a:latin typeface="Verdana"/>
                <a:cs typeface="Verdana"/>
              </a:rPr>
              <a:t>management</a:t>
            </a:r>
            <a:endParaRPr sz="2700">
              <a:latin typeface="Verdana"/>
              <a:cs typeface="Verdana"/>
            </a:endParaRPr>
          </a:p>
          <a:p>
            <a:pPr marL="1003300">
              <a:lnSpc>
                <a:spcPct val="100000"/>
              </a:lnSpc>
              <a:spcBef>
                <a:spcPts val="1985"/>
              </a:spcBef>
            </a:pPr>
            <a:r>
              <a:rPr sz="2700" spc="-215" dirty="0">
                <a:latin typeface="Verdana"/>
                <a:cs typeface="Verdana"/>
              </a:rPr>
              <a:t>For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275" dirty="0">
                <a:latin typeface="Verdana"/>
                <a:cs typeface="Verdana"/>
              </a:rPr>
              <a:t>Industry: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200" dirty="0">
                <a:latin typeface="Verdana"/>
                <a:cs typeface="Verdana"/>
              </a:rPr>
              <a:t>Market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stability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315" dirty="0">
                <a:latin typeface="Verdana"/>
                <a:cs typeface="Verdana"/>
              </a:rPr>
              <a:t>&amp;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165" dirty="0">
                <a:latin typeface="Verdana"/>
                <a:cs typeface="Verdana"/>
              </a:rPr>
              <a:t>informed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40" dirty="0">
                <a:latin typeface="Verdana"/>
                <a:cs typeface="Verdana"/>
              </a:rPr>
              <a:t>decision-</a:t>
            </a:r>
            <a:r>
              <a:rPr sz="2700" spc="-10" dirty="0">
                <a:latin typeface="Verdana"/>
                <a:cs typeface="Verdana"/>
              </a:rPr>
              <a:t>making</a:t>
            </a:r>
            <a:endParaRPr sz="2700">
              <a:latin typeface="Verdana"/>
              <a:cs typeface="Verdana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2F0341F-81B8-CFE7-E19D-E0E04EEF2A07}"/>
              </a:ext>
            </a:extLst>
          </p:cNvPr>
          <p:cNvGrpSpPr/>
          <p:nvPr/>
        </p:nvGrpSpPr>
        <p:grpSpPr>
          <a:xfrm>
            <a:off x="4019022" y="9765016"/>
            <a:ext cx="8172978" cy="464820"/>
            <a:chOff x="4019022" y="9765016"/>
            <a:chExt cx="8172978" cy="464820"/>
          </a:xfrm>
        </p:grpSpPr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1DC33B89-0E27-4BFC-2A92-87CD067FC348}"/>
                </a:ext>
              </a:extLst>
            </p:cNvPr>
            <p:cNvSpPr txBox="1"/>
            <p:nvPr/>
          </p:nvSpPr>
          <p:spPr>
            <a:xfrm>
              <a:off x="4019022" y="9765016"/>
              <a:ext cx="2009139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310" dirty="0">
                  <a:latin typeface="Verdana"/>
                  <a:cs typeface="Verdana"/>
                </a:rPr>
                <a:t>IT221</a:t>
              </a:r>
              <a:r>
                <a:rPr lang="en-US" sz="2700" spc="-310" dirty="0">
                  <a:latin typeface="Verdana"/>
                  <a:cs typeface="Verdana"/>
                </a:rPr>
                <a:t>34608</a:t>
              </a:r>
              <a:r>
                <a:rPr sz="2700" spc="80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CAB52DEA-BA48-297B-8C51-52BDD5FF73E6}"/>
                </a:ext>
              </a:extLst>
            </p:cNvPr>
            <p:cNvSpPr txBox="1"/>
            <p:nvPr/>
          </p:nvSpPr>
          <p:spPr>
            <a:xfrm>
              <a:off x="6198015" y="9765016"/>
              <a:ext cx="3098385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60" dirty="0" err="1">
                  <a:latin typeface="Verdana"/>
                  <a:cs typeface="Verdana"/>
                </a:rPr>
                <a:t>Arachchi</a:t>
              </a:r>
              <a:r>
                <a:rPr lang="en-US" sz="2700" spc="-260" dirty="0">
                  <a:latin typeface="Verdana"/>
                  <a:cs typeface="Verdana"/>
                </a:rPr>
                <a:t> W.A.A.I.W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497CEFAC-BB2A-9CE4-2B5A-FB60C17C88DD}"/>
                </a:ext>
              </a:extLst>
            </p:cNvPr>
            <p:cNvSpPr txBox="1"/>
            <p:nvPr/>
          </p:nvSpPr>
          <p:spPr>
            <a:xfrm>
              <a:off x="9509760" y="9765016"/>
              <a:ext cx="167640" cy="4648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55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135D57E3-4562-6E30-2FB4-F3C237CB4AD6}"/>
                </a:ext>
              </a:extLst>
            </p:cNvPr>
            <p:cNvSpPr txBox="1"/>
            <p:nvPr/>
          </p:nvSpPr>
          <p:spPr>
            <a:xfrm>
              <a:off x="9741166" y="9765016"/>
              <a:ext cx="2450834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>
                  <a:latin typeface="Verdana"/>
                  <a:cs typeface="Verdana"/>
                </a:rPr>
                <a:t>R26 – IT - 093</a:t>
              </a:r>
              <a:endParaRPr sz="2700" dirty="0">
                <a:latin typeface="Verdana"/>
                <a:cs typeface="Verdana"/>
              </a:endParaRPr>
            </a:p>
          </p:txBody>
        </p:sp>
      </p:grpSp>
      <p:sp>
        <p:nvSpPr>
          <p:cNvPr id="21" name="object 11">
            <a:extLst>
              <a:ext uri="{FF2B5EF4-FFF2-40B4-BE49-F238E27FC236}">
                <a16:creationId xmlns:a16="http://schemas.microsoft.com/office/drawing/2014/main" id="{43A2C498-C332-F57B-D06B-AAB3ED635E2F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0FE469-C882-DABE-BE9E-1153F472FF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586740"/>
            <a:ext cx="3553129" cy="727043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F407850-4A15-7B45-A35B-9BD4CE6942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picture containing photo, table, person, monitor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0637" y="3079382"/>
            <a:ext cx="237735" cy="2375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0637" y="3661960"/>
            <a:ext cx="237735" cy="2375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09089" y="2189594"/>
            <a:ext cx="4766945" cy="1772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9765" marR="149860" indent="-647700">
              <a:lnSpc>
                <a:spcPct val="142700"/>
              </a:lnSpc>
              <a:spcBef>
                <a:spcPts val="100"/>
              </a:spcBef>
            </a:pPr>
            <a:r>
              <a:rPr sz="2700" spc="-225" dirty="0">
                <a:solidFill>
                  <a:srgbClr val="006117"/>
                </a:solidFill>
                <a:latin typeface="Verdana"/>
                <a:cs typeface="Verdana"/>
              </a:rPr>
              <a:t>Design</a:t>
            </a:r>
            <a:r>
              <a:rPr sz="2700" spc="-39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95" dirty="0">
                <a:solidFill>
                  <a:srgbClr val="006117"/>
                </a:solidFill>
                <a:latin typeface="Verdana"/>
                <a:cs typeface="Verdana"/>
              </a:rPr>
              <a:t>Excellence </a:t>
            </a:r>
            <a:r>
              <a:rPr sz="2700" spc="-200" dirty="0">
                <a:latin typeface="Verdana"/>
                <a:cs typeface="Verdana"/>
              </a:rPr>
              <a:t>Performance</a:t>
            </a:r>
            <a:r>
              <a:rPr sz="2700" spc="-335" dirty="0">
                <a:latin typeface="Verdana"/>
                <a:cs typeface="Verdana"/>
              </a:rPr>
              <a:t> </a:t>
            </a:r>
            <a:r>
              <a:rPr sz="2700" spc="-145" dirty="0">
                <a:latin typeface="Verdana"/>
                <a:cs typeface="Verdana"/>
              </a:rPr>
              <a:t>Optimization</a:t>
            </a:r>
            <a:endParaRPr sz="2700">
              <a:latin typeface="Verdana"/>
              <a:cs typeface="Verdana"/>
            </a:endParaRPr>
          </a:p>
          <a:p>
            <a:pPr marL="680085">
              <a:lnSpc>
                <a:spcPct val="100000"/>
              </a:lnSpc>
              <a:spcBef>
                <a:spcPts val="1260"/>
              </a:spcBef>
            </a:pPr>
            <a:r>
              <a:rPr sz="2700" spc="-245" dirty="0">
                <a:latin typeface="Verdana"/>
                <a:cs typeface="Verdana"/>
              </a:rPr>
              <a:t>Community</a:t>
            </a:r>
            <a:r>
              <a:rPr sz="2700" spc="-409" dirty="0">
                <a:latin typeface="Verdana"/>
                <a:cs typeface="Verdana"/>
              </a:rPr>
              <a:t> </a:t>
            </a:r>
            <a:r>
              <a:rPr sz="2700" spc="-315" dirty="0">
                <a:latin typeface="Verdana"/>
                <a:cs typeface="Verdana"/>
              </a:rPr>
              <a:t>&amp;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50" dirty="0">
                <a:latin typeface="Verdana"/>
                <a:cs typeface="Verdana"/>
              </a:rPr>
              <a:t>Collaboration</a:t>
            </a:r>
            <a:endParaRPr sz="27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61721" y="3079382"/>
            <a:ext cx="237735" cy="2375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61721" y="3661960"/>
            <a:ext cx="237735" cy="2375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1929" y="6579191"/>
            <a:ext cx="237735" cy="2375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1929" y="5868759"/>
            <a:ext cx="237735" cy="2375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1929" y="7253914"/>
            <a:ext cx="237735" cy="23750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1929" y="7884850"/>
            <a:ext cx="237735" cy="2375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75607" y="5539492"/>
            <a:ext cx="4388059" cy="2813601"/>
          </a:xfrm>
          <a:prstGeom prst="rect">
            <a:avLst/>
          </a:prstGeom>
        </p:spPr>
      </p:pic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2671729" y="971371"/>
            <a:ext cx="12797155" cy="708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35" dirty="0">
                <a:solidFill>
                  <a:srgbClr val="29266D"/>
                </a:solidFill>
              </a:rPr>
              <a:t>DESIGN</a:t>
            </a:r>
            <a:r>
              <a:rPr spc="-509" dirty="0">
                <a:solidFill>
                  <a:srgbClr val="29266D"/>
                </a:solidFill>
              </a:rPr>
              <a:t> </a:t>
            </a:r>
            <a:r>
              <a:rPr spc="225" dirty="0">
                <a:solidFill>
                  <a:srgbClr val="29266D"/>
                </a:solidFill>
              </a:rPr>
              <a:t>CONTRIBUTION</a:t>
            </a:r>
            <a:r>
              <a:rPr spc="-505" dirty="0">
                <a:solidFill>
                  <a:srgbClr val="29266D"/>
                </a:solidFill>
              </a:rPr>
              <a:t> </a:t>
            </a:r>
            <a:r>
              <a:rPr spc="290" dirty="0">
                <a:solidFill>
                  <a:srgbClr val="29266D"/>
                </a:solidFill>
              </a:rPr>
              <a:t>AND</a:t>
            </a:r>
            <a:r>
              <a:rPr spc="-505" dirty="0">
                <a:solidFill>
                  <a:srgbClr val="29266D"/>
                </a:solidFill>
              </a:rPr>
              <a:t> </a:t>
            </a:r>
            <a:r>
              <a:rPr spc="400" dirty="0">
                <a:solidFill>
                  <a:srgbClr val="29266D"/>
                </a:solidFill>
              </a:rPr>
              <a:t>USER</a:t>
            </a:r>
            <a:r>
              <a:rPr spc="-505" dirty="0">
                <a:solidFill>
                  <a:srgbClr val="29266D"/>
                </a:solidFill>
              </a:rPr>
              <a:t> </a:t>
            </a:r>
            <a:r>
              <a:rPr spc="330" dirty="0">
                <a:solidFill>
                  <a:srgbClr val="29266D"/>
                </a:solidFill>
              </a:rPr>
              <a:t>FEEDBACK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568679" y="2792869"/>
            <a:ext cx="3564254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">
              <a:lnSpc>
                <a:spcPct val="138900"/>
              </a:lnSpc>
              <a:spcBef>
                <a:spcPts val="100"/>
              </a:spcBef>
            </a:pPr>
            <a:r>
              <a:rPr sz="2700" spc="-125" dirty="0">
                <a:latin typeface="Verdana"/>
                <a:cs typeface="Verdana"/>
              </a:rPr>
              <a:t>Mobile-</a:t>
            </a:r>
            <a:r>
              <a:rPr sz="2700" spc="-145" dirty="0">
                <a:latin typeface="Verdana"/>
                <a:cs typeface="Verdana"/>
              </a:rPr>
              <a:t>First</a:t>
            </a:r>
            <a:r>
              <a:rPr sz="2700" spc="-335" dirty="0">
                <a:latin typeface="Verdana"/>
                <a:cs typeface="Verdana"/>
              </a:rPr>
              <a:t> </a:t>
            </a:r>
            <a:r>
              <a:rPr sz="2700" spc="-45" dirty="0">
                <a:latin typeface="Verdana"/>
                <a:cs typeface="Verdana"/>
              </a:rPr>
              <a:t>Design </a:t>
            </a:r>
            <a:r>
              <a:rPr sz="2700" spc="-190" dirty="0">
                <a:latin typeface="Verdana"/>
                <a:cs typeface="Verdana"/>
              </a:rPr>
              <a:t>User-</a:t>
            </a:r>
            <a:r>
              <a:rPr sz="2700" spc="-140" dirty="0">
                <a:latin typeface="Verdana"/>
                <a:cs typeface="Verdana"/>
              </a:rPr>
              <a:t>friendly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315" dirty="0">
                <a:latin typeface="Verdana"/>
                <a:cs typeface="Verdana"/>
              </a:rPr>
              <a:t>&amp;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165" dirty="0">
                <a:latin typeface="Verdana"/>
                <a:cs typeface="Verdana"/>
              </a:rPr>
              <a:t>scalable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3484" y="4875491"/>
            <a:ext cx="12000865" cy="3757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35" dirty="0">
                <a:solidFill>
                  <a:srgbClr val="006117"/>
                </a:solidFill>
                <a:latin typeface="Verdana"/>
                <a:cs typeface="Verdana"/>
              </a:rPr>
              <a:t>User</a:t>
            </a:r>
            <a:r>
              <a:rPr sz="2700" spc="-40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240" dirty="0">
                <a:solidFill>
                  <a:srgbClr val="006117"/>
                </a:solidFill>
                <a:latin typeface="Verdana"/>
                <a:cs typeface="Verdana"/>
              </a:rPr>
              <a:t>Feedback</a:t>
            </a:r>
            <a:r>
              <a:rPr sz="2700" spc="-40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200" dirty="0">
                <a:solidFill>
                  <a:srgbClr val="006117"/>
                </a:solidFill>
                <a:latin typeface="Verdana"/>
                <a:cs typeface="Verdana"/>
              </a:rPr>
              <a:t>on</a:t>
            </a:r>
            <a:r>
              <a:rPr sz="2700" spc="-40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95" dirty="0">
                <a:solidFill>
                  <a:srgbClr val="006117"/>
                </a:solidFill>
                <a:latin typeface="Verdana"/>
                <a:cs typeface="Verdana"/>
              </a:rPr>
              <a:t>Prototype:</a:t>
            </a:r>
            <a:endParaRPr sz="2700">
              <a:latin typeface="Verdana"/>
              <a:cs typeface="Verdana"/>
            </a:endParaRPr>
          </a:p>
          <a:p>
            <a:pPr marL="962025" marR="1414780" indent="23495">
              <a:lnSpc>
                <a:spcPct val="166000"/>
              </a:lnSpc>
              <a:spcBef>
                <a:spcPts val="1445"/>
              </a:spcBef>
            </a:pPr>
            <a:r>
              <a:rPr sz="2700" spc="-175" dirty="0">
                <a:latin typeface="Verdana"/>
                <a:cs typeface="Verdana"/>
              </a:rPr>
              <a:t>Real-</a:t>
            </a:r>
            <a:r>
              <a:rPr sz="2700" spc="-150" dirty="0">
                <a:latin typeface="Verdana"/>
                <a:cs typeface="Verdana"/>
              </a:rPr>
              <a:t>time</a:t>
            </a:r>
            <a:r>
              <a:rPr sz="2700" spc="-420" dirty="0">
                <a:latin typeface="Verdana"/>
                <a:cs typeface="Verdana"/>
              </a:rPr>
              <a:t> </a:t>
            </a:r>
            <a:r>
              <a:rPr sz="2700" spc="-270" dirty="0">
                <a:latin typeface="Verdana"/>
                <a:cs typeface="Verdana"/>
              </a:rPr>
              <a:t>Data</a:t>
            </a:r>
            <a:r>
              <a:rPr sz="2700" spc="-420" dirty="0">
                <a:latin typeface="Verdana"/>
                <a:cs typeface="Verdana"/>
              </a:rPr>
              <a:t> </a:t>
            </a:r>
            <a:r>
              <a:rPr sz="2700" spc="-135" dirty="0">
                <a:latin typeface="Verdana"/>
                <a:cs typeface="Verdana"/>
              </a:rPr>
              <a:t>Collection</a:t>
            </a:r>
            <a:r>
              <a:rPr sz="2700" spc="114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20" dirty="0">
                <a:latin typeface="Verdana"/>
                <a:cs typeface="Verdana"/>
              </a:rPr>
              <a:t> </a:t>
            </a:r>
            <a:r>
              <a:rPr sz="2700" spc="-210" dirty="0">
                <a:latin typeface="Verdana"/>
                <a:cs typeface="Verdana"/>
              </a:rPr>
              <a:t>Continuous</a:t>
            </a:r>
            <a:r>
              <a:rPr sz="2700" spc="-420" dirty="0">
                <a:latin typeface="Verdana"/>
                <a:cs typeface="Verdana"/>
              </a:rPr>
              <a:t> </a:t>
            </a:r>
            <a:r>
              <a:rPr sz="2700" spc="-200" dirty="0">
                <a:latin typeface="Verdana"/>
                <a:cs typeface="Verdana"/>
              </a:rPr>
              <a:t>performance</a:t>
            </a:r>
            <a:r>
              <a:rPr sz="2700" spc="-420" dirty="0">
                <a:latin typeface="Verdana"/>
                <a:cs typeface="Verdana"/>
              </a:rPr>
              <a:t> </a:t>
            </a:r>
            <a:r>
              <a:rPr sz="2700" spc="-110" dirty="0">
                <a:latin typeface="Verdana"/>
                <a:cs typeface="Verdana"/>
              </a:rPr>
              <a:t>monitoring </a:t>
            </a:r>
            <a:r>
              <a:rPr sz="2700" spc="-270" dirty="0">
                <a:latin typeface="Verdana"/>
                <a:cs typeface="Verdana"/>
              </a:rPr>
              <a:t>Data</a:t>
            </a:r>
            <a:r>
              <a:rPr sz="2700" spc="-409" dirty="0">
                <a:latin typeface="Verdana"/>
                <a:cs typeface="Verdana"/>
              </a:rPr>
              <a:t> </a:t>
            </a:r>
            <a:r>
              <a:rPr sz="2700" spc="-155" dirty="0">
                <a:latin typeface="Verdana"/>
                <a:cs typeface="Verdana"/>
              </a:rPr>
              <a:t>Collection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–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70" dirty="0">
                <a:latin typeface="Verdana"/>
                <a:cs typeface="Verdana"/>
              </a:rPr>
              <a:t>Farm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04" dirty="0">
                <a:latin typeface="Verdana"/>
                <a:cs typeface="Verdana"/>
              </a:rPr>
              <a:t>data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and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95" dirty="0">
                <a:latin typeface="Verdana"/>
                <a:cs typeface="Verdana"/>
              </a:rPr>
              <a:t>farmer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inputs.</a:t>
            </a:r>
            <a:endParaRPr sz="2700">
              <a:latin typeface="Verdana"/>
              <a:cs typeface="Verdana"/>
            </a:endParaRPr>
          </a:p>
          <a:p>
            <a:pPr marL="962025">
              <a:lnSpc>
                <a:spcPct val="100000"/>
              </a:lnSpc>
              <a:spcBef>
                <a:spcPts val="2235"/>
              </a:spcBef>
            </a:pPr>
            <a:r>
              <a:rPr sz="2700" spc="-270" dirty="0">
                <a:latin typeface="Verdana"/>
                <a:cs typeface="Verdana"/>
              </a:rPr>
              <a:t>Data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85" dirty="0">
                <a:latin typeface="Verdana"/>
                <a:cs typeface="Verdana"/>
              </a:rPr>
              <a:t>Quality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40" dirty="0">
                <a:latin typeface="Verdana"/>
                <a:cs typeface="Verdana"/>
              </a:rPr>
              <a:t>Assessment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dirty="0">
                <a:latin typeface="Verdana"/>
                <a:cs typeface="Verdana"/>
              </a:rPr>
              <a:t>-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60" dirty="0">
                <a:latin typeface="Verdana"/>
                <a:cs typeface="Verdana"/>
              </a:rPr>
              <a:t>Validation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00" dirty="0">
                <a:latin typeface="Verdana"/>
                <a:cs typeface="Verdana"/>
              </a:rPr>
              <a:t>of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40" dirty="0">
                <a:latin typeface="Verdana"/>
                <a:cs typeface="Verdana"/>
              </a:rPr>
              <a:t>input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04" dirty="0">
                <a:latin typeface="Verdana"/>
                <a:cs typeface="Verdana"/>
              </a:rPr>
              <a:t>data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215" dirty="0">
                <a:latin typeface="Verdana"/>
                <a:cs typeface="Verdana"/>
              </a:rPr>
              <a:t>sources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and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60" dirty="0">
                <a:latin typeface="Verdana"/>
                <a:cs typeface="Verdana"/>
              </a:rPr>
              <a:t>accuracy</a:t>
            </a:r>
            <a:endParaRPr sz="2700">
              <a:latin typeface="Verdana"/>
              <a:cs typeface="Verdana"/>
            </a:endParaRPr>
          </a:p>
          <a:p>
            <a:pPr marL="920750">
              <a:lnSpc>
                <a:spcPts val="3229"/>
              </a:lnSpc>
              <a:spcBef>
                <a:spcPts val="2000"/>
              </a:spcBef>
            </a:pPr>
            <a:r>
              <a:rPr sz="2700" spc="-235" dirty="0">
                <a:latin typeface="Verdana"/>
                <a:cs typeface="Verdana"/>
              </a:rPr>
              <a:t>Suggested</a:t>
            </a:r>
            <a:r>
              <a:rPr sz="2700" spc="-390" dirty="0">
                <a:latin typeface="Verdana"/>
                <a:cs typeface="Verdana"/>
              </a:rPr>
              <a:t> </a:t>
            </a:r>
            <a:r>
              <a:rPr sz="2700" spc="-195" dirty="0">
                <a:latin typeface="Verdana"/>
                <a:cs typeface="Verdana"/>
              </a:rPr>
              <a:t>improvements-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170" dirty="0">
                <a:latin typeface="Verdana"/>
                <a:cs typeface="Verdana"/>
              </a:rPr>
              <a:t>Allow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145" dirty="0">
                <a:latin typeface="Verdana"/>
                <a:cs typeface="Verdana"/>
              </a:rPr>
              <a:t>predictions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and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165" dirty="0">
                <a:latin typeface="Verdana"/>
                <a:cs typeface="Verdana"/>
              </a:rPr>
              <a:t>reports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110" dirty="0">
                <a:latin typeface="Verdana"/>
                <a:cs typeface="Verdana"/>
              </a:rPr>
              <a:t>to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204" dirty="0">
                <a:latin typeface="Verdana"/>
                <a:cs typeface="Verdana"/>
              </a:rPr>
              <a:t>be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accessed</a:t>
            </a:r>
            <a:r>
              <a:rPr sz="2700" spc="-385" dirty="0">
                <a:latin typeface="Verdana"/>
                <a:cs typeface="Verdana"/>
              </a:rPr>
              <a:t> </a:t>
            </a:r>
            <a:r>
              <a:rPr sz="2700" spc="-25" dirty="0">
                <a:latin typeface="Verdana"/>
                <a:cs typeface="Verdana"/>
              </a:rPr>
              <a:t>on</a:t>
            </a:r>
            <a:endParaRPr sz="2700">
              <a:latin typeface="Verdana"/>
              <a:cs typeface="Verdana"/>
            </a:endParaRPr>
          </a:p>
          <a:p>
            <a:pPr marL="4883785">
              <a:lnSpc>
                <a:spcPts val="3235"/>
              </a:lnSpc>
            </a:pPr>
            <a:r>
              <a:rPr sz="2700" spc="-125" dirty="0">
                <a:latin typeface="Verdana"/>
                <a:cs typeface="Verdana"/>
              </a:rPr>
              <a:t>low-</a:t>
            </a:r>
            <a:r>
              <a:rPr sz="2700" spc="-165" dirty="0">
                <a:latin typeface="Verdana"/>
                <a:cs typeface="Verdana"/>
              </a:rPr>
              <a:t>connectivity</a:t>
            </a:r>
            <a:r>
              <a:rPr sz="2700" spc="-360" dirty="0">
                <a:latin typeface="Verdana"/>
                <a:cs typeface="Verdana"/>
              </a:rPr>
              <a:t> </a:t>
            </a:r>
            <a:r>
              <a:rPr sz="2700" spc="-170" dirty="0">
                <a:latin typeface="Verdana"/>
                <a:cs typeface="Verdana"/>
              </a:rPr>
              <a:t>rural</a:t>
            </a:r>
            <a:r>
              <a:rPr sz="2700" spc="-36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networks..</a:t>
            </a:r>
            <a:endParaRPr sz="2700">
              <a:latin typeface="Verdana"/>
              <a:cs typeface="Verdana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126255-1729-AAFD-3AA7-B1AAAFF6E188}"/>
              </a:ext>
            </a:extLst>
          </p:cNvPr>
          <p:cNvGrpSpPr/>
          <p:nvPr/>
        </p:nvGrpSpPr>
        <p:grpSpPr>
          <a:xfrm>
            <a:off x="4019022" y="9765016"/>
            <a:ext cx="8172978" cy="464820"/>
            <a:chOff x="4019022" y="9765016"/>
            <a:chExt cx="8172978" cy="464820"/>
          </a:xfrm>
        </p:grpSpPr>
        <p:sp>
          <p:nvSpPr>
            <p:cNvPr id="20" name="object 16">
              <a:extLst>
                <a:ext uri="{FF2B5EF4-FFF2-40B4-BE49-F238E27FC236}">
                  <a16:creationId xmlns:a16="http://schemas.microsoft.com/office/drawing/2014/main" id="{FF225F23-7F3C-3DA2-2553-8D426345FB9C}"/>
                </a:ext>
              </a:extLst>
            </p:cNvPr>
            <p:cNvSpPr txBox="1"/>
            <p:nvPr/>
          </p:nvSpPr>
          <p:spPr>
            <a:xfrm>
              <a:off x="4019022" y="9765016"/>
              <a:ext cx="2009139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310" dirty="0">
                  <a:latin typeface="Verdana"/>
                  <a:cs typeface="Verdana"/>
                </a:rPr>
                <a:t>IT221</a:t>
              </a:r>
              <a:r>
                <a:rPr lang="en-US" sz="2700" spc="-310" dirty="0">
                  <a:latin typeface="Verdana"/>
                  <a:cs typeface="Verdana"/>
                </a:rPr>
                <a:t>34608</a:t>
              </a:r>
              <a:r>
                <a:rPr sz="2700" spc="80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1" name="object 17">
              <a:extLst>
                <a:ext uri="{FF2B5EF4-FFF2-40B4-BE49-F238E27FC236}">
                  <a16:creationId xmlns:a16="http://schemas.microsoft.com/office/drawing/2014/main" id="{C4F020F6-6DDA-10EE-747C-2FB3DCEBD774}"/>
                </a:ext>
              </a:extLst>
            </p:cNvPr>
            <p:cNvSpPr txBox="1"/>
            <p:nvPr/>
          </p:nvSpPr>
          <p:spPr>
            <a:xfrm>
              <a:off x="6198015" y="9765016"/>
              <a:ext cx="3098385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60" dirty="0" err="1">
                  <a:latin typeface="Verdana"/>
                  <a:cs typeface="Verdana"/>
                </a:rPr>
                <a:t>Arachchi</a:t>
              </a:r>
              <a:r>
                <a:rPr lang="en-US" sz="2700" spc="-260" dirty="0">
                  <a:latin typeface="Verdana"/>
                  <a:cs typeface="Verdana"/>
                </a:rPr>
                <a:t> W.A.A.I.W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2" name="object 18">
              <a:extLst>
                <a:ext uri="{FF2B5EF4-FFF2-40B4-BE49-F238E27FC236}">
                  <a16:creationId xmlns:a16="http://schemas.microsoft.com/office/drawing/2014/main" id="{C5719BDB-3339-2260-058C-DB8A7531F614}"/>
                </a:ext>
              </a:extLst>
            </p:cNvPr>
            <p:cNvSpPr txBox="1"/>
            <p:nvPr/>
          </p:nvSpPr>
          <p:spPr>
            <a:xfrm>
              <a:off x="9509760" y="9765016"/>
              <a:ext cx="167640" cy="4648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55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3" name="object 19">
              <a:extLst>
                <a:ext uri="{FF2B5EF4-FFF2-40B4-BE49-F238E27FC236}">
                  <a16:creationId xmlns:a16="http://schemas.microsoft.com/office/drawing/2014/main" id="{92324867-930D-F191-B852-BBAA1538CA70}"/>
                </a:ext>
              </a:extLst>
            </p:cNvPr>
            <p:cNvSpPr txBox="1"/>
            <p:nvPr/>
          </p:nvSpPr>
          <p:spPr>
            <a:xfrm>
              <a:off x="9741166" y="9765016"/>
              <a:ext cx="2450834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>
                  <a:latin typeface="Verdana"/>
                  <a:cs typeface="Verdana"/>
                </a:rPr>
                <a:t>R26 – IT - 093</a:t>
              </a:r>
              <a:endParaRPr sz="2700" dirty="0">
                <a:latin typeface="Verdana"/>
                <a:cs typeface="Verdana"/>
              </a:endParaRPr>
            </a:p>
          </p:txBody>
        </p:sp>
      </p:grpSp>
      <p:sp>
        <p:nvSpPr>
          <p:cNvPr id="24" name="object 11">
            <a:extLst>
              <a:ext uri="{FF2B5EF4-FFF2-40B4-BE49-F238E27FC236}">
                <a16:creationId xmlns:a16="http://schemas.microsoft.com/office/drawing/2014/main" id="{4B5D0A26-37E3-F8A1-C137-A44069F64475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B5F38A-61EF-E7AF-67AA-B6402F2FAE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586740"/>
            <a:ext cx="3553129" cy="7270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E5554FA-C747-0B43-6ECD-2A345E5B1D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589C600E-FC54-D3E2-4B80-C995EC8EE7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78087" y="11"/>
            <a:ext cx="3009900" cy="3467100"/>
          </a:xfrm>
          <a:custGeom>
            <a:avLst/>
            <a:gdLst/>
            <a:ahLst/>
            <a:cxnLst/>
            <a:rect l="l" t="t" r="r" b="b"/>
            <a:pathLst>
              <a:path w="3009900" h="3467100">
                <a:moveTo>
                  <a:pt x="3009900" y="19050"/>
                </a:moveTo>
                <a:lnTo>
                  <a:pt x="3008401" y="11645"/>
                </a:lnTo>
                <a:lnTo>
                  <a:pt x="3004312" y="5588"/>
                </a:lnTo>
                <a:lnTo>
                  <a:pt x="2998254" y="1498"/>
                </a:lnTo>
                <a:lnTo>
                  <a:pt x="2990850" y="0"/>
                </a:lnTo>
                <a:lnTo>
                  <a:pt x="19050" y="0"/>
                </a:lnTo>
                <a:lnTo>
                  <a:pt x="11658" y="1498"/>
                </a:lnTo>
                <a:lnTo>
                  <a:pt x="5600" y="5588"/>
                </a:lnTo>
                <a:lnTo>
                  <a:pt x="1511" y="11645"/>
                </a:lnTo>
                <a:lnTo>
                  <a:pt x="0" y="19050"/>
                </a:lnTo>
                <a:lnTo>
                  <a:pt x="0" y="3448050"/>
                </a:lnTo>
                <a:lnTo>
                  <a:pt x="1511" y="3455441"/>
                </a:lnTo>
                <a:lnTo>
                  <a:pt x="5600" y="3461499"/>
                </a:lnTo>
                <a:lnTo>
                  <a:pt x="11658" y="3465588"/>
                </a:lnTo>
                <a:lnTo>
                  <a:pt x="19050" y="3467087"/>
                </a:lnTo>
                <a:lnTo>
                  <a:pt x="2990850" y="3467087"/>
                </a:lnTo>
                <a:lnTo>
                  <a:pt x="2998254" y="3465588"/>
                </a:lnTo>
                <a:lnTo>
                  <a:pt x="3004312" y="3461499"/>
                </a:lnTo>
                <a:lnTo>
                  <a:pt x="3008401" y="3455441"/>
                </a:lnTo>
                <a:lnTo>
                  <a:pt x="3009900" y="3448050"/>
                </a:lnTo>
                <a:lnTo>
                  <a:pt x="3009900" y="3429000"/>
                </a:lnTo>
                <a:lnTo>
                  <a:pt x="3009900" y="38100"/>
                </a:lnTo>
                <a:lnTo>
                  <a:pt x="300990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364569" y="1088231"/>
            <a:ext cx="2837180" cy="1258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3229"/>
              </a:lnSpc>
              <a:spcBef>
                <a:spcPts val="114"/>
              </a:spcBef>
            </a:pPr>
            <a:r>
              <a:rPr sz="2700" spc="-210" dirty="0">
                <a:solidFill>
                  <a:srgbClr val="FFFFFF"/>
                </a:solidFill>
                <a:latin typeface="Verdana"/>
                <a:cs typeface="Verdana"/>
              </a:rPr>
              <a:t>Student</a:t>
            </a:r>
            <a:r>
              <a:rPr sz="2700" spc="-4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00" dirty="0">
                <a:solidFill>
                  <a:srgbClr val="FFFFFF"/>
                </a:solidFill>
                <a:latin typeface="Verdana"/>
                <a:cs typeface="Verdana"/>
              </a:rPr>
              <a:t>Must</a:t>
            </a:r>
            <a:r>
              <a:rPr sz="2700" spc="-4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29" dirty="0">
                <a:solidFill>
                  <a:srgbClr val="FFFFFF"/>
                </a:solidFill>
                <a:latin typeface="Verdana"/>
                <a:cs typeface="Verdana"/>
              </a:rPr>
              <a:t>add</a:t>
            </a:r>
            <a:r>
              <a:rPr sz="2700" spc="-4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345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2700" spc="-165" dirty="0">
                <a:solidFill>
                  <a:srgbClr val="FFFFFF"/>
                </a:solidFill>
                <a:latin typeface="Verdana"/>
                <a:cs typeface="Verdana"/>
              </a:rPr>
              <a:t>professional</a:t>
            </a:r>
            <a:r>
              <a:rPr sz="2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85" dirty="0">
                <a:solidFill>
                  <a:srgbClr val="FFFFFF"/>
                </a:solidFill>
                <a:latin typeface="Verdana"/>
                <a:cs typeface="Verdana"/>
              </a:rPr>
              <a:t>photo </a:t>
            </a:r>
            <a:r>
              <a:rPr sz="2700" spc="-1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700" spc="-4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10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2700" spc="-4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Verdana"/>
                <a:cs typeface="Verdana"/>
              </a:rPr>
              <a:t>cage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32702" y="3470078"/>
            <a:ext cx="12277090" cy="1720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1650" marR="5080" indent="-3029585">
              <a:lnSpc>
                <a:spcPct val="100200"/>
              </a:lnSpc>
              <a:spcBef>
                <a:spcPts val="95"/>
              </a:spcBef>
            </a:pPr>
            <a:r>
              <a:rPr sz="5550" spc="330" dirty="0"/>
              <a:t>Disease</a:t>
            </a:r>
            <a:r>
              <a:rPr sz="5550" spc="-140" dirty="0"/>
              <a:t> </a:t>
            </a:r>
            <a:r>
              <a:rPr sz="5550" spc="175" dirty="0"/>
              <a:t>Detection</a:t>
            </a:r>
            <a:r>
              <a:rPr sz="5550" spc="-135" dirty="0"/>
              <a:t> </a:t>
            </a:r>
            <a:r>
              <a:rPr sz="5550" spc="585" dirty="0"/>
              <a:t>and</a:t>
            </a:r>
            <a:r>
              <a:rPr sz="5550" spc="-135" dirty="0"/>
              <a:t> </a:t>
            </a:r>
            <a:r>
              <a:rPr sz="5550" spc="345" dirty="0"/>
              <a:t>Emergency </a:t>
            </a:r>
            <a:r>
              <a:rPr sz="5550" spc="275" dirty="0"/>
              <a:t>Alerts</a:t>
            </a:r>
            <a:r>
              <a:rPr sz="5550" spc="-145" dirty="0"/>
              <a:t> </a:t>
            </a:r>
            <a:r>
              <a:rPr sz="5550" spc="305" dirty="0"/>
              <a:t>for</a:t>
            </a:r>
            <a:r>
              <a:rPr sz="5550" spc="-140" dirty="0"/>
              <a:t> </a:t>
            </a:r>
            <a:r>
              <a:rPr sz="5550" spc="280" dirty="0"/>
              <a:t>Cattels</a:t>
            </a:r>
            <a:endParaRPr sz="555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73810" y="2408605"/>
            <a:ext cx="6314188" cy="7878393"/>
          </a:xfrm>
          <a:prstGeom prst="rect">
            <a:avLst/>
          </a:prstGeom>
        </p:spPr>
      </p:pic>
      <p:sp>
        <p:nvSpPr>
          <p:cNvPr id="16" name="object 7">
            <a:extLst>
              <a:ext uri="{FF2B5EF4-FFF2-40B4-BE49-F238E27FC236}">
                <a16:creationId xmlns:a16="http://schemas.microsoft.com/office/drawing/2014/main" id="{3C7E5CA3-CEAB-4E79-45A7-295FE2CE7479}"/>
              </a:ext>
            </a:extLst>
          </p:cNvPr>
          <p:cNvSpPr txBox="1"/>
          <p:nvPr/>
        </p:nvSpPr>
        <p:spPr>
          <a:xfrm>
            <a:off x="685800" y="7568542"/>
            <a:ext cx="12791440" cy="1209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280" dirty="0">
                <a:latin typeface="Verdana"/>
                <a:cs typeface="Verdana"/>
              </a:rPr>
              <a:t>IT222</a:t>
            </a:r>
            <a:r>
              <a:rPr lang="en-US" sz="3300" spc="-280" dirty="0">
                <a:latin typeface="Verdana"/>
                <a:cs typeface="Verdana"/>
              </a:rPr>
              <a:t>82118</a:t>
            </a:r>
            <a:r>
              <a:rPr sz="3300" spc="-1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|</a:t>
            </a:r>
            <a:r>
              <a:rPr sz="3300" spc="55" dirty="0">
                <a:latin typeface="Verdana"/>
                <a:cs typeface="Verdana"/>
              </a:rPr>
              <a:t> </a:t>
            </a:r>
            <a:r>
              <a:rPr lang="en-US" sz="3300" spc="-275" dirty="0" err="1">
                <a:latin typeface="Verdana"/>
                <a:cs typeface="Verdana"/>
              </a:rPr>
              <a:t>Illangasinhe</a:t>
            </a:r>
            <a:r>
              <a:rPr lang="en-US" sz="3300" spc="-275" dirty="0">
                <a:latin typeface="Verdana"/>
                <a:cs typeface="Verdana"/>
              </a:rPr>
              <a:t> I.M.A.D.</a:t>
            </a:r>
            <a:r>
              <a:rPr sz="3300" spc="-535" dirty="0">
                <a:latin typeface="Verdana"/>
                <a:cs typeface="Verdana"/>
              </a:rPr>
              <a:t> </a:t>
            </a:r>
            <a:r>
              <a:rPr sz="3300" dirty="0">
                <a:latin typeface="Verdana"/>
                <a:cs typeface="Verdana"/>
              </a:rPr>
              <a:t>|</a:t>
            </a:r>
            <a:r>
              <a:rPr sz="3300" spc="70" dirty="0">
                <a:latin typeface="Verdana"/>
                <a:cs typeface="Verdana"/>
              </a:rPr>
              <a:t> </a:t>
            </a:r>
            <a:r>
              <a:rPr lang="en-US" sz="3300" spc="-290" dirty="0">
                <a:latin typeface="Verdana"/>
                <a:cs typeface="Verdana"/>
              </a:rPr>
              <a:t>R26 – IT - 093</a:t>
            </a:r>
            <a:endParaRPr sz="33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15"/>
              </a:spcBef>
            </a:pPr>
            <a:r>
              <a:rPr sz="2700" spc="-345" dirty="0">
                <a:solidFill>
                  <a:srgbClr val="4D4D4D"/>
                </a:solidFill>
                <a:latin typeface="Verdana"/>
                <a:cs typeface="Verdana"/>
              </a:rPr>
              <a:t>BSc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20" dirty="0">
                <a:solidFill>
                  <a:srgbClr val="4D4D4D"/>
                </a:solidFill>
                <a:latin typeface="Verdana"/>
                <a:cs typeface="Verdana"/>
              </a:rPr>
              <a:t>(Hons)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40" dirty="0">
                <a:solidFill>
                  <a:srgbClr val="4D4D4D"/>
                </a:solidFill>
                <a:latin typeface="Verdana"/>
                <a:cs typeface="Verdana"/>
              </a:rPr>
              <a:t>Degree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05" dirty="0">
                <a:solidFill>
                  <a:srgbClr val="4D4D4D"/>
                </a:solidFill>
                <a:latin typeface="Verdana"/>
                <a:cs typeface="Verdana"/>
              </a:rPr>
              <a:t>in</a:t>
            </a:r>
            <a:r>
              <a:rPr sz="2700" spc="-39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85" dirty="0">
                <a:solidFill>
                  <a:srgbClr val="4D4D4D"/>
                </a:solidFill>
                <a:latin typeface="Verdana"/>
                <a:cs typeface="Verdana"/>
              </a:rPr>
              <a:t>Information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215" dirty="0">
                <a:solidFill>
                  <a:srgbClr val="4D4D4D"/>
                </a:solidFill>
                <a:latin typeface="Verdana"/>
                <a:cs typeface="Verdana"/>
              </a:rPr>
              <a:t>Technology</a:t>
            </a:r>
            <a:r>
              <a:rPr sz="2700" spc="-38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50">
                <a:solidFill>
                  <a:srgbClr val="4D4D4D"/>
                </a:solidFill>
                <a:latin typeface="Verdana"/>
                <a:cs typeface="Verdana"/>
              </a:rPr>
              <a:t>specialization</a:t>
            </a:r>
            <a:r>
              <a:rPr sz="2700" spc="-39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05">
                <a:solidFill>
                  <a:srgbClr val="4D4D4D"/>
                </a:solidFill>
                <a:latin typeface="Verdana"/>
                <a:cs typeface="Verdana"/>
              </a:rPr>
              <a:t>i</a:t>
            </a:r>
            <a:r>
              <a:rPr sz="2700" spc="-165">
                <a:solidFill>
                  <a:srgbClr val="4D4D4D"/>
                </a:solidFill>
                <a:latin typeface="Verdana"/>
                <a:cs typeface="Verdana"/>
              </a:rPr>
              <a:t>nformation</a:t>
            </a:r>
            <a:r>
              <a:rPr sz="2700" spc="-385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4D4D4D"/>
                </a:solidFill>
                <a:latin typeface="Verdana"/>
                <a:cs typeface="Verdana"/>
              </a:rPr>
              <a:t>Technology</a:t>
            </a:r>
            <a:endParaRPr sz="2700" dirty="0">
              <a:latin typeface="Verdana"/>
              <a:cs typeface="Verdana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9F6ACB-E40F-6B9A-517B-1196595A9CBB}"/>
              </a:ext>
            </a:extLst>
          </p:cNvPr>
          <p:cNvGrpSpPr/>
          <p:nvPr/>
        </p:nvGrpSpPr>
        <p:grpSpPr>
          <a:xfrm>
            <a:off x="4248369" y="9631680"/>
            <a:ext cx="8324630" cy="428322"/>
            <a:chOff x="4019022" y="9626247"/>
            <a:chExt cx="8324630" cy="428322"/>
          </a:xfrm>
        </p:grpSpPr>
        <p:sp>
          <p:nvSpPr>
            <p:cNvPr id="18" name="object 10">
              <a:extLst>
                <a:ext uri="{FF2B5EF4-FFF2-40B4-BE49-F238E27FC236}">
                  <a16:creationId xmlns:a16="http://schemas.microsoft.com/office/drawing/2014/main" id="{04EF7727-5286-E065-4B6E-33C76552880C}"/>
                </a:ext>
              </a:extLst>
            </p:cNvPr>
            <p:cNvSpPr txBox="1"/>
            <p:nvPr/>
          </p:nvSpPr>
          <p:spPr>
            <a:xfrm>
              <a:off x="4019022" y="9626247"/>
              <a:ext cx="2125345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215" dirty="0">
                  <a:latin typeface="Verdana"/>
                  <a:cs typeface="Verdana"/>
                </a:rPr>
                <a:t>IT222</a:t>
              </a:r>
              <a:r>
                <a:rPr lang="en-US" sz="2700" spc="-215" dirty="0">
                  <a:latin typeface="Verdana"/>
                  <a:cs typeface="Verdana"/>
                </a:rPr>
                <a:t>82118</a:t>
              </a:r>
              <a:r>
                <a:rPr sz="2700" spc="20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19" name="object 11">
              <a:extLst>
                <a:ext uri="{FF2B5EF4-FFF2-40B4-BE49-F238E27FC236}">
                  <a16:creationId xmlns:a16="http://schemas.microsoft.com/office/drawing/2014/main" id="{99CBD6A2-5130-D63D-9468-2BAF5B2A0B23}"/>
                </a:ext>
              </a:extLst>
            </p:cNvPr>
            <p:cNvSpPr txBox="1"/>
            <p:nvPr/>
          </p:nvSpPr>
          <p:spPr>
            <a:xfrm>
              <a:off x="6314250" y="9626247"/>
              <a:ext cx="3315933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 err="1">
                  <a:latin typeface="Verdana"/>
                  <a:cs typeface="Verdana"/>
                </a:rPr>
                <a:t>Illangasinhe</a:t>
              </a:r>
              <a:r>
                <a:rPr lang="en-US" sz="2700" spc="-229" dirty="0">
                  <a:latin typeface="Verdana"/>
                  <a:cs typeface="Verdana"/>
                </a:rPr>
                <a:t> I.M.A.D.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03CB9A18-4C5A-A165-F332-1F6FC3E89E4F}"/>
                </a:ext>
              </a:extLst>
            </p:cNvPr>
            <p:cNvSpPr txBox="1"/>
            <p:nvPr/>
          </p:nvSpPr>
          <p:spPr>
            <a:xfrm>
              <a:off x="9980929" y="9626247"/>
              <a:ext cx="2362723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>
                  <a:latin typeface="Verdana"/>
                  <a:cs typeface="Verdana"/>
                </a:rPr>
                <a:t>R26 – IT - 093</a:t>
              </a:r>
              <a:endParaRPr lang="en-US" sz="2700" dirty="0">
                <a:latin typeface="Verdana"/>
                <a:cs typeface="Verdana"/>
              </a:endParaRPr>
            </a:p>
          </p:txBody>
        </p:sp>
      </p:grpSp>
      <p:sp>
        <p:nvSpPr>
          <p:cNvPr id="21" name="object 11">
            <a:extLst>
              <a:ext uri="{FF2B5EF4-FFF2-40B4-BE49-F238E27FC236}">
                <a16:creationId xmlns:a16="http://schemas.microsoft.com/office/drawing/2014/main" id="{1589B2BD-A875-91C7-8C5D-C01AA155DF1A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927ECD-9846-7FE2-E572-373BC4F6E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63100"/>
            <a:ext cx="3553129" cy="7270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FFBF16-8826-94E0-88B7-591BEB7916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AC163-2CC0-0ADA-9D77-169B0B277E1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7FE108-38DB-895F-B10B-C50042A28F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3506" y="-12464"/>
            <a:ext cx="3224493" cy="34795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709034" y="1395936"/>
            <a:ext cx="9300845" cy="7521575"/>
            <a:chOff x="8709034" y="1395936"/>
            <a:chExt cx="9300845" cy="75215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30599" y="1395936"/>
              <a:ext cx="1779277" cy="15982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09034" y="2954531"/>
              <a:ext cx="8953498" cy="596264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8336" y="3353560"/>
            <a:ext cx="237735" cy="2375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8103" y="4080564"/>
            <a:ext cx="237735" cy="2375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8103" y="4747038"/>
            <a:ext cx="237735" cy="2375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8103" y="7362404"/>
            <a:ext cx="237735" cy="2375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8103" y="6695654"/>
            <a:ext cx="237735" cy="23750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8103" y="8029154"/>
            <a:ext cx="237735" cy="237508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358792" y="971371"/>
            <a:ext cx="17423130" cy="708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65" dirty="0">
                <a:solidFill>
                  <a:srgbClr val="29266D"/>
                </a:solidFill>
              </a:rPr>
              <a:t>PROPOSED</a:t>
            </a:r>
            <a:r>
              <a:rPr spc="-500" dirty="0">
                <a:solidFill>
                  <a:srgbClr val="29266D"/>
                </a:solidFill>
              </a:rPr>
              <a:t> </a:t>
            </a:r>
            <a:r>
              <a:rPr spc="229" dirty="0">
                <a:solidFill>
                  <a:srgbClr val="29266D"/>
                </a:solidFill>
              </a:rPr>
              <a:t>SOLUTION</a:t>
            </a:r>
            <a:r>
              <a:rPr spc="-495" dirty="0">
                <a:solidFill>
                  <a:srgbClr val="29266D"/>
                </a:solidFill>
              </a:rPr>
              <a:t> </a:t>
            </a:r>
            <a:r>
              <a:rPr spc="290" dirty="0">
                <a:solidFill>
                  <a:srgbClr val="29266D"/>
                </a:solidFill>
              </a:rPr>
              <a:t>AND</a:t>
            </a:r>
            <a:r>
              <a:rPr spc="-495" dirty="0">
                <a:solidFill>
                  <a:srgbClr val="29266D"/>
                </a:solidFill>
              </a:rPr>
              <a:t> </a:t>
            </a:r>
            <a:r>
              <a:rPr spc="400" dirty="0">
                <a:solidFill>
                  <a:srgbClr val="29266D"/>
                </a:solidFill>
              </a:rPr>
              <a:t>USER</a:t>
            </a:r>
            <a:r>
              <a:rPr spc="-495" dirty="0">
                <a:solidFill>
                  <a:srgbClr val="29266D"/>
                </a:solidFill>
              </a:rPr>
              <a:t> </a:t>
            </a:r>
            <a:r>
              <a:rPr spc="315" dirty="0">
                <a:solidFill>
                  <a:srgbClr val="29266D"/>
                </a:solidFill>
              </a:rPr>
              <a:t>REQUIREMENTS</a:t>
            </a:r>
            <a:r>
              <a:rPr spc="-495" dirty="0">
                <a:solidFill>
                  <a:srgbClr val="29266D"/>
                </a:solidFill>
              </a:rPr>
              <a:t> </a:t>
            </a:r>
            <a:r>
              <a:rPr spc="390" dirty="0">
                <a:solidFill>
                  <a:srgbClr val="29266D"/>
                </a:solidFill>
              </a:rPr>
              <a:t>ADDRESSED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80572" y="2277767"/>
            <a:ext cx="9455150" cy="6109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5" dirty="0">
                <a:solidFill>
                  <a:srgbClr val="006117"/>
                </a:solidFill>
                <a:latin typeface="Verdana"/>
                <a:cs typeface="Verdana"/>
              </a:rPr>
              <a:t>Proposed</a:t>
            </a:r>
            <a:r>
              <a:rPr sz="2700" spc="-38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175" dirty="0">
                <a:solidFill>
                  <a:srgbClr val="006117"/>
                </a:solidFill>
                <a:latin typeface="Verdana"/>
                <a:cs typeface="Verdana"/>
              </a:rPr>
              <a:t>Solution</a:t>
            </a:r>
            <a:r>
              <a:rPr sz="2700" spc="-38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240" dirty="0">
                <a:solidFill>
                  <a:srgbClr val="006117"/>
                </a:solidFill>
                <a:latin typeface="Verdana"/>
                <a:cs typeface="Verdana"/>
              </a:rPr>
              <a:t>(Disease</a:t>
            </a:r>
            <a:r>
              <a:rPr sz="2700" spc="-38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315" dirty="0">
                <a:solidFill>
                  <a:srgbClr val="006117"/>
                </a:solidFill>
                <a:latin typeface="Verdana"/>
                <a:cs typeface="Verdana"/>
              </a:rPr>
              <a:t>&amp;</a:t>
            </a:r>
            <a:r>
              <a:rPr sz="2700" spc="-38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215" dirty="0">
                <a:solidFill>
                  <a:srgbClr val="006117"/>
                </a:solidFill>
                <a:latin typeface="Verdana"/>
                <a:cs typeface="Verdana"/>
              </a:rPr>
              <a:t>Behavior</a:t>
            </a:r>
            <a:r>
              <a:rPr sz="2700" spc="-38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006117"/>
                </a:solidFill>
                <a:latin typeface="Verdana"/>
                <a:cs typeface="Verdana"/>
              </a:rPr>
              <a:t>Monitoring</a:t>
            </a:r>
            <a:r>
              <a:rPr sz="2700" spc="-380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270" dirty="0">
                <a:solidFill>
                  <a:srgbClr val="006117"/>
                </a:solidFill>
                <a:latin typeface="Verdana"/>
                <a:cs typeface="Verdana"/>
              </a:rPr>
              <a:t>Component):</a:t>
            </a:r>
            <a:endParaRPr sz="2700" dirty="0">
              <a:latin typeface="Verdana"/>
              <a:cs typeface="Verdana"/>
            </a:endParaRPr>
          </a:p>
          <a:p>
            <a:pPr marL="1245870" marR="3162300">
              <a:lnSpc>
                <a:spcPct val="180600"/>
              </a:lnSpc>
              <a:spcBef>
                <a:spcPts val="2085"/>
              </a:spcBef>
            </a:pPr>
            <a:r>
              <a:rPr sz="2700" spc="-215" dirty="0">
                <a:latin typeface="Verdana"/>
                <a:cs typeface="Verdana"/>
              </a:rPr>
              <a:t>Automated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245" dirty="0">
                <a:latin typeface="Verdana"/>
                <a:cs typeface="Verdana"/>
              </a:rPr>
              <a:t>Disease</a:t>
            </a:r>
            <a:r>
              <a:rPr sz="2700" spc="-375" dirty="0">
                <a:latin typeface="Verdana"/>
                <a:cs typeface="Verdana"/>
              </a:rPr>
              <a:t> </a:t>
            </a:r>
            <a:r>
              <a:rPr sz="2700" spc="-145" dirty="0">
                <a:latin typeface="Verdana"/>
                <a:cs typeface="Verdana"/>
              </a:rPr>
              <a:t>Identification. </a:t>
            </a:r>
            <a:r>
              <a:rPr sz="2700" spc="-175" dirty="0">
                <a:latin typeface="Verdana"/>
                <a:cs typeface="Verdana"/>
              </a:rPr>
              <a:t>Real-</a:t>
            </a:r>
            <a:r>
              <a:rPr sz="2700" spc="-150" dirty="0">
                <a:latin typeface="Verdana"/>
                <a:cs typeface="Verdana"/>
              </a:rPr>
              <a:t>time</a:t>
            </a:r>
            <a:r>
              <a:rPr sz="2700" spc="-375" dirty="0">
                <a:latin typeface="Verdana"/>
                <a:cs typeface="Verdana"/>
              </a:rPr>
              <a:t> </a:t>
            </a:r>
            <a:r>
              <a:rPr sz="2700" spc="-215" dirty="0">
                <a:latin typeface="Verdana"/>
                <a:cs typeface="Verdana"/>
              </a:rPr>
              <a:t>Behavior</a:t>
            </a:r>
            <a:r>
              <a:rPr sz="2700" spc="-375" dirty="0">
                <a:latin typeface="Verdana"/>
                <a:cs typeface="Verdana"/>
              </a:rPr>
              <a:t> </a:t>
            </a:r>
            <a:r>
              <a:rPr sz="2700" spc="-105" dirty="0">
                <a:latin typeface="Verdana"/>
                <a:cs typeface="Verdana"/>
              </a:rPr>
              <a:t>Tracking.</a:t>
            </a:r>
            <a:endParaRPr sz="2700" dirty="0">
              <a:latin typeface="Verdana"/>
              <a:cs typeface="Verdana"/>
            </a:endParaRPr>
          </a:p>
          <a:p>
            <a:pPr marL="1245870">
              <a:lnSpc>
                <a:spcPct val="100000"/>
              </a:lnSpc>
              <a:spcBef>
                <a:spcPts val="1985"/>
              </a:spcBef>
            </a:pPr>
            <a:r>
              <a:rPr sz="2700" spc="-185" dirty="0">
                <a:latin typeface="Verdana"/>
                <a:cs typeface="Verdana"/>
              </a:rPr>
              <a:t>Hybrid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170" dirty="0">
                <a:latin typeface="Verdana"/>
                <a:cs typeface="Verdana"/>
              </a:rPr>
              <a:t>Health</a:t>
            </a:r>
            <a:r>
              <a:rPr sz="2700" spc="-395" dirty="0">
                <a:latin typeface="Verdana"/>
                <a:cs typeface="Verdana"/>
              </a:rPr>
              <a:t> </a:t>
            </a:r>
            <a:r>
              <a:rPr sz="2700" spc="-110" dirty="0">
                <a:latin typeface="Verdana"/>
                <a:cs typeface="Verdana"/>
              </a:rPr>
              <a:t>Analysis.</a:t>
            </a:r>
            <a:endParaRPr sz="27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2700" dirty="0">
              <a:latin typeface="Verdana"/>
              <a:cs typeface="Verdana"/>
            </a:endParaRPr>
          </a:p>
          <a:p>
            <a:pPr marL="1253490" indent="-1051560">
              <a:lnSpc>
                <a:spcPct val="100000"/>
              </a:lnSpc>
            </a:pPr>
            <a:r>
              <a:rPr sz="2700" spc="-235" dirty="0">
                <a:solidFill>
                  <a:srgbClr val="006117"/>
                </a:solidFill>
                <a:latin typeface="Verdana"/>
                <a:cs typeface="Verdana"/>
              </a:rPr>
              <a:t>User</a:t>
            </a:r>
            <a:r>
              <a:rPr sz="2700" spc="-36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204" dirty="0">
                <a:solidFill>
                  <a:srgbClr val="006117"/>
                </a:solidFill>
                <a:latin typeface="Verdana"/>
                <a:cs typeface="Verdana"/>
              </a:rPr>
              <a:t>Requirements</a:t>
            </a:r>
            <a:r>
              <a:rPr sz="2700" spc="-36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2700" spc="-270" dirty="0">
                <a:solidFill>
                  <a:srgbClr val="006117"/>
                </a:solidFill>
                <a:latin typeface="Verdana"/>
                <a:cs typeface="Verdana"/>
              </a:rPr>
              <a:t>Addressed:</a:t>
            </a:r>
            <a:endParaRPr sz="2700" dirty="0">
              <a:latin typeface="Verdana"/>
              <a:cs typeface="Verdana"/>
            </a:endParaRPr>
          </a:p>
          <a:p>
            <a:pPr marL="1318895" marR="4662805" indent="-66040">
              <a:lnSpc>
                <a:spcPct val="143900"/>
              </a:lnSpc>
              <a:spcBef>
                <a:spcPts val="2290"/>
              </a:spcBef>
            </a:pPr>
            <a:r>
              <a:rPr sz="2700" spc="-229" dirty="0">
                <a:latin typeface="Verdana"/>
                <a:cs typeface="Verdana"/>
              </a:rPr>
              <a:t>Early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245" dirty="0">
                <a:latin typeface="Verdana"/>
                <a:cs typeface="Verdana"/>
              </a:rPr>
              <a:t>Disease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175" dirty="0">
                <a:latin typeface="Verdana"/>
                <a:cs typeface="Verdana"/>
              </a:rPr>
              <a:t>Detection. </a:t>
            </a:r>
            <a:r>
              <a:rPr sz="2700" spc="-215" dirty="0">
                <a:latin typeface="Verdana"/>
                <a:cs typeface="Verdana"/>
              </a:rPr>
              <a:t>Automated</a:t>
            </a:r>
            <a:r>
              <a:rPr sz="2700" spc="-365" dirty="0">
                <a:latin typeface="Verdana"/>
                <a:cs typeface="Verdana"/>
              </a:rPr>
              <a:t> </a:t>
            </a:r>
            <a:r>
              <a:rPr sz="2700" spc="-155" dirty="0">
                <a:latin typeface="Verdana"/>
                <a:cs typeface="Verdana"/>
              </a:rPr>
              <a:t>Monitoring.</a:t>
            </a:r>
            <a:endParaRPr sz="2700" dirty="0">
              <a:latin typeface="Verdana"/>
              <a:cs typeface="Verdana"/>
            </a:endParaRPr>
          </a:p>
          <a:p>
            <a:pPr marL="1253490">
              <a:lnSpc>
                <a:spcPct val="100000"/>
              </a:lnSpc>
              <a:spcBef>
                <a:spcPts val="2970"/>
              </a:spcBef>
            </a:pPr>
            <a:r>
              <a:rPr sz="2700" spc="-220" dirty="0">
                <a:latin typeface="Verdana"/>
                <a:cs typeface="Verdana"/>
              </a:rPr>
              <a:t>Data-</a:t>
            </a:r>
            <a:r>
              <a:rPr sz="2700" spc="-229" dirty="0">
                <a:latin typeface="Verdana"/>
                <a:cs typeface="Verdana"/>
              </a:rPr>
              <a:t>Driven</a:t>
            </a:r>
            <a:r>
              <a:rPr sz="2700" spc="-360" dirty="0">
                <a:latin typeface="Verdana"/>
                <a:cs typeface="Verdana"/>
              </a:rPr>
              <a:t> </a:t>
            </a:r>
            <a:r>
              <a:rPr sz="2700" spc="-105" dirty="0">
                <a:latin typeface="Verdana"/>
                <a:cs typeface="Verdana"/>
              </a:rPr>
              <a:t>Decisions.</a:t>
            </a:r>
            <a:endParaRPr sz="2700" dirty="0">
              <a:latin typeface="Verdana"/>
              <a:cs typeface="Verdana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8F95DC9-3E54-08F1-A3E9-F4959C866A88}"/>
              </a:ext>
            </a:extLst>
          </p:cNvPr>
          <p:cNvGrpSpPr/>
          <p:nvPr/>
        </p:nvGrpSpPr>
        <p:grpSpPr>
          <a:xfrm>
            <a:off x="4248369" y="9631680"/>
            <a:ext cx="8324630" cy="428322"/>
            <a:chOff x="4019022" y="9626247"/>
            <a:chExt cx="8324630" cy="428322"/>
          </a:xfrm>
        </p:grpSpPr>
        <p:sp>
          <p:nvSpPr>
            <p:cNvPr id="23" name="object 10">
              <a:extLst>
                <a:ext uri="{FF2B5EF4-FFF2-40B4-BE49-F238E27FC236}">
                  <a16:creationId xmlns:a16="http://schemas.microsoft.com/office/drawing/2014/main" id="{65319AEB-DDF4-0A74-FEE2-905F3CF956C7}"/>
                </a:ext>
              </a:extLst>
            </p:cNvPr>
            <p:cNvSpPr txBox="1"/>
            <p:nvPr/>
          </p:nvSpPr>
          <p:spPr>
            <a:xfrm>
              <a:off x="4019022" y="9626247"/>
              <a:ext cx="2125345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215" dirty="0">
                  <a:latin typeface="Verdana"/>
                  <a:cs typeface="Verdana"/>
                </a:rPr>
                <a:t>IT222</a:t>
              </a:r>
              <a:r>
                <a:rPr lang="en-US" sz="2700" spc="-215" dirty="0">
                  <a:latin typeface="Verdana"/>
                  <a:cs typeface="Verdana"/>
                </a:rPr>
                <a:t>82118</a:t>
              </a:r>
              <a:r>
                <a:rPr sz="2700" spc="20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4" name="object 11">
              <a:extLst>
                <a:ext uri="{FF2B5EF4-FFF2-40B4-BE49-F238E27FC236}">
                  <a16:creationId xmlns:a16="http://schemas.microsoft.com/office/drawing/2014/main" id="{8798CF4F-D542-D219-B328-A4AF14916B70}"/>
                </a:ext>
              </a:extLst>
            </p:cNvPr>
            <p:cNvSpPr txBox="1"/>
            <p:nvPr/>
          </p:nvSpPr>
          <p:spPr>
            <a:xfrm>
              <a:off x="6314250" y="9626247"/>
              <a:ext cx="3315933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 err="1">
                  <a:latin typeface="Verdana"/>
                  <a:cs typeface="Verdana"/>
                </a:rPr>
                <a:t>Illangasinhe</a:t>
              </a:r>
              <a:r>
                <a:rPr lang="en-US" sz="2700" spc="-229" dirty="0">
                  <a:latin typeface="Verdana"/>
                  <a:cs typeface="Verdana"/>
                </a:rPr>
                <a:t> I.M.A.D.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5" name="object 13">
              <a:extLst>
                <a:ext uri="{FF2B5EF4-FFF2-40B4-BE49-F238E27FC236}">
                  <a16:creationId xmlns:a16="http://schemas.microsoft.com/office/drawing/2014/main" id="{CC1629FE-0F59-1145-B936-5C11B96CD654}"/>
                </a:ext>
              </a:extLst>
            </p:cNvPr>
            <p:cNvSpPr txBox="1"/>
            <p:nvPr/>
          </p:nvSpPr>
          <p:spPr>
            <a:xfrm>
              <a:off x="9980929" y="9626247"/>
              <a:ext cx="2362723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>
                  <a:latin typeface="Verdana"/>
                  <a:cs typeface="Verdana"/>
                </a:rPr>
                <a:t>R26 – IT - 093</a:t>
              </a:r>
              <a:endParaRPr lang="en-US" sz="2700" dirty="0">
                <a:latin typeface="Verdana"/>
                <a:cs typeface="Verdana"/>
              </a:endParaRPr>
            </a:p>
          </p:txBody>
        </p:sp>
      </p:grpSp>
      <p:sp>
        <p:nvSpPr>
          <p:cNvPr id="26" name="object 11">
            <a:extLst>
              <a:ext uri="{FF2B5EF4-FFF2-40B4-BE49-F238E27FC236}">
                <a16:creationId xmlns:a16="http://schemas.microsoft.com/office/drawing/2014/main" id="{912C49D0-53ED-EE11-F149-C0786BF7AC80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135B84-F468-97F4-46A5-CC1E709323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9586740"/>
            <a:ext cx="3553129" cy="727043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268A211-9EA6-567B-6F8C-B4378A84C6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picture containing photo, table, person, monitor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3579" y="3199998"/>
            <a:ext cx="237735" cy="2375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3579" y="4512670"/>
            <a:ext cx="237735" cy="237508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499" rIns="0" bIns="0" rtlCol="0">
            <a:spAutoFit/>
          </a:bodyPr>
          <a:lstStyle/>
          <a:p>
            <a:pPr marL="754380">
              <a:lnSpc>
                <a:spcPct val="100000"/>
              </a:lnSpc>
              <a:spcBef>
                <a:spcPts val="125"/>
              </a:spcBef>
            </a:pPr>
            <a:r>
              <a:rPr spc="335" dirty="0"/>
              <a:t>DESIGN</a:t>
            </a:r>
            <a:r>
              <a:rPr spc="-509" dirty="0"/>
              <a:t> </a:t>
            </a:r>
            <a:r>
              <a:rPr spc="225" dirty="0"/>
              <a:t>CONTRIBUTION</a:t>
            </a:r>
            <a:r>
              <a:rPr spc="-505" dirty="0"/>
              <a:t> </a:t>
            </a:r>
            <a:r>
              <a:rPr spc="290" dirty="0"/>
              <a:t>AND</a:t>
            </a:r>
            <a:r>
              <a:rPr spc="-505" dirty="0"/>
              <a:t> </a:t>
            </a:r>
            <a:r>
              <a:rPr spc="400" dirty="0"/>
              <a:t>USER</a:t>
            </a:r>
            <a:r>
              <a:rPr spc="-505" dirty="0"/>
              <a:t> </a:t>
            </a:r>
            <a:r>
              <a:rPr spc="330" dirty="0"/>
              <a:t>FEEDBACK</a:t>
            </a: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1017" y="6156705"/>
            <a:ext cx="8648699" cy="33051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094571" y="4887912"/>
            <a:ext cx="9906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700" dirty="0">
                <a:latin typeface="Verdana"/>
                <a:cs typeface="Verdana"/>
              </a:rPr>
              <a:t>: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49099" y="3042132"/>
            <a:ext cx="15721965" cy="84830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215"/>
              </a:spcBef>
            </a:pPr>
            <a:r>
              <a:rPr lang="en-US" sz="2700" dirty="0">
                <a:latin typeface="Verdana"/>
                <a:cs typeface="Verdana"/>
              </a:rPr>
              <a:t>Farmers found the automated monitoring system easier and more convenient than traditional manual checking methods</a:t>
            </a:r>
            <a:endParaRPr sz="27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9099" y="4405495"/>
            <a:ext cx="14224167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700" spc="-195" dirty="0">
                <a:latin typeface="Verdana"/>
                <a:cs typeface="Verdana"/>
              </a:rPr>
              <a:t>They also appreciated the disease detection feature because it helped reduce confusion and supported faster treatment decisions</a:t>
            </a:r>
            <a:endParaRPr sz="2700" dirty="0">
              <a:latin typeface="Verdana"/>
              <a:cs typeface="Verdana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7B8C31A-EFE7-1800-8085-CD425BCD22A8}"/>
              </a:ext>
            </a:extLst>
          </p:cNvPr>
          <p:cNvGrpSpPr/>
          <p:nvPr/>
        </p:nvGrpSpPr>
        <p:grpSpPr>
          <a:xfrm>
            <a:off x="4248369" y="9631680"/>
            <a:ext cx="8400830" cy="428322"/>
            <a:chOff x="4019022" y="9626247"/>
            <a:chExt cx="8400830" cy="428322"/>
          </a:xfrm>
        </p:grpSpPr>
        <p:sp>
          <p:nvSpPr>
            <p:cNvPr id="22" name="object 10">
              <a:extLst>
                <a:ext uri="{FF2B5EF4-FFF2-40B4-BE49-F238E27FC236}">
                  <a16:creationId xmlns:a16="http://schemas.microsoft.com/office/drawing/2014/main" id="{2E6E1C41-229F-9612-0797-4903E522EBCB}"/>
                </a:ext>
              </a:extLst>
            </p:cNvPr>
            <p:cNvSpPr txBox="1"/>
            <p:nvPr/>
          </p:nvSpPr>
          <p:spPr>
            <a:xfrm>
              <a:off x="4019022" y="9626247"/>
              <a:ext cx="2125345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700" spc="-215" dirty="0">
                  <a:latin typeface="Verdana"/>
                  <a:cs typeface="Verdana"/>
                </a:rPr>
                <a:t>IT222</a:t>
              </a:r>
              <a:r>
                <a:rPr lang="en-US" sz="2700" spc="-215" dirty="0">
                  <a:latin typeface="Verdana"/>
                  <a:cs typeface="Verdana"/>
                </a:rPr>
                <a:t>82118</a:t>
              </a:r>
              <a:r>
                <a:rPr sz="2700" spc="20" dirty="0">
                  <a:latin typeface="Verdana"/>
                  <a:cs typeface="Verdana"/>
                </a:rPr>
                <a:t> </a:t>
              </a:r>
              <a:r>
                <a:rPr sz="2700" spc="-50" dirty="0">
                  <a:latin typeface="Verdana"/>
                  <a:cs typeface="Verdana"/>
                </a:rPr>
                <a:t>|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3" name="object 11">
              <a:extLst>
                <a:ext uri="{FF2B5EF4-FFF2-40B4-BE49-F238E27FC236}">
                  <a16:creationId xmlns:a16="http://schemas.microsoft.com/office/drawing/2014/main" id="{819FA1AA-7DD6-A402-D02C-14CDEB79E053}"/>
                </a:ext>
              </a:extLst>
            </p:cNvPr>
            <p:cNvSpPr txBox="1"/>
            <p:nvPr/>
          </p:nvSpPr>
          <p:spPr>
            <a:xfrm>
              <a:off x="6314250" y="9626247"/>
              <a:ext cx="3315933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 err="1">
                  <a:latin typeface="Verdana"/>
                  <a:cs typeface="Verdana"/>
                </a:rPr>
                <a:t>Illangasinhe</a:t>
              </a:r>
              <a:r>
                <a:rPr lang="en-US" sz="2700" spc="-229" dirty="0">
                  <a:latin typeface="Verdana"/>
                  <a:cs typeface="Verdana"/>
                </a:rPr>
                <a:t> I.M.A.D.</a:t>
              </a:r>
              <a:endParaRPr sz="2700" dirty="0">
                <a:latin typeface="Verdana"/>
                <a:cs typeface="Verdana"/>
              </a:endParaRPr>
            </a:p>
          </p:txBody>
        </p:sp>
        <p:sp>
          <p:nvSpPr>
            <p:cNvPr id="24" name="object 13">
              <a:extLst>
                <a:ext uri="{FF2B5EF4-FFF2-40B4-BE49-F238E27FC236}">
                  <a16:creationId xmlns:a16="http://schemas.microsoft.com/office/drawing/2014/main" id="{1418385B-4D7F-DDD3-2B9B-170EC3F522AA}"/>
                </a:ext>
              </a:extLst>
            </p:cNvPr>
            <p:cNvSpPr txBox="1"/>
            <p:nvPr/>
          </p:nvSpPr>
          <p:spPr>
            <a:xfrm>
              <a:off x="9980929" y="9626247"/>
              <a:ext cx="2438923" cy="4283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700" spc="-229" dirty="0">
                  <a:latin typeface="Verdana"/>
                  <a:cs typeface="Verdana"/>
                </a:rPr>
                <a:t>R26 – IT - 093</a:t>
              </a:r>
              <a:endParaRPr lang="en-US" sz="2700" dirty="0">
                <a:latin typeface="Verdana"/>
                <a:cs typeface="Verdana"/>
              </a:endParaRPr>
            </a:p>
          </p:txBody>
        </p:sp>
      </p:grpSp>
      <p:sp>
        <p:nvSpPr>
          <p:cNvPr id="25" name="object 11">
            <a:extLst>
              <a:ext uri="{FF2B5EF4-FFF2-40B4-BE49-F238E27FC236}">
                <a16:creationId xmlns:a16="http://schemas.microsoft.com/office/drawing/2014/main" id="{DDBCCB17-DEFE-BA72-2009-AE12B92EC473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AD3DA7-D23F-6457-4DD3-B1E7D979E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586740"/>
            <a:ext cx="3553129" cy="7270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AD720C-4CB2-3BB6-8CE1-AEEC0D5F529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E2B7749-95F5-201A-4FFE-EC55963564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887200" y="5676900"/>
            <a:ext cx="17449800" cy="3429000"/>
            <a:chOff x="0" y="6419248"/>
            <a:chExt cx="18288000" cy="3867785"/>
          </a:xfrm>
        </p:grpSpPr>
        <p:pic>
          <p:nvPicPr>
            <p:cNvPr id="3" name="object 3" descr="A picture containing photo, table, person, monitor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015355"/>
              <a:ext cx="18288000" cy="271780"/>
            </a:xfrm>
            <a:custGeom>
              <a:avLst/>
              <a:gdLst/>
              <a:ahLst/>
              <a:cxnLst/>
              <a:rect l="l" t="t" r="r" b="b"/>
              <a:pathLst>
                <a:path w="18288000" h="271779">
                  <a:moveTo>
                    <a:pt x="18288000" y="271653"/>
                  </a:moveTo>
                  <a:lnTo>
                    <a:pt x="0" y="271653"/>
                  </a:lnTo>
                  <a:lnTo>
                    <a:pt x="7204900" y="0"/>
                  </a:lnTo>
                  <a:lnTo>
                    <a:pt x="18288000" y="271653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19248"/>
              <a:ext cx="5800724" cy="386714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511740" y="535425"/>
            <a:ext cx="1364805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 spc="-140" dirty="0">
                <a:solidFill>
                  <a:srgbClr val="000000"/>
                </a:solidFill>
                <a:latin typeface="Calibri"/>
                <a:cs typeface="Calibri"/>
              </a:rPr>
              <a:t>Converting</a:t>
            </a:r>
            <a:r>
              <a:rPr sz="6600" b="0" spc="-2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6600" b="0" spc="-105" dirty="0">
                <a:solidFill>
                  <a:srgbClr val="000000"/>
                </a:solidFill>
                <a:latin typeface="Calibri"/>
                <a:cs typeface="Calibri"/>
              </a:rPr>
              <a:t>Traditional</a:t>
            </a:r>
            <a:r>
              <a:rPr sz="6600" b="0" spc="-1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6600" b="0" spc="-254" dirty="0">
                <a:solidFill>
                  <a:srgbClr val="000000"/>
                </a:solidFill>
                <a:latin typeface="Calibri"/>
                <a:cs typeface="Calibri"/>
              </a:rPr>
              <a:t>farm</a:t>
            </a:r>
            <a:r>
              <a:rPr sz="6600" b="0" spc="-1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6600" b="0" spc="-36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6600" b="0" spc="-1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6600" b="0" spc="-265" dirty="0">
                <a:solidFill>
                  <a:srgbClr val="000000"/>
                </a:solidFill>
                <a:latin typeface="Calibri"/>
                <a:cs typeface="Calibri"/>
              </a:rPr>
              <a:t>Smart</a:t>
            </a:r>
            <a:r>
              <a:rPr sz="6600" b="0" spc="-1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6600" b="0" spc="-20" dirty="0">
                <a:solidFill>
                  <a:srgbClr val="000000"/>
                </a:solidFill>
                <a:latin typeface="Calibri"/>
                <a:cs typeface="Calibri"/>
              </a:rPr>
              <a:t>Farm</a:t>
            </a:r>
            <a:endParaRPr sz="6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091" y="1880130"/>
            <a:ext cx="12400280" cy="4192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150" dirty="0">
                <a:solidFill>
                  <a:srgbClr val="286EFB"/>
                </a:solidFill>
                <a:latin typeface="Verdana"/>
                <a:cs typeface="Verdana"/>
              </a:rPr>
              <a:t>Commercialization</a:t>
            </a:r>
            <a:endParaRPr sz="3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3000" dirty="0">
              <a:latin typeface="Verdana"/>
              <a:cs typeface="Verdana"/>
            </a:endParaRPr>
          </a:p>
          <a:p>
            <a:pPr marL="1543685" indent="-612775">
              <a:lnSpc>
                <a:spcPct val="100000"/>
              </a:lnSpc>
              <a:buAutoNum type="arabicPeriod"/>
              <a:tabLst>
                <a:tab pos="1543685" algn="l"/>
              </a:tabLst>
            </a:pPr>
            <a:r>
              <a:rPr sz="2900" spc="-200" dirty="0">
                <a:latin typeface="Verdana"/>
                <a:cs typeface="Verdana"/>
              </a:rPr>
              <a:t>Subscription-</a:t>
            </a:r>
            <a:r>
              <a:rPr sz="2900" spc="-245" dirty="0">
                <a:latin typeface="Verdana"/>
                <a:cs typeface="Verdana"/>
              </a:rPr>
              <a:t>based</a:t>
            </a:r>
            <a:r>
              <a:rPr sz="2900" spc="-425" dirty="0">
                <a:latin typeface="Verdana"/>
                <a:cs typeface="Verdana"/>
              </a:rPr>
              <a:t> </a:t>
            </a:r>
            <a:r>
              <a:rPr sz="2900" spc="-215" dirty="0">
                <a:latin typeface="Verdana"/>
                <a:cs typeface="Verdana"/>
              </a:rPr>
              <a:t>model</a:t>
            </a:r>
            <a:r>
              <a:rPr sz="2900" spc="-420" dirty="0">
                <a:latin typeface="Verdana"/>
                <a:cs typeface="Verdana"/>
              </a:rPr>
              <a:t> </a:t>
            </a:r>
            <a:r>
              <a:rPr sz="2900" spc="-130" dirty="0">
                <a:latin typeface="Verdana"/>
                <a:cs typeface="Verdana"/>
              </a:rPr>
              <a:t>for</a:t>
            </a:r>
            <a:r>
              <a:rPr sz="2900" spc="-420" dirty="0">
                <a:latin typeface="Verdana"/>
                <a:cs typeface="Verdana"/>
              </a:rPr>
              <a:t> </a:t>
            </a:r>
            <a:r>
              <a:rPr sz="2900" spc="-245" dirty="0">
                <a:latin typeface="Verdana"/>
                <a:cs typeface="Verdana"/>
              </a:rPr>
              <a:t>small,</a:t>
            </a:r>
            <a:r>
              <a:rPr sz="2900" spc="-420" dirty="0">
                <a:latin typeface="Verdana"/>
                <a:cs typeface="Verdana"/>
              </a:rPr>
              <a:t> </a:t>
            </a:r>
            <a:r>
              <a:rPr sz="2900" spc="-275" dirty="0">
                <a:latin typeface="Verdana"/>
                <a:cs typeface="Verdana"/>
              </a:rPr>
              <a:t>medium,</a:t>
            </a:r>
            <a:r>
              <a:rPr sz="2900" spc="-420" dirty="0">
                <a:latin typeface="Verdana"/>
                <a:cs typeface="Verdana"/>
              </a:rPr>
              <a:t> </a:t>
            </a:r>
            <a:r>
              <a:rPr sz="2900" spc="-254" dirty="0">
                <a:latin typeface="Verdana"/>
                <a:cs typeface="Verdana"/>
              </a:rPr>
              <a:t>and</a:t>
            </a:r>
            <a:r>
              <a:rPr sz="2900" spc="-420" dirty="0">
                <a:latin typeface="Verdana"/>
                <a:cs typeface="Verdana"/>
              </a:rPr>
              <a:t> </a:t>
            </a:r>
            <a:r>
              <a:rPr sz="2900" spc="-160" dirty="0">
                <a:latin typeface="Verdana"/>
                <a:cs typeface="Verdana"/>
              </a:rPr>
              <a:t>large-</a:t>
            </a:r>
            <a:r>
              <a:rPr sz="2900" spc="-215" dirty="0">
                <a:latin typeface="Verdana"/>
                <a:cs typeface="Verdana"/>
              </a:rPr>
              <a:t>scale</a:t>
            </a:r>
            <a:r>
              <a:rPr sz="2900" spc="-420" dirty="0">
                <a:latin typeface="Verdana"/>
                <a:cs typeface="Verdana"/>
              </a:rPr>
              <a:t> </a:t>
            </a:r>
            <a:r>
              <a:rPr sz="2900" spc="-70" dirty="0">
                <a:latin typeface="Verdana"/>
                <a:cs typeface="Verdana"/>
              </a:rPr>
              <a:t>farms</a:t>
            </a:r>
            <a:endParaRPr sz="29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AutoNum type="arabicPeriod"/>
            </a:pPr>
            <a:endParaRPr sz="2900" dirty="0">
              <a:latin typeface="Verdana"/>
              <a:cs typeface="Verdana"/>
            </a:endParaRPr>
          </a:p>
          <a:p>
            <a:pPr marL="1456690" indent="-573405">
              <a:lnSpc>
                <a:spcPct val="100000"/>
              </a:lnSpc>
              <a:buSzPct val="96296"/>
              <a:buAutoNum type="arabicPeriod"/>
              <a:tabLst>
                <a:tab pos="1456690" algn="l"/>
              </a:tabLst>
            </a:pPr>
            <a:r>
              <a:rPr sz="2700" spc="-190" dirty="0">
                <a:latin typeface="Verdana"/>
                <a:cs typeface="Verdana"/>
              </a:rPr>
              <a:t>Tiered</a:t>
            </a:r>
            <a:r>
              <a:rPr sz="2700" spc="-409" dirty="0">
                <a:latin typeface="Verdana"/>
                <a:cs typeface="Verdana"/>
              </a:rPr>
              <a:t> </a:t>
            </a:r>
            <a:r>
              <a:rPr sz="2700" spc="-130" dirty="0">
                <a:latin typeface="Verdana"/>
                <a:cs typeface="Verdana"/>
              </a:rPr>
              <a:t>pricing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90" dirty="0">
                <a:latin typeface="Verdana"/>
                <a:cs typeface="Verdana"/>
              </a:rPr>
              <a:t>plans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29" dirty="0">
                <a:latin typeface="Verdana"/>
                <a:cs typeface="Verdana"/>
              </a:rPr>
              <a:t>based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00" dirty="0">
                <a:latin typeface="Verdana"/>
                <a:cs typeface="Verdana"/>
              </a:rPr>
              <a:t>on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45" dirty="0">
                <a:latin typeface="Verdana"/>
                <a:cs typeface="Verdana"/>
              </a:rPr>
              <a:t>the</a:t>
            </a:r>
            <a:r>
              <a:rPr sz="2700" spc="-409" dirty="0">
                <a:latin typeface="Verdana"/>
                <a:cs typeface="Verdana"/>
              </a:rPr>
              <a:t> </a:t>
            </a:r>
            <a:r>
              <a:rPr sz="2700" spc="-229" dirty="0">
                <a:latin typeface="Verdana"/>
                <a:cs typeface="Verdana"/>
              </a:rPr>
              <a:t>number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00" dirty="0">
                <a:latin typeface="Verdana"/>
                <a:cs typeface="Verdana"/>
              </a:rPr>
              <a:t>of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35" dirty="0">
                <a:latin typeface="Verdana"/>
                <a:cs typeface="Verdana"/>
              </a:rPr>
              <a:t>cattle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and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95" dirty="0">
                <a:latin typeface="Verdana"/>
                <a:cs typeface="Verdana"/>
              </a:rPr>
              <a:t>enabled</a:t>
            </a:r>
            <a:r>
              <a:rPr sz="2700" spc="-409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features</a:t>
            </a:r>
            <a:endParaRPr sz="27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AutoNum type="arabicPeriod"/>
            </a:pPr>
            <a:endParaRPr sz="2700" dirty="0">
              <a:latin typeface="Verdana"/>
              <a:cs typeface="Verdana"/>
            </a:endParaRPr>
          </a:p>
          <a:p>
            <a:pPr marL="1386205" indent="-572770">
              <a:lnSpc>
                <a:spcPct val="100000"/>
              </a:lnSpc>
              <a:buSzPct val="96296"/>
              <a:buAutoNum type="arabicPeriod"/>
              <a:tabLst>
                <a:tab pos="1386205" algn="l"/>
              </a:tabLst>
            </a:pPr>
            <a:r>
              <a:rPr sz="2700" spc="-175" dirty="0">
                <a:latin typeface="Verdana"/>
                <a:cs typeface="Verdana"/>
              </a:rPr>
              <a:t>Partnerships</a:t>
            </a:r>
            <a:r>
              <a:rPr sz="2700" spc="-380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with</a:t>
            </a:r>
            <a:r>
              <a:rPr sz="2700" spc="-375" dirty="0">
                <a:latin typeface="Verdana"/>
                <a:cs typeface="Verdana"/>
              </a:rPr>
              <a:t> </a:t>
            </a:r>
            <a:r>
              <a:rPr sz="2700" spc="-155" dirty="0">
                <a:latin typeface="Verdana"/>
                <a:cs typeface="Verdana"/>
              </a:rPr>
              <a:t>agricultural</a:t>
            </a:r>
            <a:r>
              <a:rPr sz="2700" spc="-375" dirty="0">
                <a:latin typeface="Verdana"/>
                <a:cs typeface="Verdana"/>
              </a:rPr>
              <a:t> </a:t>
            </a:r>
            <a:r>
              <a:rPr sz="2700" spc="-140" dirty="0">
                <a:latin typeface="Verdana"/>
                <a:cs typeface="Verdana"/>
              </a:rPr>
              <a:t>institutions,</a:t>
            </a:r>
            <a:r>
              <a:rPr sz="2700" spc="-375" dirty="0">
                <a:latin typeface="Verdana"/>
                <a:cs typeface="Verdana"/>
              </a:rPr>
              <a:t> </a:t>
            </a:r>
            <a:r>
              <a:rPr sz="2700" spc="-195" dirty="0">
                <a:latin typeface="Verdana"/>
                <a:cs typeface="Verdana"/>
              </a:rPr>
              <a:t>dairy</a:t>
            </a:r>
            <a:r>
              <a:rPr sz="2700" spc="-375" dirty="0">
                <a:latin typeface="Verdana"/>
                <a:cs typeface="Verdana"/>
              </a:rPr>
              <a:t> </a:t>
            </a:r>
            <a:r>
              <a:rPr sz="2700" spc="-240" dirty="0">
                <a:latin typeface="Verdana"/>
                <a:cs typeface="Verdana"/>
              </a:rPr>
              <a:t>farms,</a:t>
            </a:r>
            <a:r>
              <a:rPr sz="2700" spc="-375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and</a:t>
            </a:r>
            <a:r>
              <a:rPr sz="2700" spc="-375" dirty="0">
                <a:latin typeface="Verdana"/>
                <a:cs typeface="Verdana"/>
              </a:rPr>
              <a:t> </a:t>
            </a:r>
            <a:r>
              <a:rPr sz="2700" spc="-70" dirty="0">
                <a:latin typeface="Verdana"/>
                <a:cs typeface="Verdana"/>
              </a:rPr>
              <a:t>cooperatives</a:t>
            </a:r>
            <a:endParaRPr sz="27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AutoNum type="arabicPeriod"/>
            </a:pPr>
            <a:endParaRPr sz="2700" dirty="0">
              <a:latin typeface="Verdana"/>
              <a:cs typeface="Verdana"/>
            </a:endParaRPr>
          </a:p>
          <a:p>
            <a:pPr marL="1495425" indent="-573405">
              <a:lnSpc>
                <a:spcPct val="100000"/>
              </a:lnSpc>
              <a:buSzPct val="96296"/>
              <a:buAutoNum type="arabicPeriod"/>
              <a:tabLst>
                <a:tab pos="1495425" algn="l"/>
              </a:tabLst>
            </a:pPr>
            <a:r>
              <a:rPr sz="2700" spc="-170" dirty="0">
                <a:latin typeface="Verdana"/>
                <a:cs typeface="Verdana"/>
              </a:rPr>
              <a:t>Integration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25" dirty="0">
                <a:latin typeface="Verdana"/>
                <a:cs typeface="Verdana"/>
              </a:rPr>
              <a:t>with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300" dirty="0">
                <a:latin typeface="Verdana"/>
                <a:cs typeface="Verdana"/>
              </a:rPr>
              <a:t>IoT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04" dirty="0">
                <a:latin typeface="Verdana"/>
                <a:cs typeface="Verdana"/>
              </a:rPr>
              <a:t>devices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35" dirty="0">
                <a:latin typeface="Verdana"/>
                <a:cs typeface="Verdana"/>
              </a:rPr>
              <a:t>and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200" dirty="0">
                <a:latin typeface="Verdana"/>
                <a:cs typeface="Verdana"/>
              </a:rPr>
              <a:t>farm</a:t>
            </a:r>
            <a:r>
              <a:rPr sz="2700" spc="-400" dirty="0">
                <a:latin typeface="Verdana"/>
                <a:cs typeface="Verdana"/>
              </a:rPr>
              <a:t> </a:t>
            </a:r>
            <a:r>
              <a:rPr sz="2700" spc="-240" dirty="0">
                <a:latin typeface="Verdana"/>
                <a:cs typeface="Verdana"/>
              </a:rPr>
              <a:t>management</a:t>
            </a:r>
            <a:r>
              <a:rPr sz="2700" spc="-40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tools</a:t>
            </a:r>
            <a:endParaRPr sz="2700" dirty="0">
              <a:latin typeface="Verdana"/>
              <a:cs typeface="Verdana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B1B4C8B9-C287-A0E4-0C40-978FCA3E38BA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21CC36-E378-5CE7-F204-1E284AD5A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86740"/>
            <a:ext cx="3553129" cy="727043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A5EA0D8-85CE-356F-6C7E-0704843738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59956"/>
            <a:ext cx="18288000" cy="727075"/>
            <a:chOff x="0" y="9559956"/>
            <a:chExt cx="18288000" cy="727075"/>
          </a:xfrm>
        </p:grpSpPr>
        <p:pic>
          <p:nvPicPr>
            <p:cNvPr id="3" name="object 3" descr="A picture containing photo, table, person, monitor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015355"/>
              <a:ext cx="18288000" cy="271780"/>
            </a:xfrm>
            <a:custGeom>
              <a:avLst/>
              <a:gdLst/>
              <a:ahLst/>
              <a:cxnLst/>
              <a:rect l="l" t="t" r="r" b="b"/>
              <a:pathLst>
                <a:path w="18288000" h="271779">
                  <a:moveTo>
                    <a:pt x="18288000" y="271653"/>
                  </a:moveTo>
                  <a:lnTo>
                    <a:pt x="0" y="271653"/>
                  </a:lnTo>
                  <a:lnTo>
                    <a:pt x="7204900" y="0"/>
                  </a:lnTo>
                  <a:lnTo>
                    <a:pt x="18288000" y="271653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3576385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4043110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4509835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4976560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5443284"/>
            <a:ext cx="133350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5910009"/>
            <a:ext cx="133350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6376735"/>
            <a:ext cx="133350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6843459"/>
            <a:ext cx="133350" cy="1333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7310184"/>
            <a:ext cx="133350" cy="1333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779729" y="2293578"/>
            <a:ext cx="14238605" cy="5363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75" dirty="0">
                <a:solidFill>
                  <a:srgbClr val="006117"/>
                </a:solidFill>
                <a:latin typeface="Verdana"/>
                <a:cs typeface="Verdana"/>
              </a:rPr>
              <a:t>Completed</a:t>
            </a:r>
            <a:r>
              <a:rPr sz="3600" spc="135" dirty="0">
                <a:solidFill>
                  <a:srgbClr val="006117"/>
                </a:solidFill>
                <a:latin typeface="Verdana"/>
                <a:cs typeface="Verdana"/>
              </a:rPr>
              <a:t> </a:t>
            </a:r>
            <a:r>
              <a:rPr sz="3600" spc="-380" dirty="0">
                <a:solidFill>
                  <a:srgbClr val="006117"/>
                </a:solidFill>
                <a:latin typeface="Verdana"/>
                <a:cs typeface="Verdana"/>
              </a:rPr>
              <a:t>Tasks</a:t>
            </a:r>
            <a:endParaRPr sz="3600" dirty="0">
              <a:latin typeface="Verdana"/>
              <a:cs typeface="Verdana"/>
            </a:endParaRPr>
          </a:p>
          <a:p>
            <a:pPr marL="257810">
              <a:lnSpc>
                <a:spcPts val="3700"/>
              </a:lnSpc>
              <a:spcBef>
                <a:spcPts val="4079"/>
              </a:spcBef>
            </a:pPr>
            <a:r>
              <a:rPr sz="3100" spc="-250" dirty="0">
                <a:latin typeface="Verdana"/>
                <a:cs typeface="Verdana"/>
              </a:rPr>
              <a:t>Automated</a:t>
            </a:r>
            <a:r>
              <a:rPr sz="3100" spc="-470" dirty="0">
                <a:latin typeface="Verdana"/>
                <a:cs typeface="Verdana"/>
              </a:rPr>
              <a:t> </a:t>
            </a:r>
            <a:r>
              <a:rPr sz="3100" spc="-254" dirty="0">
                <a:latin typeface="Verdana"/>
                <a:cs typeface="Verdana"/>
              </a:rPr>
              <a:t>Daily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229" dirty="0">
                <a:latin typeface="Verdana"/>
                <a:cs typeface="Verdana"/>
              </a:rPr>
              <a:t>Feeding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210" dirty="0">
                <a:latin typeface="Verdana"/>
                <a:cs typeface="Verdana"/>
              </a:rPr>
              <a:t>Calculation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–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280" dirty="0">
                <a:latin typeface="Verdana"/>
                <a:cs typeface="Verdana"/>
              </a:rPr>
              <a:t>Feed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195" dirty="0">
                <a:latin typeface="Verdana"/>
                <a:cs typeface="Verdana"/>
              </a:rPr>
              <a:t>quantity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280" dirty="0">
                <a:latin typeface="Verdana"/>
                <a:cs typeface="Verdana"/>
              </a:rPr>
              <a:t>(kg/day)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55" dirty="0">
                <a:latin typeface="Verdana"/>
                <a:cs typeface="Verdana"/>
              </a:rPr>
              <a:t>generated</a:t>
            </a:r>
            <a:endParaRPr sz="3100" dirty="0">
              <a:latin typeface="Verdana"/>
              <a:cs typeface="Verdana"/>
            </a:endParaRPr>
          </a:p>
          <a:p>
            <a:pPr marL="257810" marR="222250">
              <a:lnSpc>
                <a:spcPts val="3679"/>
              </a:lnSpc>
              <a:spcBef>
                <a:spcPts val="135"/>
              </a:spcBef>
            </a:pPr>
            <a:r>
              <a:rPr sz="3100" spc="-280" dirty="0">
                <a:latin typeface="Verdana"/>
                <a:cs typeface="Verdana"/>
              </a:rPr>
              <a:t>Disease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204" dirty="0">
                <a:latin typeface="Verdana"/>
                <a:cs typeface="Verdana"/>
              </a:rPr>
              <a:t>Detection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210" dirty="0">
                <a:latin typeface="Verdana"/>
                <a:cs typeface="Verdana"/>
              </a:rPr>
              <a:t>using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340" dirty="0">
                <a:latin typeface="Verdana"/>
                <a:cs typeface="Verdana"/>
              </a:rPr>
              <a:t>Camera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–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275" dirty="0">
                <a:latin typeface="Verdana"/>
                <a:cs typeface="Verdana"/>
              </a:rPr>
              <a:t>Image-</a:t>
            </a:r>
            <a:r>
              <a:rPr sz="3100" spc="-260" dirty="0">
                <a:latin typeface="Verdana"/>
                <a:cs typeface="Verdana"/>
              </a:rPr>
              <a:t>based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240" dirty="0">
                <a:latin typeface="Verdana"/>
                <a:cs typeface="Verdana"/>
              </a:rPr>
              <a:t>disease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135" dirty="0">
                <a:latin typeface="Verdana"/>
                <a:cs typeface="Verdana"/>
              </a:rPr>
              <a:t>identification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110" dirty="0">
                <a:latin typeface="Verdana"/>
                <a:cs typeface="Verdana"/>
              </a:rPr>
              <a:t>completed </a:t>
            </a:r>
            <a:r>
              <a:rPr sz="3100" spc="-145" dirty="0">
                <a:latin typeface="Verdana"/>
                <a:cs typeface="Verdana"/>
              </a:rPr>
              <a:t>Nutrition</a:t>
            </a:r>
            <a:r>
              <a:rPr sz="3100" spc="-450" dirty="0">
                <a:latin typeface="Verdana"/>
                <a:cs typeface="Verdana"/>
              </a:rPr>
              <a:t> </a:t>
            </a:r>
            <a:r>
              <a:rPr sz="3100" spc="-250" dirty="0">
                <a:latin typeface="Verdana"/>
                <a:cs typeface="Verdana"/>
              </a:rPr>
              <a:t>Recommendation</a:t>
            </a:r>
            <a:r>
              <a:rPr sz="3100" spc="-445" dirty="0">
                <a:latin typeface="Verdana"/>
                <a:cs typeface="Verdana"/>
              </a:rPr>
              <a:t> </a:t>
            </a:r>
            <a:r>
              <a:rPr sz="3100" spc="-160" dirty="0">
                <a:latin typeface="Verdana"/>
                <a:cs typeface="Verdana"/>
              </a:rPr>
              <a:t>Prediction</a:t>
            </a:r>
            <a:r>
              <a:rPr sz="3100" spc="-44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–</a:t>
            </a:r>
            <a:r>
              <a:rPr sz="3100" spc="-450" dirty="0">
                <a:latin typeface="Verdana"/>
                <a:cs typeface="Verdana"/>
              </a:rPr>
              <a:t> </a:t>
            </a:r>
            <a:r>
              <a:rPr sz="3100" spc="-254" dirty="0">
                <a:latin typeface="Verdana"/>
                <a:cs typeface="Verdana"/>
              </a:rPr>
              <a:t>Implemented</a:t>
            </a:r>
            <a:r>
              <a:rPr sz="3100" spc="-445" dirty="0">
                <a:latin typeface="Verdana"/>
                <a:cs typeface="Verdana"/>
              </a:rPr>
              <a:t> </a:t>
            </a:r>
            <a:r>
              <a:rPr sz="3100" spc="-260" dirty="0">
                <a:latin typeface="Verdana"/>
                <a:cs typeface="Verdana"/>
              </a:rPr>
              <a:t>based</a:t>
            </a:r>
            <a:r>
              <a:rPr sz="3100" spc="-445" dirty="0">
                <a:latin typeface="Verdana"/>
                <a:cs typeface="Verdana"/>
              </a:rPr>
              <a:t> </a:t>
            </a:r>
            <a:r>
              <a:rPr sz="3100" spc="-229" dirty="0">
                <a:latin typeface="Verdana"/>
                <a:cs typeface="Verdana"/>
              </a:rPr>
              <a:t>on</a:t>
            </a:r>
            <a:r>
              <a:rPr sz="3100" spc="-445" dirty="0">
                <a:latin typeface="Verdana"/>
                <a:cs typeface="Verdana"/>
              </a:rPr>
              <a:t> </a:t>
            </a:r>
            <a:r>
              <a:rPr sz="3100" spc="-160" dirty="0">
                <a:latin typeface="Verdana"/>
                <a:cs typeface="Verdana"/>
              </a:rPr>
              <a:t>cattle</a:t>
            </a:r>
            <a:r>
              <a:rPr lang="en-US" sz="3100" spc="-450" dirty="0">
                <a:latin typeface="Verdana"/>
                <a:cs typeface="Verdana"/>
              </a:rPr>
              <a:t> </a:t>
            </a:r>
            <a:r>
              <a:rPr sz="3100" spc="-160" dirty="0">
                <a:latin typeface="Verdana"/>
                <a:cs typeface="Verdana"/>
              </a:rPr>
              <a:t>parameters</a:t>
            </a:r>
            <a:endParaRPr sz="3100" dirty="0">
              <a:latin typeface="Verdana"/>
              <a:cs typeface="Verdana"/>
            </a:endParaRPr>
          </a:p>
          <a:p>
            <a:pPr marL="257810" marR="2536825">
              <a:lnSpc>
                <a:spcPts val="3679"/>
              </a:lnSpc>
              <a:spcBef>
                <a:spcPts val="130"/>
              </a:spcBef>
            </a:pPr>
            <a:r>
              <a:rPr sz="3100" spc="-285" dirty="0">
                <a:latin typeface="Verdana"/>
                <a:cs typeface="Verdana"/>
              </a:rPr>
              <a:t>Egg</a:t>
            </a:r>
            <a:r>
              <a:rPr sz="3100" spc="-470" dirty="0">
                <a:latin typeface="Verdana"/>
                <a:cs typeface="Verdana"/>
              </a:rPr>
              <a:t> </a:t>
            </a:r>
            <a:r>
              <a:rPr sz="3100" spc="-200" dirty="0">
                <a:latin typeface="Verdana"/>
                <a:cs typeface="Verdana"/>
              </a:rPr>
              <a:t>Hatching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360" dirty="0">
                <a:latin typeface="Verdana"/>
                <a:cs typeface="Verdana"/>
              </a:rPr>
              <a:t>&amp;</a:t>
            </a:r>
            <a:r>
              <a:rPr sz="3100" spc="-470" dirty="0">
                <a:latin typeface="Verdana"/>
                <a:cs typeface="Verdana"/>
              </a:rPr>
              <a:t> </a:t>
            </a:r>
            <a:r>
              <a:rPr sz="3100" spc="-160" dirty="0">
                <a:latin typeface="Verdana"/>
                <a:cs typeface="Verdana"/>
              </a:rPr>
              <a:t>Birth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160" dirty="0">
                <a:latin typeface="Verdana"/>
                <a:cs typeface="Verdana"/>
              </a:rPr>
              <a:t>Prediction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–</a:t>
            </a:r>
            <a:r>
              <a:rPr sz="3100" spc="-470" dirty="0">
                <a:latin typeface="Verdana"/>
                <a:cs typeface="Verdana"/>
              </a:rPr>
              <a:t> </a:t>
            </a:r>
            <a:r>
              <a:rPr sz="3100" spc="-160" dirty="0">
                <a:latin typeface="Verdana"/>
                <a:cs typeface="Verdana"/>
              </a:rPr>
              <a:t>Prediction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220" dirty="0">
                <a:latin typeface="Verdana"/>
                <a:cs typeface="Verdana"/>
              </a:rPr>
              <a:t>model</a:t>
            </a:r>
            <a:r>
              <a:rPr sz="3100" spc="-470" dirty="0">
                <a:latin typeface="Verdana"/>
                <a:cs typeface="Verdana"/>
              </a:rPr>
              <a:t> </a:t>
            </a:r>
            <a:r>
              <a:rPr sz="3100" spc="-90" dirty="0">
                <a:latin typeface="Verdana"/>
                <a:cs typeface="Verdana"/>
              </a:rPr>
              <a:t>implemented </a:t>
            </a:r>
            <a:r>
              <a:rPr sz="3100" spc="-150" dirty="0">
                <a:latin typeface="Verdana"/>
                <a:cs typeface="Verdana"/>
              </a:rPr>
              <a:t>Milk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235" dirty="0">
                <a:latin typeface="Verdana"/>
                <a:cs typeface="Verdana"/>
              </a:rPr>
              <a:t>Market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160" dirty="0">
                <a:latin typeface="Verdana"/>
                <a:cs typeface="Verdana"/>
              </a:rPr>
              <a:t>Prediction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325" dirty="0">
                <a:latin typeface="Verdana"/>
                <a:cs typeface="Verdana"/>
              </a:rPr>
              <a:t>System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–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150" dirty="0">
                <a:latin typeface="Verdana"/>
                <a:cs typeface="Verdana"/>
              </a:rPr>
              <a:t>Initial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160" dirty="0">
                <a:latin typeface="Verdana"/>
                <a:cs typeface="Verdana"/>
              </a:rPr>
              <a:t>prediction</a:t>
            </a:r>
            <a:r>
              <a:rPr sz="3100" spc="-459" dirty="0">
                <a:latin typeface="Verdana"/>
                <a:cs typeface="Verdana"/>
              </a:rPr>
              <a:t> </a:t>
            </a:r>
            <a:r>
              <a:rPr sz="3100" spc="-220" dirty="0">
                <a:latin typeface="Verdana"/>
                <a:cs typeface="Verdana"/>
              </a:rPr>
              <a:t>model</a:t>
            </a:r>
            <a:r>
              <a:rPr sz="3100" spc="-465" dirty="0">
                <a:latin typeface="Verdana"/>
                <a:cs typeface="Verdana"/>
              </a:rPr>
              <a:t> </a:t>
            </a:r>
            <a:r>
              <a:rPr sz="3100" spc="-160" dirty="0">
                <a:latin typeface="Verdana"/>
                <a:cs typeface="Verdana"/>
              </a:rPr>
              <a:t>developed </a:t>
            </a:r>
            <a:r>
              <a:rPr sz="3100" spc="-220" dirty="0">
                <a:latin typeface="Verdana"/>
                <a:cs typeface="Verdana"/>
              </a:rPr>
              <a:t>Frontend</a:t>
            </a:r>
            <a:r>
              <a:rPr sz="3100" spc="-480" dirty="0">
                <a:latin typeface="Verdana"/>
                <a:cs typeface="Verdana"/>
              </a:rPr>
              <a:t> </a:t>
            </a:r>
            <a:r>
              <a:rPr sz="3100" spc="-260" dirty="0">
                <a:latin typeface="Verdana"/>
                <a:cs typeface="Verdana"/>
              </a:rPr>
              <a:t>Development</a:t>
            </a:r>
            <a:r>
              <a:rPr sz="3100" spc="-47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–</a:t>
            </a:r>
            <a:r>
              <a:rPr sz="3100" spc="-480" dirty="0">
                <a:latin typeface="Verdana"/>
                <a:cs typeface="Verdana"/>
              </a:rPr>
              <a:t> </a:t>
            </a:r>
            <a:r>
              <a:rPr sz="3100" spc="-500" dirty="0">
                <a:latin typeface="Verdana"/>
                <a:cs typeface="Verdana"/>
              </a:rPr>
              <a:t>~</a:t>
            </a:r>
            <a:r>
              <a:rPr lang="en-US" sz="3100" spc="-500" dirty="0">
                <a:latin typeface="Verdana"/>
                <a:cs typeface="Verdana"/>
              </a:rPr>
              <a:t>15</a:t>
            </a:r>
            <a:r>
              <a:rPr sz="3100" spc="-500" dirty="0">
                <a:latin typeface="Verdana"/>
                <a:cs typeface="Verdana"/>
              </a:rPr>
              <a:t>%</a:t>
            </a:r>
            <a:r>
              <a:rPr sz="3100" spc="-475" dirty="0">
                <a:latin typeface="Verdana"/>
                <a:cs typeface="Verdana"/>
              </a:rPr>
              <a:t> </a:t>
            </a:r>
            <a:r>
              <a:rPr sz="3100" spc="-70" dirty="0">
                <a:latin typeface="Verdana"/>
                <a:cs typeface="Verdana"/>
              </a:rPr>
              <a:t>completed</a:t>
            </a:r>
            <a:endParaRPr sz="3100" dirty="0">
              <a:latin typeface="Verdana"/>
              <a:cs typeface="Verdana"/>
            </a:endParaRPr>
          </a:p>
          <a:p>
            <a:pPr marL="257810">
              <a:lnSpc>
                <a:spcPts val="3525"/>
              </a:lnSpc>
            </a:pPr>
            <a:r>
              <a:rPr sz="3100" spc="-280" dirty="0">
                <a:latin typeface="Verdana"/>
                <a:cs typeface="Verdana"/>
              </a:rPr>
              <a:t>Backend</a:t>
            </a:r>
            <a:r>
              <a:rPr sz="3100" spc="-490" dirty="0">
                <a:latin typeface="Verdana"/>
                <a:cs typeface="Verdana"/>
              </a:rPr>
              <a:t> </a:t>
            </a:r>
            <a:r>
              <a:rPr sz="3100" spc="-260" dirty="0">
                <a:latin typeface="Verdana"/>
                <a:cs typeface="Verdana"/>
              </a:rPr>
              <a:t>Development</a:t>
            </a:r>
            <a:r>
              <a:rPr sz="3100" spc="-490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–</a:t>
            </a:r>
            <a:r>
              <a:rPr sz="3100" spc="-484" dirty="0">
                <a:latin typeface="Verdana"/>
                <a:cs typeface="Verdana"/>
              </a:rPr>
              <a:t> </a:t>
            </a:r>
            <a:r>
              <a:rPr sz="3100" spc="-459" dirty="0">
                <a:latin typeface="Verdana"/>
                <a:cs typeface="Verdana"/>
              </a:rPr>
              <a:t>~50%</a:t>
            </a:r>
            <a:r>
              <a:rPr sz="3100" spc="-490" dirty="0">
                <a:latin typeface="Verdana"/>
                <a:cs typeface="Verdana"/>
              </a:rPr>
              <a:t> </a:t>
            </a:r>
            <a:r>
              <a:rPr sz="3100" spc="-65" dirty="0">
                <a:latin typeface="Verdana"/>
                <a:cs typeface="Verdana"/>
              </a:rPr>
              <a:t>completed</a:t>
            </a:r>
            <a:endParaRPr sz="3100" dirty="0">
              <a:latin typeface="Verdana"/>
              <a:cs typeface="Verdana"/>
            </a:endParaRPr>
          </a:p>
          <a:p>
            <a:pPr marL="257810">
              <a:lnSpc>
                <a:spcPts val="3700"/>
              </a:lnSpc>
            </a:pPr>
            <a:r>
              <a:rPr sz="3100" spc="-280" dirty="0">
                <a:latin typeface="Verdana"/>
                <a:cs typeface="Verdana"/>
              </a:rPr>
              <a:t>Backend</a:t>
            </a:r>
            <a:r>
              <a:rPr sz="3100" spc="-470" dirty="0">
                <a:latin typeface="Verdana"/>
                <a:cs typeface="Verdana"/>
              </a:rPr>
              <a:t> </a:t>
            </a:r>
            <a:r>
              <a:rPr sz="3100" spc="-200" dirty="0">
                <a:latin typeface="Verdana"/>
                <a:cs typeface="Verdana"/>
              </a:rPr>
              <a:t>Integration</a:t>
            </a:r>
            <a:r>
              <a:rPr sz="3100" spc="-470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–</a:t>
            </a:r>
            <a:r>
              <a:rPr sz="3100" spc="-470" dirty="0">
                <a:latin typeface="Verdana"/>
                <a:cs typeface="Verdana"/>
              </a:rPr>
              <a:t> </a:t>
            </a:r>
            <a:r>
              <a:rPr sz="3100" spc="-295" dirty="0">
                <a:latin typeface="Verdana"/>
                <a:cs typeface="Verdana"/>
              </a:rPr>
              <a:t>Core</a:t>
            </a:r>
            <a:r>
              <a:rPr sz="3100" spc="-470" dirty="0">
                <a:latin typeface="Verdana"/>
                <a:cs typeface="Verdana"/>
              </a:rPr>
              <a:t> </a:t>
            </a:r>
            <a:r>
              <a:rPr sz="3100" spc="-245" dirty="0">
                <a:latin typeface="Verdana"/>
                <a:cs typeface="Verdana"/>
              </a:rPr>
              <a:t>modules</a:t>
            </a:r>
            <a:r>
              <a:rPr sz="3100" spc="-470" dirty="0">
                <a:latin typeface="Verdana"/>
                <a:cs typeface="Verdana"/>
              </a:rPr>
              <a:t> </a:t>
            </a:r>
            <a:r>
              <a:rPr sz="3100" spc="-180" dirty="0">
                <a:latin typeface="Verdana"/>
                <a:cs typeface="Verdana"/>
              </a:rPr>
              <a:t>integrated</a:t>
            </a:r>
            <a:r>
              <a:rPr sz="3100" spc="-470" dirty="0">
                <a:latin typeface="Verdana"/>
                <a:cs typeface="Verdana"/>
              </a:rPr>
              <a:t> </a:t>
            </a:r>
            <a:r>
              <a:rPr sz="3100" spc="-145" dirty="0">
                <a:latin typeface="Verdana"/>
                <a:cs typeface="Verdana"/>
              </a:rPr>
              <a:t>with</a:t>
            </a:r>
            <a:r>
              <a:rPr sz="3100" spc="-470" dirty="0">
                <a:latin typeface="Verdana"/>
                <a:cs typeface="Verdana"/>
              </a:rPr>
              <a:t> </a:t>
            </a:r>
            <a:r>
              <a:rPr sz="3100" spc="-10" dirty="0">
                <a:latin typeface="Verdana"/>
                <a:cs typeface="Verdana"/>
              </a:rPr>
              <a:t>models</a:t>
            </a:r>
            <a:endParaRPr sz="3100" dirty="0">
              <a:latin typeface="Verdana"/>
              <a:cs typeface="Verdana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3413307" y="708577"/>
            <a:ext cx="12105640" cy="708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Project</a:t>
            </a:r>
            <a:r>
              <a:rPr spc="-495" dirty="0"/>
              <a:t> </a:t>
            </a:r>
            <a:r>
              <a:rPr spc="170" dirty="0"/>
              <a:t>Progress</a:t>
            </a:r>
            <a:r>
              <a:rPr spc="-490" dirty="0"/>
              <a:t> </a:t>
            </a:r>
            <a:r>
              <a:rPr spc="-15" dirty="0"/>
              <a:t>Overview</a:t>
            </a:r>
            <a:r>
              <a:rPr spc="-490" dirty="0"/>
              <a:t> </a:t>
            </a:r>
            <a:r>
              <a:rPr spc="-145" dirty="0"/>
              <a:t>(50%+</a:t>
            </a:r>
            <a:r>
              <a:rPr spc="-490" dirty="0"/>
              <a:t> </a:t>
            </a:r>
            <a:r>
              <a:rPr spc="-10" dirty="0"/>
              <a:t>Completion)</a:t>
            </a:r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4A81C75E-4F2C-448B-9752-99A0C1DF5A01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D710E6-6129-4802-EF38-A50604335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86740"/>
            <a:ext cx="3553129" cy="7270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278FAB-61A2-B3F9-6B7C-1005CB4B9C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94BE46-D6BE-05AB-9167-1A63956934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559956"/>
            <a:ext cx="18288000" cy="727075"/>
            <a:chOff x="0" y="9559956"/>
            <a:chExt cx="18288000" cy="727075"/>
          </a:xfrm>
        </p:grpSpPr>
        <p:pic>
          <p:nvPicPr>
            <p:cNvPr id="3" name="object 3" descr="A picture containing photo, table, person, monitor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015355"/>
              <a:ext cx="18288000" cy="271780"/>
            </a:xfrm>
            <a:custGeom>
              <a:avLst/>
              <a:gdLst/>
              <a:ahLst/>
              <a:cxnLst/>
              <a:rect l="l" t="t" r="r" b="b"/>
              <a:pathLst>
                <a:path w="18288000" h="271779">
                  <a:moveTo>
                    <a:pt x="18288000" y="271653"/>
                  </a:moveTo>
                  <a:lnTo>
                    <a:pt x="0" y="271653"/>
                  </a:lnTo>
                  <a:lnTo>
                    <a:pt x="7204900" y="0"/>
                  </a:lnTo>
                  <a:lnTo>
                    <a:pt x="18288000" y="271653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3576385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4043110"/>
            <a:ext cx="133350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4509835"/>
            <a:ext cx="133350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4976560"/>
            <a:ext cx="133350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5443284"/>
            <a:ext cx="133350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5910009"/>
            <a:ext cx="133350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6376735"/>
            <a:ext cx="133350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2410" y="6843459"/>
            <a:ext cx="133350" cy="133349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xfrm>
            <a:off x="1735469" y="2425172"/>
            <a:ext cx="9853295" cy="4837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To-</a:t>
            </a:r>
            <a:r>
              <a:rPr spc="-430" dirty="0"/>
              <a:t>Do</a:t>
            </a:r>
            <a:r>
              <a:rPr spc="-570" dirty="0"/>
              <a:t> </a:t>
            </a:r>
            <a:r>
              <a:rPr spc="-345" dirty="0"/>
              <a:t>/</a:t>
            </a:r>
            <a:r>
              <a:rPr spc="-565" dirty="0"/>
              <a:t> </a:t>
            </a:r>
            <a:r>
              <a:rPr spc="-265" dirty="0"/>
              <a:t>Remaining</a:t>
            </a:r>
            <a:r>
              <a:rPr spc="-565" dirty="0"/>
              <a:t> </a:t>
            </a:r>
            <a:r>
              <a:rPr spc="-380" dirty="0"/>
              <a:t>Tasks</a:t>
            </a:r>
          </a:p>
          <a:p>
            <a:pPr marL="302260">
              <a:lnSpc>
                <a:spcPts val="3675"/>
              </a:lnSpc>
            </a:pPr>
            <a:endParaRPr lang="en-US" sz="3100" spc="-220" dirty="0">
              <a:solidFill>
                <a:srgbClr val="000000"/>
              </a:solidFill>
            </a:endParaRPr>
          </a:p>
          <a:p>
            <a:pPr marL="302260">
              <a:lnSpc>
                <a:spcPts val="3675"/>
              </a:lnSpc>
            </a:pPr>
            <a:r>
              <a:rPr sz="3100" spc="-220" dirty="0">
                <a:solidFill>
                  <a:srgbClr val="000000"/>
                </a:solidFill>
              </a:rPr>
              <a:t>Frontend</a:t>
            </a:r>
            <a:r>
              <a:rPr sz="3100" spc="-475" dirty="0">
                <a:solidFill>
                  <a:srgbClr val="000000"/>
                </a:solidFill>
              </a:rPr>
              <a:t> </a:t>
            </a:r>
            <a:r>
              <a:rPr sz="3100" spc="-220" dirty="0">
                <a:solidFill>
                  <a:srgbClr val="000000"/>
                </a:solidFill>
              </a:rPr>
              <a:t>Completion</a:t>
            </a:r>
            <a:r>
              <a:rPr sz="3100" spc="-470" dirty="0">
                <a:solidFill>
                  <a:srgbClr val="000000"/>
                </a:solidFill>
              </a:rPr>
              <a:t> </a:t>
            </a:r>
            <a:r>
              <a:rPr sz="3100" spc="-360" dirty="0">
                <a:solidFill>
                  <a:srgbClr val="000000"/>
                </a:solidFill>
              </a:rPr>
              <a:t>&amp;</a:t>
            </a:r>
            <a:r>
              <a:rPr sz="3100" spc="-470" dirty="0">
                <a:solidFill>
                  <a:srgbClr val="000000"/>
                </a:solidFill>
              </a:rPr>
              <a:t> </a:t>
            </a:r>
            <a:r>
              <a:rPr sz="3100" spc="-390" dirty="0">
                <a:solidFill>
                  <a:srgbClr val="000000"/>
                </a:solidFill>
              </a:rPr>
              <a:t>UI</a:t>
            </a:r>
            <a:r>
              <a:rPr sz="3100" spc="-470" dirty="0">
                <a:solidFill>
                  <a:srgbClr val="000000"/>
                </a:solidFill>
              </a:rPr>
              <a:t> </a:t>
            </a:r>
            <a:r>
              <a:rPr sz="3100" spc="-95" dirty="0">
                <a:solidFill>
                  <a:srgbClr val="000000"/>
                </a:solidFill>
              </a:rPr>
              <a:t>Refinement</a:t>
            </a:r>
            <a:endParaRPr sz="3100" dirty="0"/>
          </a:p>
          <a:p>
            <a:pPr marL="377190">
              <a:lnSpc>
                <a:spcPts val="3675"/>
              </a:lnSpc>
            </a:pPr>
            <a:r>
              <a:rPr sz="3100" spc="-260" dirty="0">
                <a:solidFill>
                  <a:srgbClr val="000000"/>
                </a:solidFill>
              </a:rPr>
              <a:t>(dashboards,</a:t>
            </a:r>
            <a:r>
              <a:rPr sz="3100" spc="-459" dirty="0">
                <a:solidFill>
                  <a:srgbClr val="000000"/>
                </a:solidFill>
              </a:rPr>
              <a:t> </a:t>
            </a:r>
            <a:r>
              <a:rPr sz="3100" spc="-225" dirty="0">
                <a:solidFill>
                  <a:srgbClr val="000000"/>
                </a:solidFill>
              </a:rPr>
              <a:t>reports,</a:t>
            </a:r>
            <a:r>
              <a:rPr sz="3100" spc="-455" dirty="0">
                <a:solidFill>
                  <a:srgbClr val="000000"/>
                </a:solidFill>
              </a:rPr>
              <a:t> </a:t>
            </a:r>
            <a:r>
              <a:rPr sz="3100" spc="-254" dirty="0">
                <a:solidFill>
                  <a:srgbClr val="000000"/>
                </a:solidFill>
              </a:rPr>
              <a:t>user</a:t>
            </a:r>
            <a:r>
              <a:rPr sz="3100" spc="-455" dirty="0">
                <a:solidFill>
                  <a:srgbClr val="000000"/>
                </a:solidFill>
              </a:rPr>
              <a:t> </a:t>
            </a:r>
            <a:r>
              <a:rPr sz="3100" spc="-235" dirty="0">
                <a:solidFill>
                  <a:srgbClr val="000000"/>
                </a:solidFill>
              </a:rPr>
              <a:t>experience</a:t>
            </a:r>
            <a:r>
              <a:rPr sz="3100" spc="-455" dirty="0">
                <a:solidFill>
                  <a:srgbClr val="000000"/>
                </a:solidFill>
              </a:rPr>
              <a:t> </a:t>
            </a:r>
            <a:r>
              <a:rPr sz="3100" spc="-135" dirty="0">
                <a:solidFill>
                  <a:srgbClr val="000000"/>
                </a:solidFill>
              </a:rPr>
              <a:t>improvements)</a:t>
            </a:r>
            <a:endParaRPr sz="3100" dirty="0"/>
          </a:p>
          <a:p>
            <a:pPr marL="302260">
              <a:lnSpc>
                <a:spcPts val="3675"/>
              </a:lnSpc>
            </a:pPr>
            <a:r>
              <a:rPr sz="3100" spc="-280" dirty="0">
                <a:solidFill>
                  <a:srgbClr val="000000"/>
                </a:solidFill>
              </a:rPr>
              <a:t>Backend</a:t>
            </a:r>
            <a:r>
              <a:rPr sz="3100" spc="-505" dirty="0">
                <a:solidFill>
                  <a:srgbClr val="000000"/>
                </a:solidFill>
              </a:rPr>
              <a:t> </a:t>
            </a:r>
            <a:r>
              <a:rPr sz="3100" spc="-110" dirty="0">
                <a:solidFill>
                  <a:srgbClr val="000000"/>
                </a:solidFill>
              </a:rPr>
              <a:t>Completion</a:t>
            </a:r>
            <a:endParaRPr sz="3100" dirty="0"/>
          </a:p>
          <a:p>
            <a:pPr marL="377190">
              <a:lnSpc>
                <a:spcPts val="3675"/>
              </a:lnSpc>
            </a:pPr>
            <a:r>
              <a:rPr sz="3100" spc="-305" dirty="0">
                <a:solidFill>
                  <a:srgbClr val="000000"/>
                </a:solidFill>
              </a:rPr>
              <a:t>(API</a:t>
            </a:r>
            <a:r>
              <a:rPr sz="3100" spc="-430" dirty="0">
                <a:solidFill>
                  <a:srgbClr val="000000"/>
                </a:solidFill>
              </a:rPr>
              <a:t> </a:t>
            </a:r>
            <a:r>
              <a:rPr sz="3100" spc="-190" dirty="0">
                <a:solidFill>
                  <a:srgbClr val="000000"/>
                </a:solidFill>
              </a:rPr>
              <a:t>optimization,</a:t>
            </a:r>
            <a:r>
              <a:rPr sz="3100" spc="-425" dirty="0">
                <a:solidFill>
                  <a:srgbClr val="000000"/>
                </a:solidFill>
              </a:rPr>
              <a:t> </a:t>
            </a:r>
            <a:r>
              <a:rPr sz="3100" spc="-210" dirty="0">
                <a:solidFill>
                  <a:srgbClr val="000000"/>
                </a:solidFill>
              </a:rPr>
              <a:t>validation,</a:t>
            </a:r>
            <a:r>
              <a:rPr sz="3100" spc="-425" dirty="0">
                <a:solidFill>
                  <a:srgbClr val="000000"/>
                </a:solidFill>
              </a:rPr>
              <a:t> </a:t>
            </a:r>
            <a:r>
              <a:rPr sz="3100" spc="-80" dirty="0">
                <a:solidFill>
                  <a:srgbClr val="000000"/>
                </a:solidFill>
              </a:rPr>
              <a:t>security)</a:t>
            </a:r>
            <a:endParaRPr sz="3100" dirty="0"/>
          </a:p>
          <a:p>
            <a:pPr marL="302260">
              <a:lnSpc>
                <a:spcPts val="3675"/>
              </a:lnSpc>
            </a:pPr>
            <a:r>
              <a:rPr sz="3100" spc="-235" dirty="0">
                <a:solidFill>
                  <a:srgbClr val="000000"/>
                </a:solidFill>
              </a:rPr>
              <a:t>Market</a:t>
            </a:r>
            <a:r>
              <a:rPr sz="3100" spc="-434" dirty="0">
                <a:solidFill>
                  <a:srgbClr val="000000"/>
                </a:solidFill>
              </a:rPr>
              <a:t> </a:t>
            </a:r>
            <a:r>
              <a:rPr sz="3100" spc="-160" dirty="0">
                <a:solidFill>
                  <a:srgbClr val="000000"/>
                </a:solidFill>
              </a:rPr>
              <a:t>Prediction</a:t>
            </a:r>
            <a:r>
              <a:rPr sz="3100" spc="-430" dirty="0">
                <a:solidFill>
                  <a:srgbClr val="000000"/>
                </a:solidFill>
              </a:rPr>
              <a:t> </a:t>
            </a:r>
            <a:r>
              <a:rPr sz="3100" spc="-270" dirty="0">
                <a:solidFill>
                  <a:srgbClr val="000000"/>
                </a:solidFill>
              </a:rPr>
              <a:t>Enhancement</a:t>
            </a:r>
            <a:endParaRPr sz="3100" dirty="0"/>
          </a:p>
          <a:p>
            <a:pPr marL="377190">
              <a:lnSpc>
                <a:spcPts val="3675"/>
              </a:lnSpc>
            </a:pPr>
            <a:r>
              <a:rPr sz="3100" spc="-275" dirty="0">
                <a:solidFill>
                  <a:srgbClr val="000000"/>
                </a:solidFill>
              </a:rPr>
              <a:t>(accuracy</a:t>
            </a:r>
            <a:r>
              <a:rPr sz="3100" spc="-459" dirty="0">
                <a:solidFill>
                  <a:srgbClr val="000000"/>
                </a:solidFill>
              </a:rPr>
              <a:t> </a:t>
            </a:r>
            <a:r>
              <a:rPr sz="3100" spc="-240" dirty="0">
                <a:solidFill>
                  <a:srgbClr val="000000"/>
                </a:solidFill>
              </a:rPr>
              <a:t>improvement</a:t>
            </a:r>
            <a:r>
              <a:rPr sz="3100" spc="-459" dirty="0">
                <a:solidFill>
                  <a:srgbClr val="000000"/>
                </a:solidFill>
              </a:rPr>
              <a:t> </a:t>
            </a:r>
            <a:r>
              <a:rPr sz="3100" spc="-265" dirty="0">
                <a:solidFill>
                  <a:srgbClr val="000000"/>
                </a:solidFill>
              </a:rPr>
              <a:t>and</a:t>
            </a:r>
            <a:r>
              <a:rPr sz="3100" spc="-459" dirty="0">
                <a:solidFill>
                  <a:srgbClr val="000000"/>
                </a:solidFill>
              </a:rPr>
              <a:t> </a:t>
            </a:r>
            <a:r>
              <a:rPr sz="3100" spc="-165" dirty="0">
                <a:solidFill>
                  <a:srgbClr val="000000"/>
                </a:solidFill>
              </a:rPr>
              <a:t>real-</a:t>
            </a:r>
            <a:r>
              <a:rPr sz="3100" spc="-175" dirty="0">
                <a:solidFill>
                  <a:srgbClr val="000000"/>
                </a:solidFill>
              </a:rPr>
              <a:t>time</a:t>
            </a:r>
            <a:r>
              <a:rPr sz="3100" spc="-459" dirty="0">
                <a:solidFill>
                  <a:srgbClr val="000000"/>
                </a:solidFill>
              </a:rPr>
              <a:t> </a:t>
            </a:r>
            <a:r>
              <a:rPr sz="3100" spc="-240" dirty="0">
                <a:solidFill>
                  <a:srgbClr val="000000"/>
                </a:solidFill>
              </a:rPr>
              <a:t>data</a:t>
            </a:r>
            <a:r>
              <a:rPr sz="3100" spc="-455" dirty="0">
                <a:solidFill>
                  <a:srgbClr val="000000"/>
                </a:solidFill>
              </a:rPr>
              <a:t> </a:t>
            </a:r>
            <a:r>
              <a:rPr sz="3100" spc="-114" dirty="0">
                <a:solidFill>
                  <a:srgbClr val="000000"/>
                </a:solidFill>
              </a:rPr>
              <a:t>integration)</a:t>
            </a:r>
            <a:endParaRPr sz="3100" dirty="0"/>
          </a:p>
          <a:p>
            <a:pPr marL="302260">
              <a:lnSpc>
                <a:spcPts val="3675"/>
              </a:lnSpc>
            </a:pPr>
            <a:r>
              <a:rPr sz="3100" spc="-175" dirty="0">
                <a:solidFill>
                  <a:srgbClr val="000000"/>
                </a:solidFill>
              </a:rPr>
              <a:t>Field</a:t>
            </a:r>
            <a:r>
              <a:rPr sz="3100" spc="-490" dirty="0">
                <a:solidFill>
                  <a:srgbClr val="000000"/>
                </a:solidFill>
              </a:rPr>
              <a:t> </a:t>
            </a:r>
            <a:r>
              <a:rPr sz="3100" spc="-150" dirty="0">
                <a:solidFill>
                  <a:srgbClr val="000000"/>
                </a:solidFill>
              </a:rPr>
              <a:t>Visit</a:t>
            </a:r>
            <a:r>
              <a:rPr sz="3100" spc="-484" dirty="0">
                <a:solidFill>
                  <a:srgbClr val="000000"/>
                </a:solidFill>
              </a:rPr>
              <a:t> </a:t>
            </a:r>
            <a:r>
              <a:rPr sz="3100" spc="-360" dirty="0">
                <a:solidFill>
                  <a:srgbClr val="000000"/>
                </a:solidFill>
              </a:rPr>
              <a:t>&amp;</a:t>
            </a:r>
            <a:r>
              <a:rPr sz="3100" spc="-484" dirty="0">
                <a:solidFill>
                  <a:srgbClr val="000000"/>
                </a:solidFill>
              </a:rPr>
              <a:t> </a:t>
            </a:r>
            <a:r>
              <a:rPr sz="3100" spc="-310" dirty="0">
                <a:solidFill>
                  <a:srgbClr val="000000"/>
                </a:solidFill>
              </a:rPr>
              <a:t>Data</a:t>
            </a:r>
            <a:r>
              <a:rPr sz="3100" spc="-484" dirty="0">
                <a:solidFill>
                  <a:srgbClr val="000000"/>
                </a:solidFill>
              </a:rPr>
              <a:t> </a:t>
            </a:r>
            <a:r>
              <a:rPr sz="3100" spc="-75" dirty="0">
                <a:solidFill>
                  <a:srgbClr val="000000"/>
                </a:solidFill>
              </a:rPr>
              <a:t>Validation</a:t>
            </a:r>
            <a:endParaRPr sz="3100" dirty="0"/>
          </a:p>
          <a:p>
            <a:pPr marL="377190">
              <a:lnSpc>
                <a:spcPts val="3695"/>
              </a:lnSpc>
            </a:pPr>
            <a:r>
              <a:rPr sz="3100" spc="-185" dirty="0">
                <a:solidFill>
                  <a:srgbClr val="000000"/>
                </a:solidFill>
              </a:rPr>
              <a:t>(on-</a:t>
            </a:r>
            <a:r>
              <a:rPr sz="3100" spc="-145" dirty="0">
                <a:solidFill>
                  <a:srgbClr val="000000"/>
                </a:solidFill>
              </a:rPr>
              <a:t>site</a:t>
            </a:r>
            <a:r>
              <a:rPr sz="3100" spc="-465" dirty="0">
                <a:solidFill>
                  <a:srgbClr val="000000"/>
                </a:solidFill>
              </a:rPr>
              <a:t> </a:t>
            </a:r>
            <a:r>
              <a:rPr sz="3100" spc="-240" dirty="0">
                <a:solidFill>
                  <a:srgbClr val="000000"/>
                </a:solidFill>
              </a:rPr>
              <a:t>data</a:t>
            </a:r>
            <a:r>
              <a:rPr sz="3100" spc="-465" dirty="0">
                <a:solidFill>
                  <a:srgbClr val="000000"/>
                </a:solidFill>
              </a:rPr>
              <a:t> </a:t>
            </a:r>
            <a:r>
              <a:rPr sz="3100" spc="-150" dirty="0">
                <a:solidFill>
                  <a:srgbClr val="000000"/>
                </a:solidFill>
              </a:rPr>
              <a:t>collection</a:t>
            </a:r>
            <a:r>
              <a:rPr sz="3100" spc="-465" dirty="0">
                <a:solidFill>
                  <a:srgbClr val="000000"/>
                </a:solidFill>
              </a:rPr>
              <a:t> </a:t>
            </a:r>
            <a:r>
              <a:rPr sz="3100" spc="-265" dirty="0">
                <a:solidFill>
                  <a:srgbClr val="000000"/>
                </a:solidFill>
              </a:rPr>
              <a:t>and</a:t>
            </a:r>
            <a:r>
              <a:rPr sz="3100" spc="-465" dirty="0">
                <a:solidFill>
                  <a:srgbClr val="000000"/>
                </a:solidFill>
              </a:rPr>
              <a:t> </a:t>
            </a:r>
            <a:r>
              <a:rPr sz="3100" spc="-165" dirty="0">
                <a:solidFill>
                  <a:srgbClr val="000000"/>
                </a:solidFill>
              </a:rPr>
              <a:t>real-</a:t>
            </a:r>
            <a:r>
              <a:rPr sz="3100" spc="-185" dirty="0">
                <a:solidFill>
                  <a:srgbClr val="000000"/>
                </a:solidFill>
              </a:rPr>
              <a:t>world</a:t>
            </a:r>
            <a:r>
              <a:rPr sz="3100" spc="-459" dirty="0">
                <a:solidFill>
                  <a:srgbClr val="000000"/>
                </a:solidFill>
              </a:rPr>
              <a:t> </a:t>
            </a:r>
            <a:r>
              <a:rPr sz="3100" spc="-10" dirty="0">
                <a:solidFill>
                  <a:srgbClr val="000000"/>
                </a:solidFill>
              </a:rPr>
              <a:t>testing)</a:t>
            </a:r>
            <a:endParaRPr sz="3100" dirty="0"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8705" rIns="0" bIns="0" rtlCol="0">
            <a:spAutoFit/>
          </a:bodyPr>
          <a:lstStyle/>
          <a:p>
            <a:pPr marL="149606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Project</a:t>
            </a:r>
            <a:r>
              <a:rPr spc="-495" dirty="0"/>
              <a:t> </a:t>
            </a:r>
            <a:r>
              <a:rPr spc="170" dirty="0"/>
              <a:t>Progress</a:t>
            </a:r>
            <a:r>
              <a:rPr spc="-490" dirty="0"/>
              <a:t> </a:t>
            </a:r>
            <a:r>
              <a:rPr spc="-15" dirty="0"/>
              <a:t>Overview</a:t>
            </a:r>
            <a:r>
              <a:rPr spc="-490" dirty="0"/>
              <a:t> </a:t>
            </a:r>
            <a:r>
              <a:rPr spc="-145" dirty="0"/>
              <a:t>(50%+</a:t>
            </a:r>
            <a:r>
              <a:rPr spc="-490" dirty="0"/>
              <a:t> </a:t>
            </a:r>
            <a:r>
              <a:rPr spc="-10" dirty="0"/>
              <a:t>Completion)</a:t>
            </a:r>
          </a:p>
        </p:txBody>
      </p:sp>
      <p:sp>
        <p:nvSpPr>
          <p:cNvPr id="19" name="object 11">
            <a:extLst>
              <a:ext uri="{FF2B5EF4-FFF2-40B4-BE49-F238E27FC236}">
                <a16:creationId xmlns:a16="http://schemas.microsoft.com/office/drawing/2014/main" id="{DA5B7D10-7701-6267-DE6D-7C2AA65DAB4A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A342A33-992E-A7C0-AF7A-346B437CB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86740"/>
            <a:ext cx="3553129" cy="7270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257E4C5-6FA3-F76F-AE3C-370171889E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61E9E67-7B01-EA1C-09A7-B08AC08287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6812" y="1966464"/>
            <a:ext cx="7130527" cy="832053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895810" y="4205313"/>
            <a:ext cx="4782185" cy="873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50" spc="590" dirty="0">
                <a:solidFill>
                  <a:srgbClr val="29266D"/>
                </a:solidFill>
              </a:rPr>
              <a:t>THANK</a:t>
            </a:r>
            <a:r>
              <a:rPr sz="5550" spc="-155" dirty="0">
                <a:solidFill>
                  <a:srgbClr val="29266D"/>
                </a:solidFill>
              </a:rPr>
              <a:t> </a:t>
            </a:r>
            <a:r>
              <a:rPr sz="5550" spc="445" dirty="0">
                <a:solidFill>
                  <a:srgbClr val="29266D"/>
                </a:solidFill>
              </a:rPr>
              <a:t>YOU!</a:t>
            </a:r>
            <a:endParaRPr sz="5550"/>
          </a:p>
        </p:txBody>
      </p:sp>
      <p:sp>
        <p:nvSpPr>
          <p:cNvPr id="5" name="object 11">
            <a:extLst>
              <a:ext uri="{FF2B5EF4-FFF2-40B4-BE49-F238E27FC236}">
                <a16:creationId xmlns:a16="http://schemas.microsoft.com/office/drawing/2014/main" id="{110C2EE4-0AAC-2D94-BD60-DB01780CE754}"/>
              </a:ext>
            </a:extLst>
          </p:cNvPr>
          <p:cNvSpPr txBox="1"/>
          <p:nvPr/>
        </p:nvSpPr>
        <p:spPr>
          <a:xfrm>
            <a:off x="16773525" y="9959077"/>
            <a:ext cx="1209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90" dirty="0">
                <a:latin typeface="Verdana"/>
                <a:cs typeface="Verdana"/>
              </a:rPr>
              <a:t>12</a:t>
            </a:r>
            <a:r>
              <a:rPr sz="1800" spc="-190" dirty="0">
                <a:latin typeface="Verdana"/>
                <a:cs typeface="Verdana"/>
              </a:rPr>
              <a:t>/</a:t>
            </a:r>
            <a:r>
              <a:rPr lang="en-US" sz="1800" spc="-190" dirty="0">
                <a:latin typeface="Verdana"/>
                <a:cs typeface="Verdana"/>
              </a:rPr>
              <a:t>5</a:t>
            </a:r>
            <a:r>
              <a:rPr sz="1800" spc="-190" dirty="0">
                <a:latin typeface="Verdana"/>
                <a:cs typeface="Verdana"/>
              </a:rPr>
              <a:t>/202</a:t>
            </a:r>
            <a:r>
              <a:rPr lang="en-US" sz="1800" spc="-190" dirty="0">
                <a:latin typeface="Verdana"/>
                <a:cs typeface="Verdana"/>
              </a:rPr>
              <a:t>6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94F252-6BCD-E415-232B-24D43466F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86740"/>
            <a:ext cx="3553129" cy="727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79BF0C-41EF-2E6E-1DDE-79FB4EFC7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59957"/>
            <a:ext cx="3553129" cy="7270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8C8AE9-E798-9AE2-0722-594509E951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7" y="365747"/>
            <a:ext cx="1859127" cy="120654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4CF5A1-6F1F-F1E0-F539-CAE9ED110F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5E673C-3029-4AB6-9D19-293F55AF73F7}">
  <ds:schemaRefs>
    <ds:schemaRef ds:uri="http://schemas.microsoft.com/office/2006/metadata/properties"/>
    <ds:schemaRef ds:uri="http://schemas.microsoft.com/office/infopath/2007/PartnerControls"/>
    <ds:schemaRef ds:uri="db72c12f-87a4-44ab-bbc5-4cc8306b158a"/>
    <ds:schemaRef ds:uri="5aad1aa7-8ede-435c-b3a7-ac11bacaeb50"/>
  </ds:schemaRefs>
</ds:datastoreItem>
</file>

<file path=customXml/itemProps2.xml><?xml version="1.0" encoding="utf-8"?>
<ds:datastoreItem xmlns:ds="http://schemas.openxmlformats.org/officeDocument/2006/customXml" ds:itemID="{597DCB51-31EA-415B-91C2-42FBB9AEEB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8FA49F-D868-4D42-AA6C-18ABA06C82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ad1aa7-8ede-435c-b3a7-ac11bacaeb50"/>
    <ds:schemaRef ds:uri="db72c12f-87a4-44ab-bbc5-4cc8306b15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</TotalTime>
  <Words>1180</Words>
  <Application>Microsoft Office PowerPoint</Application>
  <PresentationFormat>Custom</PresentationFormat>
  <Paragraphs>207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AI SMART</vt:lpstr>
      <vt:lpstr>CONTENT</vt:lpstr>
      <vt:lpstr>Converting Traditional farm to Smart Farm</vt:lpstr>
      <vt:lpstr>Design Excellence of the Overall Solution</vt:lpstr>
      <vt:lpstr>Data Collection Permission Letter</vt:lpstr>
      <vt:lpstr>Data Collection Activities</vt:lpstr>
      <vt:lpstr>ANIMAL BIRTH AND EGG HATCH PREDICTION</vt:lpstr>
      <vt:lpstr>Proposed Solution</vt:lpstr>
      <vt:lpstr>DESIGN CONTRIBUTION AND USER FEEDBACK</vt:lpstr>
      <vt:lpstr>Automated Feeding System &amp; Nutrition Recomender</vt:lpstr>
      <vt:lpstr>Proposed Solution</vt:lpstr>
      <vt:lpstr>DESIGN CONTRIBUTION AND USER FEEDBACK</vt:lpstr>
      <vt:lpstr>Customized Live Milk Market prediction with AI/ML</vt:lpstr>
      <vt:lpstr>PROPOSED SOLUTION AND USER REQUIREMENTS ADDRESSED</vt:lpstr>
      <vt:lpstr>DESIGN CONTRIBUTION AND USER FEEDBACK</vt:lpstr>
      <vt:lpstr>Disease Detection and Emergency Alerts for Cattels</vt:lpstr>
      <vt:lpstr>PROPOSED SOLUTION AND USER REQUIREMENTS ADDRESSED</vt:lpstr>
      <vt:lpstr>DESIGN CONTRIBUTION AND USER FEEDBACK</vt:lpstr>
      <vt:lpstr>Converting Traditional farm to Smart Farm</vt:lpstr>
      <vt:lpstr>Project Progress Overview (50%+ Completion)</vt:lpstr>
      <vt:lpstr>Project Progress Overview (50%+ Completion)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SMART FARM </dc:title>
  <dc:creator>Ravindu Yasas</dc:creator>
  <cp:keywords>DAG9epFAydE,BAGoGbUek7o,0</cp:keywords>
  <cp:lastModifiedBy>lahiru shamika</cp:lastModifiedBy>
  <cp:revision>39</cp:revision>
  <dcterms:created xsi:type="dcterms:W3CDTF">2026-05-10T05:24:49Z</dcterms:created>
  <dcterms:modified xsi:type="dcterms:W3CDTF">2026-10-10T11:56:26Z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2026-01-06T00:00:00Z</vt:filetime>
  </property>
  <property fmtid="{D5CDD505-2E9C-101B-9397-08002B2CF9AE}" pid="4" name="Creator">
    <vt:lpwstr>Canva</vt:lpwstr>
  </property>
  <property fmtid="{D5CDD505-2E9C-101B-9397-08002B2CF9AE}" pid="5" name="LastSaved">
    <vt:filetime>2026-05-10T00:00:00Z</vt:filetime>
  </property>
  <property fmtid="{D5CDD505-2E9C-101B-9397-08002B2CF9AE}" pid="6" name="Producer">
    <vt:lpwstr>Canva</vt:lpwstr>
  </property>
  <property fmtid="{D5CDD505-2E9C-101B-9397-08002B2CF9AE}" pid="7" name="ContentTypeId">
    <vt:lpwstr>0x0101003C351CF19874D54390B54B723E8A2D43</vt:lpwstr>
  </property>
  <property fmtid="{D5CDD505-2E9C-101B-9397-08002B2CF9AE}" pid="8" name="MediaServiceImageTags">
    <vt:lpwstr/>
  </property>
</Properties>
</file>