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C6BDA6-A5AF-498E-A5F8-919A5DCF1C2F}" type="doc">
      <dgm:prSet loTypeId="urn:microsoft.com/office/officeart/2005/8/layout/vList2" loCatId="list" qsTypeId="urn:microsoft.com/office/officeart/2005/8/quickstyle/simple1#20" qsCatId="simple" csTypeId="urn:microsoft.com/office/officeart/2005/8/colors/accent1_2#20" csCatId="accent1" phldr="1"/>
      <dgm:spPr/>
      <dgm:t>
        <a:bodyPr/>
        <a:lstStyle/>
        <a:p>
          <a:endParaRPr lang="en-US"/>
        </a:p>
      </dgm:t>
    </dgm:pt>
    <dgm:pt modelId="{34D9814A-2377-4414-92BE-9B7062E6620E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50" b="1" dirty="0"/>
            <a:t>Target Users / Market</a:t>
          </a:r>
          <a:endParaRPr lang="en-US" sz="1850" dirty="0"/>
        </a:p>
      </dgm:t>
    </dgm:pt>
    <dgm:pt modelId="{41844BD0-D845-4B4F-9EB9-C576364DF538}" type="parTrans" cxnId="{05A5801A-8CD1-4D42-A8AC-9D3A7A7A9EC9}">
      <dgm:prSet/>
      <dgm:spPr/>
      <dgm:t>
        <a:bodyPr/>
        <a:lstStyle/>
        <a:p>
          <a:endParaRPr lang="en-US"/>
        </a:p>
      </dgm:t>
    </dgm:pt>
    <dgm:pt modelId="{B517D351-A759-46E2-AD84-E0E0EDC4A16D}" type="sibTrans" cxnId="{05A5801A-8CD1-4D42-A8AC-9D3A7A7A9EC9}">
      <dgm:prSet/>
      <dgm:spPr/>
      <dgm:t>
        <a:bodyPr/>
        <a:lstStyle/>
        <a:p>
          <a:endParaRPr lang="en-US"/>
        </a:p>
      </dgm:t>
    </dgm:pt>
    <dgm:pt modelId="{1521C468-245C-4D9E-8F90-55A5F42934EB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Livestock farmers </a:t>
          </a:r>
        </a:p>
      </dgm:t>
    </dgm:pt>
    <dgm:pt modelId="{A15EEA66-0458-41A6-AD1F-554A498A4698}" type="parTrans" cxnId="{6AF0DD94-B985-434C-8D0A-5961CF40F2E5}">
      <dgm:prSet/>
      <dgm:spPr/>
      <dgm:t>
        <a:bodyPr/>
        <a:lstStyle/>
        <a:p>
          <a:endParaRPr lang="en-US"/>
        </a:p>
      </dgm:t>
    </dgm:pt>
    <dgm:pt modelId="{E7FBDE87-75B8-4155-BEBB-ABE5528870C0}" type="sibTrans" cxnId="{6AF0DD94-B985-434C-8D0A-5961CF40F2E5}">
      <dgm:prSet/>
      <dgm:spPr/>
      <dgm:t>
        <a:bodyPr/>
        <a:lstStyle/>
        <a:p>
          <a:endParaRPr lang="en-US"/>
        </a:p>
      </dgm:t>
    </dgm:pt>
    <dgm:pt modelId="{70108885-7FB8-455B-9677-44A021EA4DA7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Dairy farms </a:t>
          </a:r>
        </a:p>
      </dgm:t>
    </dgm:pt>
    <dgm:pt modelId="{F36453D3-4AA5-4EE9-9653-BBF8C1D7F433}" type="parTrans" cxnId="{0C4F558B-2133-4AA9-897B-A39B0C32AADA}">
      <dgm:prSet/>
      <dgm:spPr/>
      <dgm:t>
        <a:bodyPr/>
        <a:lstStyle/>
        <a:p>
          <a:endParaRPr lang="en-US"/>
        </a:p>
      </dgm:t>
    </dgm:pt>
    <dgm:pt modelId="{12B37C09-4849-4E0C-9FC1-C29091E25278}" type="sibTrans" cxnId="{0C4F558B-2133-4AA9-897B-A39B0C32AADA}">
      <dgm:prSet/>
      <dgm:spPr/>
      <dgm:t>
        <a:bodyPr/>
        <a:lstStyle/>
        <a:p>
          <a:endParaRPr lang="en-US"/>
        </a:p>
      </dgm:t>
    </dgm:pt>
    <dgm:pt modelId="{DCCE6AF0-49DF-43C1-8826-C35941201860}">
      <dgm:prSet/>
      <dgm:spPr/>
      <dgm:t>
        <a:bodyPr/>
        <a:lstStyle/>
        <a:p>
          <a:r>
            <a:rPr lang="en-US"/>
            <a:t>Poultry farms </a:t>
          </a:r>
        </a:p>
      </dgm:t>
    </dgm:pt>
    <dgm:pt modelId="{4ED1756C-D8A2-4031-9A8D-4685B75D2569}" type="parTrans" cxnId="{4EADFF01-ACFB-4428-BF8F-A87D24A80E22}">
      <dgm:prSet/>
      <dgm:spPr/>
      <dgm:t>
        <a:bodyPr/>
        <a:lstStyle/>
        <a:p>
          <a:endParaRPr lang="en-US"/>
        </a:p>
      </dgm:t>
    </dgm:pt>
    <dgm:pt modelId="{E0217B24-214D-4B29-938B-697B415488C1}" type="sibTrans" cxnId="{4EADFF01-ACFB-4428-BF8F-A87D24A80E22}">
      <dgm:prSet/>
      <dgm:spPr/>
      <dgm:t>
        <a:bodyPr/>
        <a:lstStyle/>
        <a:p>
          <a:endParaRPr lang="en-US"/>
        </a:p>
      </dgm:t>
    </dgm:pt>
    <dgm:pt modelId="{855D472F-CA10-4F2F-8149-1FA583E5ED9B}">
      <dgm:prSet/>
      <dgm:spPr/>
      <dgm:t>
        <a:bodyPr/>
        <a:lstStyle/>
        <a:p>
          <a:r>
            <a:rPr lang="en-US"/>
            <a:t>Farm managers and workers </a:t>
          </a:r>
        </a:p>
      </dgm:t>
    </dgm:pt>
    <dgm:pt modelId="{BACF740A-EE73-4A9E-ADAC-BB9DB102C708}" type="parTrans" cxnId="{E32389BE-3583-41CE-ACE0-6E6D4CCD20E2}">
      <dgm:prSet/>
      <dgm:spPr/>
      <dgm:t>
        <a:bodyPr/>
        <a:lstStyle/>
        <a:p>
          <a:endParaRPr lang="en-US"/>
        </a:p>
      </dgm:t>
    </dgm:pt>
    <dgm:pt modelId="{1E3D8A8A-25D4-49FA-BDC8-E1BCA2B1300E}" type="sibTrans" cxnId="{E32389BE-3583-41CE-ACE0-6E6D4CCD20E2}">
      <dgm:prSet/>
      <dgm:spPr/>
      <dgm:t>
        <a:bodyPr/>
        <a:lstStyle/>
        <a:p>
          <a:endParaRPr lang="en-US"/>
        </a:p>
      </dgm:t>
    </dgm:pt>
    <dgm:pt modelId="{5A4C2552-C772-4BC0-818C-84EDC0BA63B4}">
      <dgm:prSet/>
      <dgm:spPr/>
      <dgm:t>
        <a:bodyPr/>
        <a:lstStyle/>
        <a:p>
          <a:r>
            <a:rPr lang="en-US"/>
            <a:t>Veterinarians </a:t>
          </a:r>
        </a:p>
      </dgm:t>
    </dgm:pt>
    <dgm:pt modelId="{B171B36C-C962-4B71-BBFE-B17FDC5987A0}" type="parTrans" cxnId="{5ADAD678-8E82-4A36-B3B5-AEE3F14F7044}">
      <dgm:prSet/>
      <dgm:spPr/>
      <dgm:t>
        <a:bodyPr/>
        <a:lstStyle/>
        <a:p>
          <a:endParaRPr lang="en-US"/>
        </a:p>
      </dgm:t>
    </dgm:pt>
    <dgm:pt modelId="{38485809-D5B6-462D-B896-A0697706F395}" type="sibTrans" cxnId="{5ADAD678-8E82-4A36-B3B5-AEE3F14F7044}">
      <dgm:prSet/>
      <dgm:spPr/>
      <dgm:t>
        <a:bodyPr/>
        <a:lstStyle/>
        <a:p>
          <a:endParaRPr lang="en-US"/>
        </a:p>
      </dgm:t>
    </dgm:pt>
    <dgm:pt modelId="{B90C63FA-6DF6-462B-9E60-364608B9A831}">
      <dgm:prSet/>
      <dgm:spPr/>
      <dgm:t>
        <a:bodyPr/>
        <a:lstStyle/>
        <a:p>
          <a:r>
            <a:rPr lang="en-US" dirty="0"/>
            <a:t>NLDB and other livestock organizations </a:t>
          </a:r>
        </a:p>
      </dgm:t>
    </dgm:pt>
    <dgm:pt modelId="{868745DE-8F09-4BB0-8157-C2C8D51AC8EB}" type="parTrans" cxnId="{C488F616-D00E-4F9E-B048-F484394EF21E}">
      <dgm:prSet/>
      <dgm:spPr/>
      <dgm:t>
        <a:bodyPr/>
        <a:lstStyle/>
        <a:p>
          <a:endParaRPr lang="en-US"/>
        </a:p>
      </dgm:t>
    </dgm:pt>
    <dgm:pt modelId="{FBABBE3B-65D6-4423-8410-E21E7CF87462}" type="sibTrans" cxnId="{C488F616-D00E-4F9E-B048-F484394EF21E}">
      <dgm:prSet/>
      <dgm:spPr/>
      <dgm:t>
        <a:bodyPr/>
        <a:lstStyle/>
        <a:p>
          <a:endParaRPr lang="en-US"/>
        </a:p>
      </dgm:t>
    </dgm:pt>
    <dgm:pt modelId="{736E9535-729C-49B5-95FB-D62D309EB266}">
      <dgm:prSet/>
      <dgm:spPr/>
      <dgm:t>
        <a:bodyPr/>
        <a:lstStyle/>
        <a:p>
          <a:r>
            <a:rPr lang="en-US"/>
            <a:t>Livestock buyers and sellers</a:t>
          </a:r>
        </a:p>
      </dgm:t>
    </dgm:pt>
    <dgm:pt modelId="{D5CC0D0A-42EF-48AE-A51E-D237D818427A}" type="parTrans" cxnId="{D9A983C4-376D-43A0-9A9B-1D4E08DEC6A6}">
      <dgm:prSet/>
      <dgm:spPr/>
      <dgm:t>
        <a:bodyPr/>
        <a:lstStyle/>
        <a:p>
          <a:endParaRPr lang="en-US"/>
        </a:p>
      </dgm:t>
    </dgm:pt>
    <dgm:pt modelId="{4E2B4EEF-DF9E-46F0-8AAD-BD5E40926A48}" type="sibTrans" cxnId="{D9A983C4-376D-43A0-9A9B-1D4E08DEC6A6}">
      <dgm:prSet/>
      <dgm:spPr/>
      <dgm:t>
        <a:bodyPr/>
        <a:lstStyle/>
        <a:p>
          <a:endParaRPr lang="en-US"/>
        </a:p>
      </dgm:t>
    </dgm:pt>
    <dgm:pt modelId="{E5020951-FBB2-408B-8196-24D3E45316D3}" type="pres">
      <dgm:prSet presAssocID="{43C6BDA6-A5AF-498E-A5F8-919A5DCF1C2F}" presName="linear" presStyleCnt="0">
        <dgm:presLayoutVars>
          <dgm:animLvl val="lvl"/>
          <dgm:resizeHandles val="exact"/>
        </dgm:presLayoutVars>
      </dgm:prSet>
      <dgm:spPr/>
    </dgm:pt>
    <dgm:pt modelId="{91EDC6FC-D8CB-4F64-ABA0-8288294A7C4E}" type="pres">
      <dgm:prSet presAssocID="{34D9814A-2377-4414-92BE-9B7062E6620E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E3BCF11-5439-4455-9BF4-104E578A7F6F}" type="pres">
      <dgm:prSet presAssocID="{B517D351-A759-46E2-AD84-E0E0EDC4A16D}" presName="spacer" presStyleCnt="0"/>
      <dgm:spPr/>
    </dgm:pt>
    <dgm:pt modelId="{6699AE7A-40DA-4A0B-BB82-D0D8BD7E9981}" type="pres">
      <dgm:prSet presAssocID="{1521C468-245C-4D9E-8F90-55A5F42934E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65F14418-B967-472D-BF75-1E60833039E8}" type="pres">
      <dgm:prSet presAssocID="{E7FBDE87-75B8-4155-BEBB-ABE5528870C0}" presName="spacer" presStyleCnt="0"/>
      <dgm:spPr/>
    </dgm:pt>
    <dgm:pt modelId="{C3937271-6234-4C4A-8518-F1875434E995}" type="pres">
      <dgm:prSet presAssocID="{70108885-7FB8-455B-9677-44A021EA4DA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920EAB6A-51F3-461D-8439-4648DE49C71B}" type="pres">
      <dgm:prSet presAssocID="{12B37C09-4849-4E0C-9FC1-C29091E25278}" presName="spacer" presStyleCnt="0"/>
      <dgm:spPr/>
    </dgm:pt>
    <dgm:pt modelId="{E80A3B3B-9083-463E-8FDB-C1AD6C9E98D5}" type="pres">
      <dgm:prSet presAssocID="{DCCE6AF0-49DF-43C1-8826-C3594120186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040D903-1503-4214-984D-43B68976AF51}" type="pres">
      <dgm:prSet presAssocID="{E0217B24-214D-4B29-938B-697B415488C1}" presName="spacer" presStyleCnt="0"/>
      <dgm:spPr/>
    </dgm:pt>
    <dgm:pt modelId="{4C776609-5050-4A5C-9074-79574E145EB2}" type="pres">
      <dgm:prSet presAssocID="{855D472F-CA10-4F2F-8149-1FA583E5ED9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1D496A5-BD0E-42BB-912E-EF4CA63B83FC}" type="pres">
      <dgm:prSet presAssocID="{1E3D8A8A-25D4-49FA-BDC8-E1BCA2B1300E}" presName="spacer" presStyleCnt="0"/>
      <dgm:spPr/>
    </dgm:pt>
    <dgm:pt modelId="{A6BE614C-929E-4319-8E89-9C34FF968BDC}" type="pres">
      <dgm:prSet presAssocID="{5A4C2552-C772-4BC0-818C-84EDC0BA63B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C643611E-8B63-46E6-84F4-59BEB3E2D32B}" type="pres">
      <dgm:prSet presAssocID="{38485809-D5B6-462D-B896-A0697706F395}" presName="spacer" presStyleCnt="0"/>
      <dgm:spPr/>
    </dgm:pt>
    <dgm:pt modelId="{123830F3-B2DA-4335-B7D2-18BA4499E320}" type="pres">
      <dgm:prSet presAssocID="{B90C63FA-6DF6-462B-9E60-364608B9A831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3E233996-AEA6-4347-9255-DBAEA9EE9417}" type="pres">
      <dgm:prSet presAssocID="{FBABBE3B-65D6-4423-8410-E21E7CF87462}" presName="spacer" presStyleCnt="0"/>
      <dgm:spPr/>
    </dgm:pt>
    <dgm:pt modelId="{1BA8D9E6-A1E8-483A-AE03-DFC78432DC01}" type="pres">
      <dgm:prSet presAssocID="{736E9535-729C-49B5-95FB-D62D309EB266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4EADFF01-ACFB-4428-BF8F-A87D24A80E22}" srcId="{43C6BDA6-A5AF-498E-A5F8-919A5DCF1C2F}" destId="{DCCE6AF0-49DF-43C1-8826-C35941201860}" srcOrd="3" destOrd="0" parTransId="{4ED1756C-D8A2-4031-9A8D-4685B75D2569}" sibTransId="{E0217B24-214D-4B29-938B-697B415488C1}"/>
    <dgm:cxn modelId="{C488F616-D00E-4F9E-B048-F484394EF21E}" srcId="{43C6BDA6-A5AF-498E-A5F8-919A5DCF1C2F}" destId="{B90C63FA-6DF6-462B-9E60-364608B9A831}" srcOrd="6" destOrd="0" parTransId="{868745DE-8F09-4BB0-8157-C2C8D51AC8EB}" sibTransId="{FBABBE3B-65D6-4423-8410-E21E7CF87462}"/>
    <dgm:cxn modelId="{05A5801A-8CD1-4D42-A8AC-9D3A7A7A9EC9}" srcId="{43C6BDA6-A5AF-498E-A5F8-919A5DCF1C2F}" destId="{34D9814A-2377-4414-92BE-9B7062E6620E}" srcOrd="0" destOrd="0" parTransId="{41844BD0-D845-4B4F-9EB9-C576364DF538}" sibTransId="{B517D351-A759-46E2-AD84-E0E0EDC4A16D}"/>
    <dgm:cxn modelId="{22FB224D-BFAB-40C0-A222-A0EB492E354E}" type="presOf" srcId="{855D472F-CA10-4F2F-8149-1FA583E5ED9B}" destId="{4C776609-5050-4A5C-9074-79574E145EB2}" srcOrd="0" destOrd="0" presId="urn:microsoft.com/office/officeart/2005/8/layout/vList2"/>
    <dgm:cxn modelId="{79CC0458-C76E-4C15-8979-C49616DBBBB9}" type="presOf" srcId="{1521C468-245C-4D9E-8F90-55A5F42934EB}" destId="{6699AE7A-40DA-4A0B-BB82-D0D8BD7E9981}" srcOrd="0" destOrd="0" presId="urn:microsoft.com/office/officeart/2005/8/layout/vList2"/>
    <dgm:cxn modelId="{5ADAD678-8E82-4A36-B3B5-AEE3F14F7044}" srcId="{43C6BDA6-A5AF-498E-A5F8-919A5DCF1C2F}" destId="{5A4C2552-C772-4BC0-818C-84EDC0BA63B4}" srcOrd="5" destOrd="0" parTransId="{B171B36C-C962-4B71-BBFE-B17FDC5987A0}" sibTransId="{38485809-D5B6-462D-B896-A0697706F395}"/>
    <dgm:cxn modelId="{EBACE178-7AE7-4B3A-AF38-CFE2D50DFFA1}" type="presOf" srcId="{736E9535-729C-49B5-95FB-D62D309EB266}" destId="{1BA8D9E6-A1E8-483A-AE03-DFC78432DC01}" srcOrd="0" destOrd="0" presId="urn:microsoft.com/office/officeart/2005/8/layout/vList2"/>
    <dgm:cxn modelId="{0C4F558B-2133-4AA9-897B-A39B0C32AADA}" srcId="{43C6BDA6-A5AF-498E-A5F8-919A5DCF1C2F}" destId="{70108885-7FB8-455B-9677-44A021EA4DA7}" srcOrd="2" destOrd="0" parTransId="{F36453D3-4AA5-4EE9-9653-BBF8C1D7F433}" sibTransId="{12B37C09-4849-4E0C-9FC1-C29091E25278}"/>
    <dgm:cxn modelId="{6AF0DD94-B985-434C-8D0A-5961CF40F2E5}" srcId="{43C6BDA6-A5AF-498E-A5F8-919A5DCF1C2F}" destId="{1521C468-245C-4D9E-8F90-55A5F42934EB}" srcOrd="1" destOrd="0" parTransId="{A15EEA66-0458-41A6-AD1F-554A498A4698}" sibTransId="{E7FBDE87-75B8-4155-BEBB-ABE5528870C0}"/>
    <dgm:cxn modelId="{75FE07BA-02EC-48A4-838B-E5C5C9A3824E}" type="presOf" srcId="{34D9814A-2377-4414-92BE-9B7062E6620E}" destId="{91EDC6FC-D8CB-4F64-ABA0-8288294A7C4E}" srcOrd="0" destOrd="0" presId="urn:microsoft.com/office/officeart/2005/8/layout/vList2"/>
    <dgm:cxn modelId="{E32389BE-3583-41CE-ACE0-6E6D4CCD20E2}" srcId="{43C6BDA6-A5AF-498E-A5F8-919A5DCF1C2F}" destId="{855D472F-CA10-4F2F-8149-1FA583E5ED9B}" srcOrd="4" destOrd="0" parTransId="{BACF740A-EE73-4A9E-ADAC-BB9DB102C708}" sibTransId="{1E3D8A8A-25D4-49FA-BDC8-E1BCA2B1300E}"/>
    <dgm:cxn modelId="{D9A983C4-376D-43A0-9A9B-1D4E08DEC6A6}" srcId="{43C6BDA6-A5AF-498E-A5F8-919A5DCF1C2F}" destId="{736E9535-729C-49B5-95FB-D62D309EB266}" srcOrd="7" destOrd="0" parTransId="{D5CC0D0A-42EF-48AE-A51E-D237D818427A}" sibTransId="{4E2B4EEF-DF9E-46F0-8AAD-BD5E40926A48}"/>
    <dgm:cxn modelId="{0E8DB4E7-C4B9-45CD-95E1-EB9C59875866}" type="presOf" srcId="{DCCE6AF0-49DF-43C1-8826-C35941201860}" destId="{E80A3B3B-9083-463E-8FDB-C1AD6C9E98D5}" srcOrd="0" destOrd="0" presId="urn:microsoft.com/office/officeart/2005/8/layout/vList2"/>
    <dgm:cxn modelId="{5F9CE9F4-B379-488E-BE1E-ADC1A225D8A3}" type="presOf" srcId="{5A4C2552-C772-4BC0-818C-84EDC0BA63B4}" destId="{A6BE614C-929E-4319-8E89-9C34FF968BDC}" srcOrd="0" destOrd="0" presId="urn:microsoft.com/office/officeart/2005/8/layout/vList2"/>
    <dgm:cxn modelId="{B707DBF7-C1D8-47A8-8745-D7BDE2EDACF0}" type="presOf" srcId="{B90C63FA-6DF6-462B-9E60-364608B9A831}" destId="{123830F3-B2DA-4335-B7D2-18BA4499E320}" srcOrd="0" destOrd="0" presId="urn:microsoft.com/office/officeart/2005/8/layout/vList2"/>
    <dgm:cxn modelId="{9C8147FB-0578-4413-ADBC-88A79CED74FE}" type="presOf" srcId="{43C6BDA6-A5AF-498E-A5F8-919A5DCF1C2F}" destId="{E5020951-FBB2-408B-8196-24D3E45316D3}" srcOrd="0" destOrd="0" presId="urn:microsoft.com/office/officeart/2005/8/layout/vList2"/>
    <dgm:cxn modelId="{F9F015FE-09D6-4420-BDE2-DA9A95F460C2}" type="presOf" srcId="{70108885-7FB8-455B-9677-44A021EA4DA7}" destId="{C3937271-6234-4C4A-8518-F1875434E995}" srcOrd="0" destOrd="0" presId="urn:microsoft.com/office/officeart/2005/8/layout/vList2"/>
    <dgm:cxn modelId="{DEF7184A-0A5D-421D-A289-B7303F1F9464}" type="presParOf" srcId="{E5020951-FBB2-408B-8196-24D3E45316D3}" destId="{91EDC6FC-D8CB-4F64-ABA0-8288294A7C4E}" srcOrd="0" destOrd="0" presId="urn:microsoft.com/office/officeart/2005/8/layout/vList2"/>
    <dgm:cxn modelId="{257F92E0-D3DE-45C6-9D9D-C1D6DCD7D800}" type="presParOf" srcId="{E5020951-FBB2-408B-8196-24D3E45316D3}" destId="{3E3BCF11-5439-4455-9BF4-104E578A7F6F}" srcOrd="1" destOrd="0" presId="urn:microsoft.com/office/officeart/2005/8/layout/vList2"/>
    <dgm:cxn modelId="{652F732F-CA0D-49BA-A3EE-3FB844F11209}" type="presParOf" srcId="{E5020951-FBB2-408B-8196-24D3E45316D3}" destId="{6699AE7A-40DA-4A0B-BB82-D0D8BD7E9981}" srcOrd="2" destOrd="0" presId="urn:microsoft.com/office/officeart/2005/8/layout/vList2"/>
    <dgm:cxn modelId="{607BA1A0-B9F2-43DE-B0BB-10BF7828CEFE}" type="presParOf" srcId="{E5020951-FBB2-408B-8196-24D3E45316D3}" destId="{65F14418-B967-472D-BF75-1E60833039E8}" srcOrd="3" destOrd="0" presId="urn:microsoft.com/office/officeart/2005/8/layout/vList2"/>
    <dgm:cxn modelId="{2C33F97F-11B6-484A-9497-1A64BE061748}" type="presParOf" srcId="{E5020951-FBB2-408B-8196-24D3E45316D3}" destId="{C3937271-6234-4C4A-8518-F1875434E995}" srcOrd="4" destOrd="0" presId="urn:microsoft.com/office/officeart/2005/8/layout/vList2"/>
    <dgm:cxn modelId="{B6DD91F9-1C63-42BA-B12F-EC98B886508A}" type="presParOf" srcId="{E5020951-FBB2-408B-8196-24D3E45316D3}" destId="{920EAB6A-51F3-461D-8439-4648DE49C71B}" srcOrd="5" destOrd="0" presId="urn:microsoft.com/office/officeart/2005/8/layout/vList2"/>
    <dgm:cxn modelId="{F61F5885-817D-4123-B214-AF1C76BE81D5}" type="presParOf" srcId="{E5020951-FBB2-408B-8196-24D3E45316D3}" destId="{E80A3B3B-9083-463E-8FDB-C1AD6C9E98D5}" srcOrd="6" destOrd="0" presId="urn:microsoft.com/office/officeart/2005/8/layout/vList2"/>
    <dgm:cxn modelId="{914EC7E0-0535-4334-9276-92EF40B10FBE}" type="presParOf" srcId="{E5020951-FBB2-408B-8196-24D3E45316D3}" destId="{F040D903-1503-4214-984D-43B68976AF51}" srcOrd="7" destOrd="0" presId="urn:microsoft.com/office/officeart/2005/8/layout/vList2"/>
    <dgm:cxn modelId="{1536A143-46D7-481F-8D36-B7E513213D40}" type="presParOf" srcId="{E5020951-FBB2-408B-8196-24D3E45316D3}" destId="{4C776609-5050-4A5C-9074-79574E145EB2}" srcOrd="8" destOrd="0" presId="urn:microsoft.com/office/officeart/2005/8/layout/vList2"/>
    <dgm:cxn modelId="{D36AB8EE-2BA7-47CD-8B70-5B2FE3719DA1}" type="presParOf" srcId="{E5020951-FBB2-408B-8196-24D3E45316D3}" destId="{B1D496A5-BD0E-42BB-912E-EF4CA63B83FC}" srcOrd="9" destOrd="0" presId="urn:microsoft.com/office/officeart/2005/8/layout/vList2"/>
    <dgm:cxn modelId="{C05742F8-B252-4351-95E4-702E9BEAF13B}" type="presParOf" srcId="{E5020951-FBB2-408B-8196-24D3E45316D3}" destId="{A6BE614C-929E-4319-8E89-9C34FF968BDC}" srcOrd="10" destOrd="0" presId="urn:microsoft.com/office/officeart/2005/8/layout/vList2"/>
    <dgm:cxn modelId="{1327BD7B-4572-41F8-A640-6196B23E52BB}" type="presParOf" srcId="{E5020951-FBB2-408B-8196-24D3E45316D3}" destId="{C643611E-8B63-46E6-84F4-59BEB3E2D32B}" srcOrd="11" destOrd="0" presId="urn:microsoft.com/office/officeart/2005/8/layout/vList2"/>
    <dgm:cxn modelId="{8C641B5A-D27E-44CC-8FE8-B22B5ABDC9CC}" type="presParOf" srcId="{E5020951-FBB2-408B-8196-24D3E45316D3}" destId="{123830F3-B2DA-4335-B7D2-18BA4499E320}" srcOrd="12" destOrd="0" presId="urn:microsoft.com/office/officeart/2005/8/layout/vList2"/>
    <dgm:cxn modelId="{1197968F-970A-49CA-9946-C012659A4A95}" type="presParOf" srcId="{E5020951-FBB2-408B-8196-24D3E45316D3}" destId="{3E233996-AEA6-4347-9255-DBAEA9EE9417}" srcOrd="13" destOrd="0" presId="urn:microsoft.com/office/officeart/2005/8/layout/vList2"/>
    <dgm:cxn modelId="{F2866A8B-1483-4C92-ADE0-D49638C0EF7B}" type="presParOf" srcId="{E5020951-FBB2-408B-8196-24D3E45316D3}" destId="{1BA8D9E6-A1E8-483A-AE03-DFC78432DC01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A0E4B9-DC43-4DFA-B350-B7BC97AA47A4}" type="doc">
      <dgm:prSet loTypeId="urn:microsoft.com/office/officeart/2005/8/layout/vList2" loCatId="list" qsTypeId="urn:microsoft.com/office/officeart/2005/8/quickstyle/simple1#16" qsCatId="simple" csTypeId="urn:microsoft.com/office/officeart/2005/8/colors/accent1_2#16" csCatId="accent1"/>
      <dgm:spPr/>
      <dgm:t>
        <a:bodyPr/>
        <a:lstStyle/>
        <a:p>
          <a:endParaRPr lang="en-US"/>
        </a:p>
      </dgm:t>
    </dgm:pt>
    <dgm:pt modelId="{3F81CBC3-3B67-4407-8FF2-52CE49F45BEB}">
      <dgm:prSet/>
      <dgm:spPr/>
      <dgm:t>
        <a:bodyPr/>
        <a:lstStyle/>
        <a:p>
          <a:r>
            <a:rPr lang="en-US" b="1"/>
            <a:t>Integration Points</a:t>
          </a:r>
          <a:endParaRPr lang="en-US"/>
        </a:p>
      </dgm:t>
    </dgm:pt>
    <dgm:pt modelId="{7559875B-B9CB-468F-8406-9EB9C7E301CC}" type="parTrans" cxnId="{4C7E1724-CCB5-4B30-9C2E-78071B675B39}">
      <dgm:prSet/>
      <dgm:spPr/>
      <dgm:t>
        <a:bodyPr/>
        <a:lstStyle/>
        <a:p>
          <a:endParaRPr lang="en-US"/>
        </a:p>
      </dgm:t>
    </dgm:pt>
    <dgm:pt modelId="{86911210-4C6D-4CA1-AD69-50D26E151FDC}" type="sibTrans" cxnId="{4C7E1724-CCB5-4B30-9C2E-78071B675B39}">
      <dgm:prSet/>
      <dgm:spPr/>
      <dgm:t>
        <a:bodyPr/>
        <a:lstStyle/>
        <a:p>
          <a:endParaRPr lang="en-US"/>
        </a:p>
      </dgm:t>
    </dgm:pt>
    <dgm:pt modelId="{B2F1D1CA-3EDF-43CC-AE5B-912735CB321D}">
      <dgm:prSet/>
      <dgm:spPr/>
      <dgm:t>
        <a:bodyPr/>
        <a:lstStyle/>
        <a:p>
          <a:r>
            <a:rPr lang="en-US"/>
            <a:t>REST API communication </a:t>
          </a:r>
        </a:p>
      </dgm:t>
    </dgm:pt>
    <dgm:pt modelId="{2FA598EB-48DE-4604-AA2C-557E7DF0FCE5}" type="parTrans" cxnId="{00294584-19C1-458C-A709-34E1326AC5CA}">
      <dgm:prSet/>
      <dgm:spPr/>
      <dgm:t>
        <a:bodyPr/>
        <a:lstStyle/>
        <a:p>
          <a:endParaRPr lang="en-US"/>
        </a:p>
      </dgm:t>
    </dgm:pt>
    <dgm:pt modelId="{64FE7DA7-CA55-4EA2-B5E4-BCF89E01572E}" type="sibTrans" cxnId="{00294584-19C1-458C-A709-34E1326AC5CA}">
      <dgm:prSet/>
      <dgm:spPr/>
      <dgm:t>
        <a:bodyPr/>
        <a:lstStyle/>
        <a:p>
          <a:endParaRPr lang="en-US"/>
        </a:p>
      </dgm:t>
    </dgm:pt>
    <dgm:pt modelId="{4ED2E815-75C1-464F-9E9D-1E9F13395CE6}">
      <dgm:prSet/>
      <dgm:spPr/>
      <dgm:t>
        <a:bodyPr/>
        <a:lstStyle/>
        <a:p>
          <a:r>
            <a:rPr lang="en-US"/>
            <a:t>JSON data exchange </a:t>
          </a:r>
        </a:p>
      </dgm:t>
    </dgm:pt>
    <dgm:pt modelId="{86962197-8CF9-4A04-857C-333B21DB021E}" type="parTrans" cxnId="{66D2E758-2558-4618-9250-72D9A2191395}">
      <dgm:prSet/>
      <dgm:spPr/>
      <dgm:t>
        <a:bodyPr/>
        <a:lstStyle/>
        <a:p>
          <a:endParaRPr lang="en-US"/>
        </a:p>
      </dgm:t>
    </dgm:pt>
    <dgm:pt modelId="{11E3D075-B2F8-40D6-89D9-1DC202E9F6BE}" type="sibTrans" cxnId="{66D2E758-2558-4618-9250-72D9A2191395}">
      <dgm:prSet/>
      <dgm:spPr/>
      <dgm:t>
        <a:bodyPr/>
        <a:lstStyle/>
        <a:p>
          <a:endParaRPr lang="en-US"/>
        </a:p>
      </dgm:t>
    </dgm:pt>
    <dgm:pt modelId="{80A856D5-0902-4AD0-9219-B574498D12ED}">
      <dgm:prSet/>
      <dgm:spPr/>
      <dgm:t>
        <a:bodyPr/>
        <a:lstStyle/>
        <a:p>
          <a:r>
            <a:rPr lang="en-US"/>
            <a:t>Image uploads from farm cameras </a:t>
          </a:r>
        </a:p>
      </dgm:t>
    </dgm:pt>
    <dgm:pt modelId="{BF24929B-1FB7-4777-A4BA-67B23D7B4378}" type="parTrans" cxnId="{53BD233D-3616-4E6B-95D4-8CFAD3B62BC2}">
      <dgm:prSet/>
      <dgm:spPr/>
      <dgm:t>
        <a:bodyPr/>
        <a:lstStyle/>
        <a:p>
          <a:endParaRPr lang="en-US"/>
        </a:p>
      </dgm:t>
    </dgm:pt>
    <dgm:pt modelId="{81CD6E02-F77B-4655-BB38-912841AF93BB}" type="sibTrans" cxnId="{53BD233D-3616-4E6B-95D4-8CFAD3B62BC2}">
      <dgm:prSet/>
      <dgm:spPr/>
      <dgm:t>
        <a:bodyPr/>
        <a:lstStyle/>
        <a:p>
          <a:endParaRPr lang="en-US"/>
        </a:p>
      </dgm:t>
    </dgm:pt>
    <dgm:pt modelId="{5CD5E657-7267-42DA-95A7-96F9BB8197BB}">
      <dgm:prSet/>
      <dgm:spPr/>
      <dgm:t>
        <a:bodyPr/>
        <a:lstStyle/>
        <a:p>
          <a:r>
            <a:rPr lang="en-US"/>
            <a:t>Historical animal records </a:t>
          </a:r>
        </a:p>
      </dgm:t>
    </dgm:pt>
    <dgm:pt modelId="{FE4E648C-2E73-4809-BAB5-073768FD797E}" type="parTrans" cxnId="{7EB8219B-5CA9-479D-87DB-AABC24DBF0F6}">
      <dgm:prSet/>
      <dgm:spPr/>
      <dgm:t>
        <a:bodyPr/>
        <a:lstStyle/>
        <a:p>
          <a:endParaRPr lang="en-US"/>
        </a:p>
      </dgm:t>
    </dgm:pt>
    <dgm:pt modelId="{2E886952-FD5B-40E0-8482-F5EC1FC0C83A}" type="sibTrans" cxnId="{7EB8219B-5CA9-479D-87DB-AABC24DBF0F6}">
      <dgm:prSet/>
      <dgm:spPr/>
      <dgm:t>
        <a:bodyPr/>
        <a:lstStyle/>
        <a:p>
          <a:endParaRPr lang="en-US"/>
        </a:p>
      </dgm:t>
    </dgm:pt>
    <dgm:pt modelId="{920CA044-4886-4AEC-B475-403A27575803}">
      <dgm:prSet/>
      <dgm:spPr/>
      <dgm:t>
        <a:bodyPr/>
        <a:lstStyle/>
        <a:p>
          <a:r>
            <a:rPr lang="en-US"/>
            <a:t>Feeding and health information </a:t>
          </a:r>
        </a:p>
      </dgm:t>
    </dgm:pt>
    <dgm:pt modelId="{A6E2FD8D-C317-4373-88FA-989D522D2165}" type="parTrans" cxnId="{A61E6FBA-872C-4C3C-A8D0-9CD4BE971034}">
      <dgm:prSet/>
      <dgm:spPr/>
      <dgm:t>
        <a:bodyPr/>
        <a:lstStyle/>
        <a:p>
          <a:endParaRPr lang="en-US"/>
        </a:p>
      </dgm:t>
    </dgm:pt>
    <dgm:pt modelId="{CA93C946-CF81-41BF-8758-88F4B6400832}" type="sibTrans" cxnId="{A61E6FBA-872C-4C3C-A8D0-9CD4BE971034}">
      <dgm:prSet/>
      <dgm:spPr/>
      <dgm:t>
        <a:bodyPr/>
        <a:lstStyle/>
        <a:p>
          <a:endParaRPr lang="en-US"/>
        </a:p>
      </dgm:t>
    </dgm:pt>
    <dgm:pt modelId="{E1487AAD-5C98-421F-8DEF-D748EC61762A}">
      <dgm:prSet/>
      <dgm:spPr/>
      <dgm:t>
        <a:bodyPr/>
        <a:lstStyle/>
        <a:p>
          <a:r>
            <a:rPr lang="en-US"/>
            <a:t>Market price and demand data </a:t>
          </a:r>
        </a:p>
      </dgm:t>
    </dgm:pt>
    <dgm:pt modelId="{2C12FB79-8878-488A-A206-C7C530F4A255}" type="parTrans" cxnId="{DD993A3C-3749-4F62-BEB3-072A16A3835C}">
      <dgm:prSet/>
      <dgm:spPr/>
      <dgm:t>
        <a:bodyPr/>
        <a:lstStyle/>
        <a:p>
          <a:endParaRPr lang="en-US"/>
        </a:p>
      </dgm:t>
    </dgm:pt>
    <dgm:pt modelId="{8865ABD1-0180-4F43-B1EB-F91C31FC9D4A}" type="sibTrans" cxnId="{DD993A3C-3749-4F62-BEB3-072A16A3835C}">
      <dgm:prSet/>
      <dgm:spPr/>
      <dgm:t>
        <a:bodyPr/>
        <a:lstStyle/>
        <a:p>
          <a:endParaRPr lang="en-US"/>
        </a:p>
      </dgm:t>
    </dgm:pt>
    <dgm:pt modelId="{0400F6AE-3E52-490F-9DC3-F9A73D93717D}">
      <dgm:prSet/>
      <dgm:spPr/>
      <dgm:t>
        <a:bodyPr/>
        <a:lstStyle/>
        <a:p>
          <a:r>
            <a:rPr lang="en-US"/>
            <a:t>Shared database </a:t>
          </a:r>
        </a:p>
      </dgm:t>
    </dgm:pt>
    <dgm:pt modelId="{8729203A-E2F1-4312-9587-FE9D5609F9A2}" type="parTrans" cxnId="{C3E1235D-6E90-4A16-90D3-F5DB6E4BE9AF}">
      <dgm:prSet/>
      <dgm:spPr/>
      <dgm:t>
        <a:bodyPr/>
        <a:lstStyle/>
        <a:p>
          <a:endParaRPr lang="en-US"/>
        </a:p>
      </dgm:t>
    </dgm:pt>
    <dgm:pt modelId="{AEC231A0-DA4B-46BD-B19D-12863551D4F0}" type="sibTrans" cxnId="{C3E1235D-6E90-4A16-90D3-F5DB6E4BE9AF}">
      <dgm:prSet/>
      <dgm:spPr/>
      <dgm:t>
        <a:bodyPr/>
        <a:lstStyle/>
        <a:p>
          <a:endParaRPr lang="en-US"/>
        </a:p>
      </dgm:t>
    </dgm:pt>
    <dgm:pt modelId="{3F9816CF-BB4C-4310-B344-6C3BF45FCB6C}">
      <dgm:prSet/>
      <dgm:spPr/>
      <dgm:t>
        <a:bodyPr/>
        <a:lstStyle/>
        <a:p>
          <a:r>
            <a:rPr lang="en-US"/>
            <a:t>Centralized dashboard </a:t>
          </a:r>
        </a:p>
      </dgm:t>
    </dgm:pt>
    <dgm:pt modelId="{1EA515F4-1719-45DC-B407-A2092BF71608}" type="parTrans" cxnId="{611C308B-6BDB-4419-A7D8-ACD94B548AC7}">
      <dgm:prSet/>
      <dgm:spPr/>
      <dgm:t>
        <a:bodyPr/>
        <a:lstStyle/>
        <a:p>
          <a:endParaRPr lang="en-US"/>
        </a:p>
      </dgm:t>
    </dgm:pt>
    <dgm:pt modelId="{C90EFDA4-FDA4-4802-B10A-B1487B0ABD0A}" type="sibTrans" cxnId="{611C308B-6BDB-4419-A7D8-ACD94B548AC7}">
      <dgm:prSet/>
      <dgm:spPr/>
      <dgm:t>
        <a:bodyPr/>
        <a:lstStyle/>
        <a:p>
          <a:endParaRPr lang="en-US"/>
        </a:p>
      </dgm:t>
    </dgm:pt>
    <dgm:pt modelId="{A292AFCB-F290-46C2-804B-678249E6104E}" type="pres">
      <dgm:prSet presAssocID="{FAA0E4B9-DC43-4DFA-B350-B7BC97AA47A4}" presName="linear" presStyleCnt="0">
        <dgm:presLayoutVars>
          <dgm:animLvl val="lvl"/>
          <dgm:resizeHandles val="exact"/>
        </dgm:presLayoutVars>
      </dgm:prSet>
      <dgm:spPr/>
    </dgm:pt>
    <dgm:pt modelId="{CFAF0EB4-68CE-4043-ADA3-CDC09B6215AB}" type="pres">
      <dgm:prSet presAssocID="{3F81CBC3-3B67-4407-8FF2-52CE49F45BE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AF87368-CB85-4944-BFF8-8A4EBAD881C9}" type="pres">
      <dgm:prSet presAssocID="{3F81CBC3-3B67-4407-8FF2-52CE49F45BE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C7E1724-CCB5-4B30-9C2E-78071B675B39}" srcId="{FAA0E4B9-DC43-4DFA-B350-B7BC97AA47A4}" destId="{3F81CBC3-3B67-4407-8FF2-52CE49F45BEB}" srcOrd="0" destOrd="0" parTransId="{7559875B-B9CB-468F-8406-9EB9C7E301CC}" sibTransId="{86911210-4C6D-4CA1-AD69-50D26E151FDC}"/>
    <dgm:cxn modelId="{99886624-39E6-476F-A69B-1D3117D94D53}" type="presOf" srcId="{80A856D5-0902-4AD0-9219-B574498D12ED}" destId="{6AF87368-CB85-4944-BFF8-8A4EBAD881C9}" srcOrd="0" destOrd="2" presId="urn:microsoft.com/office/officeart/2005/8/layout/vList2"/>
    <dgm:cxn modelId="{8EE3982B-2A32-4EF4-969E-062BD80008C6}" type="presOf" srcId="{3F81CBC3-3B67-4407-8FF2-52CE49F45BEB}" destId="{CFAF0EB4-68CE-4043-ADA3-CDC09B6215AB}" srcOrd="0" destOrd="0" presId="urn:microsoft.com/office/officeart/2005/8/layout/vList2"/>
    <dgm:cxn modelId="{DD993A3C-3749-4F62-BEB3-072A16A3835C}" srcId="{3F81CBC3-3B67-4407-8FF2-52CE49F45BEB}" destId="{E1487AAD-5C98-421F-8DEF-D748EC61762A}" srcOrd="5" destOrd="0" parTransId="{2C12FB79-8878-488A-A206-C7C530F4A255}" sibTransId="{8865ABD1-0180-4F43-B1EB-F91C31FC9D4A}"/>
    <dgm:cxn modelId="{53BD233D-3616-4E6B-95D4-8CFAD3B62BC2}" srcId="{3F81CBC3-3B67-4407-8FF2-52CE49F45BEB}" destId="{80A856D5-0902-4AD0-9219-B574498D12ED}" srcOrd="2" destOrd="0" parTransId="{BF24929B-1FB7-4777-A4BA-67B23D7B4378}" sibTransId="{81CD6E02-F77B-4655-BB38-912841AF93BB}"/>
    <dgm:cxn modelId="{C3E1235D-6E90-4A16-90D3-F5DB6E4BE9AF}" srcId="{3F81CBC3-3B67-4407-8FF2-52CE49F45BEB}" destId="{0400F6AE-3E52-490F-9DC3-F9A73D93717D}" srcOrd="6" destOrd="0" parTransId="{8729203A-E2F1-4312-9587-FE9D5609F9A2}" sibTransId="{AEC231A0-DA4B-46BD-B19D-12863551D4F0}"/>
    <dgm:cxn modelId="{F4E4C645-629E-4236-A591-A9F28A82090D}" type="presOf" srcId="{4ED2E815-75C1-464F-9E9D-1E9F13395CE6}" destId="{6AF87368-CB85-4944-BFF8-8A4EBAD881C9}" srcOrd="0" destOrd="1" presId="urn:microsoft.com/office/officeart/2005/8/layout/vList2"/>
    <dgm:cxn modelId="{F41A884D-C983-4AF2-84FD-67F17D442B9F}" type="presOf" srcId="{5CD5E657-7267-42DA-95A7-96F9BB8197BB}" destId="{6AF87368-CB85-4944-BFF8-8A4EBAD881C9}" srcOrd="0" destOrd="3" presId="urn:microsoft.com/office/officeart/2005/8/layout/vList2"/>
    <dgm:cxn modelId="{A880F151-CF31-42A4-9547-D45290DC3FD6}" type="presOf" srcId="{E1487AAD-5C98-421F-8DEF-D748EC61762A}" destId="{6AF87368-CB85-4944-BFF8-8A4EBAD881C9}" srcOrd="0" destOrd="5" presId="urn:microsoft.com/office/officeart/2005/8/layout/vList2"/>
    <dgm:cxn modelId="{66D2E758-2558-4618-9250-72D9A2191395}" srcId="{3F81CBC3-3B67-4407-8FF2-52CE49F45BEB}" destId="{4ED2E815-75C1-464F-9E9D-1E9F13395CE6}" srcOrd="1" destOrd="0" parTransId="{86962197-8CF9-4A04-857C-333B21DB021E}" sibTransId="{11E3D075-B2F8-40D6-89D9-1DC202E9F6BE}"/>
    <dgm:cxn modelId="{989EAE7F-273F-455E-B0F5-22FC5908D5C0}" type="presOf" srcId="{0400F6AE-3E52-490F-9DC3-F9A73D93717D}" destId="{6AF87368-CB85-4944-BFF8-8A4EBAD881C9}" srcOrd="0" destOrd="6" presId="urn:microsoft.com/office/officeart/2005/8/layout/vList2"/>
    <dgm:cxn modelId="{00294584-19C1-458C-A709-34E1326AC5CA}" srcId="{3F81CBC3-3B67-4407-8FF2-52CE49F45BEB}" destId="{B2F1D1CA-3EDF-43CC-AE5B-912735CB321D}" srcOrd="0" destOrd="0" parTransId="{2FA598EB-48DE-4604-AA2C-557E7DF0FCE5}" sibTransId="{64FE7DA7-CA55-4EA2-B5E4-BCF89E01572E}"/>
    <dgm:cxn modelId="{611C308B-6BDB-4419-A7D8-ACD94B548AC7}" srcId="{3F81CBC3-3B67-4407-8FF2-52CE49F45BEB}" destId="{3F9816CF-BB4C-4310-B344-6C3BF45FCB6C}" srcOrd="7" destOrd="0" parTransId="{1EA515F4-1719-45DC-B407-A2092BF71608}" sibTransId="{C90EFDA4-FDA4-4802-B10A-B1487B0ABD0A}"/>
    <dgm:cxn modelId="{7EB8219B-5CA9-479D-87DB-AABC24DBF0F6}" srcId="{3F81CBC3-3B67-4407-8FF2-52CE49F45BEB}" destId="{5CD5E657-7267-42DA-95A7-96F9BB8197BB}" srcOrd="3" destOrd="0" parTransId="{FE4E648C-2E73-4809-BAB5-073768FD797E}" sibTransId="{2E886952-FD5B-40E0-8482-F5EC1FC0C83A}"/>
    <dgm:cxn modelId="{A61E6FBA-872C-4C3C-A8D0-9CD4BE971034}" srcId="{3F81CBC3-3B67-4407-8FF2-52CE49F45BEB}" destId="{920CA044-4886-4AEC-B475-403A27575803}" srcOrd="4" destOrd="0" parTransId="{A6E2FD8D-C317-4373-88FA-989D522D2165}" sibTransId="{CA93C946-CF81-41BF-8758-88F4B6400832}"/>
    <dgm:cxn modelId="{1232C8CD-F227-48FE-9290-B6EA3125FC01}" type="presOf" srcId="{B2F1D1CA-3EDF-43CC-AE5B-912735CB321D}" destId="{6AF87368-CB85-4944-BFF8-8A4EBAD881C9}" srcOrd="0" destOrd="0" presId="urn:microsoft.com/office/officeart/2005/8/layout/vList2"/>
    <dgm:cxn modelId="{11CC59DD-BB06-4F92-A95A-2088357DC0AE}" type="presOf" srcId="{FAA0E4B9-DC43-4DFA-B350-B7BC97AA47A4}" destId="{A292AFCB-F290-46C2-804B-678249E6104E}" srcOrd="0" destOrd="0" presId="urn:microsoft.com/office/officeart/2005/8/layout/vList2"/>
    <dgm:cxn modelId="{C7635EF2-0A09-4E92-8A8A-ADB29DC1D099}" type="presOf" srcId="{920CA044-4886-4AEC-B475-403A27575803}" destId="{6AF87368-CB85-4944-BFF8-8A4EBAD881C9}" srcOrd="0" destOrd="4" presId="urn:microsoft.com/office/officeart/2005/8/layout/vList2"/>
    <dgm:cxn modelId="{9DEFDAF2-F609-4697-9BC8-578C3A06F481}" type="presOf" srcId="{3F9816CF-BB4C-4310-B344-6C3BF45FCB6C}" destId="{6AF87368-CB85-4944-BFF8-8A4EBAD881C9}" srcOrd="0" destOrd="7" presId="urn:microsoft.com/office/officeart/2005/8/layout/vList2"/>
    <dgm:cxn modelId="{804DE498-9540-4A77-9B57-B16B5FBDDD9D}" type="presParOf" srcId="{A292AFCB-F290-46C2-804B-678249E6104E}" destId="{CFAF0EB4-68CE-4043-ADA3-CDC09B6215AB}" srcOrd="0" destOrd="0" presId="urn:microsoft.com/office/officeart/2005/8/layout/vList2"/>
    <dgm:cxn modelId="{CFAF3A34-1937-44BA-9644-2202A6AC822E}" type="presParOf" srcId="{A292AFCB-F290-46C2-804B-678249E6104E}" destId="{6AF87368-CB85-4944-BFF8-8A4EBAD881C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DC6FC-D8CB-4F64-ABA0-8288294A7C4E}">
      <dsp:nvSpPr>
        <dsp:cNvPr id="0" name=""/>
        <dsp:cNvSpPr/>
      </dsp:nvSpPr>
      <dsp:spPr>
        <a:xfrm>
          <a:off x="0" y="14227"/>
          <a:ext cx="5450840" cy="44928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223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50" b="1" kern="1200" dirty="0"/>
            <a:t>Target Users / Market</a:t>
          </a:r>
          <a:endParaRPr lang="en-US" sz="1850" kern="1200" dirty="0"/>
        </a:p>
      </dsp:txBody>
      <dsp:txXfrm>
        <a:off x="21932" y="36159"/>
        <a:ext cx="5406976" cy="405416"/>
      </dsp:txXfrm>
    </dsp:sp>
    <dsp:sp modelId="{6699AE7A-40DA-4A0B-BB82-D0D8BD7E9981}">
      <dsp:nvSpPr>
        <dsp:cNvPr id="0" name=""/>
        <dsp:cNvSpPr/>
      </dsp:nvSpPr>
      <dsp:spPr>
        <a:xfrm>
          <a:off x="0" y="509587"/>
          <a:ext cx="5450840" cy="449280"/>
        </a:xfrm>
        <a:prstGeom prst="roundRect">
          <a:avLst/>
        </a:prstGeom>
        <a:solidFill>
          <a:schemeClr val="accen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Livestock farmers </a:t>
          </a:r>
        </a:p>
      </dsp:txBody>
      <dsp:txXfrm>
        <a:off x="21932" y="531519"/>
        <a:ext cx="5406976" cy="405416"/>
      </dsp:txXfrm>
    </dsp:sp>
    <dsp:sp modelId="{C3937271-6234-4C4A-8518-F1875434E995}">
      <dsp:nvSpPr>
        <dsp:cNvPr id="0" name=""/>
        <dsp:cNvSpPr/>
      </dsp:nvSpPr>
      <dsp:spPr>
        <a:xfrm>
          <a:off x="0" y="1004947"/>
          <a:ext cx="5450840" cy="44928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Dairy farms </a:t>
          </a:r>
        </a:p>
      </dsp:txBody>
      <dsp:txXfrm>
        <a:off x="21932" y="1026879"/>
        <a:ext cx="5406976" cy="405416"/>
      </dsp:txXfrm>
    </dsp:sp>
    <dsp:sp modelId="{E80A3B3B-9083-463E-8FDB-C1AD6C9E98D5}">
      <dsp:nvSpPr>
        <dsp:cNvPr id="0" name=""/>
        <dsp:cNvSpPr/>
      </dsp:nvSpPr>
      <dsp:spPr>
        <a:xfrm>
          <a:off x="0" y="1500307"/>
          <a:ext cx="5450840" cy="449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Poultry farms </a:t>
          </a:r>
        </a:p>
      </dsp:txBody>
      <dsp:txXfrm>
        <a:off x="21932" y="1522239"/>
        <a:ext cx="5406976" cy="405416"/>
      </dsp:txXfrm>
    </dsp:sp>
    <dsp:sp modelId="{4C776609-5050-4A5C-9074-79574E145EB2}">
      <dsp:nvSpPr>
        <dsp:cNvPr id="0" name=""/>
        <dsp:cNvSpPr/>
      </dsp:nvSpPr>
      <dsp:spPr>
        <a:xfrm>
          <a:off x="0" y="1995667"/>
          <a:ext cx="5450840" cy="449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Farm managers and workers </a:t>
          </a:r>
        </a:p>
      </dsp:txBody>
      <dsp:txXfrm>
        <a:off x="21932" y="2017599"/>
        <a:ext cx="5406976" cy="405416"/>
      </dsp:txXfrm>
    </dsp:sp>
    <dsp:sp modelId="{A6BE614C-929E-4319-8E89-9C34FF968BDC}">
      <dsp:nvSpPr>
        <dsp:cNvPr id="0" name=""/>
        <dsp:cNvSpPr/>
      </dsp:nvSpPr>
      <dsp:spPr>
        <a:xfrm>
          <a:off x="0" y="2491027"/>
          <a:ext cx="5450840" cy="449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Veterinarians </a:t>
          </a:r>
        </a:p>
      </dsp:txBody>
      <dsp:txXfrm>
        <a:off x="21932" y="2512959"/>
        <a:ext cx="5406976" cy="405416"/>
      </dsp:txXfrm>
    </dsp:sp>
    <dsp:sp modelId="{123830F3-B2DA-4335-B7D2-18BA4499E320}">
      <dsp:nvSpPr>
        <dsp:cNvPr id="0" name=""/>
        <dsp:cNvSpPr/>
      </dsp:nvSpPr>
      <dsp:spPr>
        <a:xfrm>
          <a:off x="0" y="2986387"/>
          <a:ext cx="5450840" cy="449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NLDB and other livestock organizations </a:t>
          </a:r>
        </a:p>
      </dsp:txBody>
      <dsp:txXfrm>
        <a:off x="21932" y="3008319"/>
        <a:ext cx="5406976" cy="405416"/>
      </dsp:txXfrm>
    </dsp:sp>
    <dsp:sp modelId="{1BA8D9E6-A1E8-483A-AE03-DFC78432DC01}">
      <dsp:nvSpPr>
        <dsp:cNvPr id="0" name=""/>
        <dsp:cNvSpPr/>
      </dsp:nvSpPr>
      <dsp:spPr>
        <a:xfrm>
          <a:off x="0" y="3481747"/>
          <a:ext cx="5450840" cy="449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Livestock buyers and sellers</a:t>
          </a:r>
        </a:p>
      </dsp:txBody>
      <dsp:txXfrm>
        <a:off x="21932" y="3503679"/>
        <a:ext cx="5406976" cy="405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F0EB4-68CE-4043-ADA3-CDC09B6215AB}">
      <dsp:nvSpPr>
        <dsp:cNvPr id="0" name=""/>
        <dsp:cNvSpPr/>
      </dsp:nvSpPr>
      <dsp:spPr>
        <a:xfrm>
          <a:off x="0" y="23017"/>
          <a:ext cx="1110488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Integration Points</a:t>
          </a:r>
          <a:endParaRPr lang="en-US" sz="2200" kern="1200"/>
        </a:p>
      </dsp:txBody>
      <dsp:txXfrm>
        <a:off x="26387" y="49404"/>
        <a:ext cx="11052106" cy="487766"/>
      </dsp:txXfrm>
    </dsp:sp>
    <dsp:sp modelId="{6AF87368-CB85-4944-BFF8-8A4EBAD881C9}">
      <dsp:nvSpPr>
        <dsp:cNvPr id="0" name=""/>
        <dsp:cNvSpPr/>
      </dsp:nvSpPr>
      <dsp:spPr>
        <a:xfrm>
          <a:off x="0" y="563557"/>
          <a:ext cx="11104880" cy="236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58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REST API communication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JSON data exchange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Image uploads from farm cameras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Historical animal records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Feeding and health information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Market price and demand data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Shared database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Centralized dashboard </a:t>
          </a:r>
        </a:p>
      </dsp:txBody>
      <dsp:txXfrm>
        <a:off x="0" y="563557"/>
        <a:ext cx="11104880" cy="2368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33361-13E5-48F1-84C1-8112987955CD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4845A-705A-40B7-923D-9DC29822A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0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4845A-705A-40B7-923D-9DC29822A9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33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2DB2-9FC6-1E55-8516-553994227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C13D5-AD19-6369-A17D-B32B9E8D4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0BE34-4CB5-5AAE-BE89-9FF93239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7BBFC-E112-8D26-DC3F-8EFBA11F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93EF-1B89-73A0-6BF8-E7CDA540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5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2689-5589-E71A-FBD1-6B50CA73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58E5-182D-1D5D-73FD-78C7398F4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48C62-5E53-BF8B-6046-E1DB946C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60539-6177-8DB6-71FA-289743E7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5AAC7-742C-D097-5B0E-8B304721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6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1964-3B17-2AD4-BEB2-ED63BDA1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D75E2-2749-9101-2F96-8CC90A911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42A75-A78D-6822-77AA-376997E1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2FDDC-DB31-9233-259D-98CFD6C4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90DB-F26D-90CE-72B5-D19E2305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5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8DE1-28CE-18EA-6C33-D1122E03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A369-FF81-C3DE-9470-C98EE69F2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33560-B7F0-A123-E4C9-1303C5BE6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F3C0A-CC25-9B37-616D-B4E3BC2A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E3FAA-A576-E3A8-A3F7-705E8671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156C8-73D9-46B8-E1EF-8E76E2C2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9010-CF02-CDC7-6604-C0E8FFF22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D8362-7BDE-B7EF-425A-9F0C4CBE2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5AF83-87F3-3C78-2924-01AF10859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16915-D7C1-4230-6871-AF2A5BB59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2C2C4-4DED-2E0F-AC5C-AB6F715A4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E9CD4-5B25-8764-3B4B-34B4A69D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6E502-AF1D-C589-1422-658E2C4E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E083C-0165-5F06-FF52-BA195BFC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1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6318-86DB-6C48-97E1-B8BCB509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34E5E-C016-8D76-13B8-B28E642C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29E35-60E6-9D0D-75FA-03E2372E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6DD75-DEFA-4539-B150-77A1E1E7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1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669CF-51D0-6BF7-D949-B8133DDC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51914-7ADC-049A-297B-974445DB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029E6-ECB6-39BE-432D-E37B51D3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2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2A11-87C8-5FBB-4DAC-FA7130F7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B7B5-ACFF-609B-9A5D-4EFAF631B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791AC-3F59-2F1F-A8D3-8678CABB2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16C39-0500-8B1F-57ED-EDFF6F5E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5F177-F92D-5B6D-52BB-F93071BF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EFB22-6C20-7BB1-84D0-57C8C3B1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9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FF3C-5245-6630-79F7-2A2D007F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8B4F56-E785-56F5-FB11-D3D858EB1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F7471-80F4-CE64-6E06-A50A43D20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EF7B5-DB00-8B58-AA0A-F8CCEBB3D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B0ED6-F524-41AB-273D-1C26CA44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32D73-0767-A3D6-B991-63FA6F76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6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C455-3394-FCB4-0121-E050F0870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6EA51-008F-B268-BE61-6CFE77C7A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F2DC3-2CEE-7AB9-8788-A6A9F117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A43DB-0267-5B25-2596-AE8B38CC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47C7-5CCF-A6B6-2406-737DA319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6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F4813-5DF7-FF79-CEB8-77A327CF9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5A85-3EC3-8D37-6396-33DA64975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09D4F-C965-E49A-8E3D-B3B1C170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28FD7-3465-84A3-CED2-87F89C34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9091C-D7BC-F504-98D8-EAB3E162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4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72490F-8058-B581-A482-90BD2614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C700-7410-534D-3838-FF49FB207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63EA1-5DBF-472A-07DF-6EAF68682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84B33-91BE-4F7A-B59D-F3680485DB4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9E321-77F7-42C9-AEE1-63BB63698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FE0B9-900A-E2AC-952C-5ADF8F679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78F44-6013-4868-B11C-154CE039D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2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5635A-DA45-1FB5-39B3-6A109BACA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0" r="19015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5C4E66-EE75-2EAA-0A32-74FB08C88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3962400"/>
            <a:ext cx="5505814" cy="1690409"/>
          </a:xfrm>
        </p:spPr>
        <p:txBody>
          <a:bodyPr anchor="b">
            <a:normAutofit/>
          </a:bodyPr>
          <a:lstStyle/>
          <a:p>
            <a:pPr algn="l"/>
            <a:r>
              <a:rPr lang="en-US" sz="2400" b="1"/>
              <a:t>Converting a Traditional Farm into an</a:t>
            </a:r>
            <a:br>
              <a:rPr lang="en-US" sz="2400" b="1"/>
            </a:br>
            <a:r>
              <a:rPr lang="en-US" sz="2400" b="1"/>
              <a:t>AI/ML-Powered Automated Smart Farm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72907-D3A7-1C0E-0403-D1BEA66A4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5709565"/>
            <a:ext cx="5395975" cy="646785"/>
          </a:xfrm>
        </p:spPr>
        <p:txBody>
          <a:bodyPr>
            <a:normAutofit/>
          </a:bodyPr>
          <a:lstStyle/>
          <a:p>
            <a:pPr algn="l"/>
            <a:r>
              <a:rPr lang="en-US" b="1"/>
              <a:t>R26-IT-093</a:t>
            </a:r>
            <a:endParaRPr lang="en-US"/>
          </a:p>
          <a:p>
            <a:pPr algn="l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5B69A-178D-6827-434C-9DF0C9EB1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8" r="-2" b="5820"/>
          <a:stretch>
            <a:fillRect/>
          </a:stretch>
        </p:blipFill>
        <p:spPr>
          <a:xfrm>
            <a:off x="7863839" y="336843"/>
            <a:ext cx="3875785" cy="3311115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0053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DF955-F575-97F3-23A9-6E9C46D0C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38" y="-939686"/>
            <a:ext cx="9617105" cy="19996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Our Team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R26 – IT - 093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774CE-1E33-9637-393B-94245FBE3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6500"/>
          <a:stretch>
            <a:fillRect/>
          </a:stretch>
        </p:blipFill>
        <p:spPr>
          <a:xfrm>
            <a:off x="345438" y="1758683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9FE4AC-057F-17D8-67EC-27F927F93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5" r="3" b="20127"/>
          <a:stretch>
            <a:fillRect/>
          </a:stretch>
        </p:blipFill>
        <p:spPr>
          <a:xfrm>
            <a:off x="9822904" y="1684475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08078-24BD-9BDF-860D-C2E5A3FBF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7498"/>
          <a:stretch>
            <a:fillRect/>
          </a:stretch>
        </p:blipFill>
        <p:spPr>
          <a:xfrm>
            <a:off x="6679541" y="1755595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300F6-CC48-0376-A884-1C86928458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" b="7243"/>
          <a:stretch>
            <a:fillRect/>
          </a:stretch>
        </p:blipFill>
        <p:spPr>
          <a:xfrm>
            <a:off x="3488801" y="1768180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1C96EA-9035-54FE-7A83-7B1343729A02}"/>
              </a:ext>
            </a:extLst>
          </p:cNvPr>
          <p:cNvSpPr txBox="1"/>
          <p:nvPr/>
        </p:nvSpPr>
        <p:spPr>
          <a:xfrm>
            <a:off x="-204737" y="4632960"/>
            <a:ext cx="33832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IT22139894</a:t>
            </a:r>
          </a:p>
          <a:p>
            <a:pPr algn="ctr"/>
            <a:r>
              <a:rPr lang="en-US" b="1" dirty="0"/>
              <a:t>Shamika G.L.</a:t>
            </a:r>
          </a:p>
          <a:p>
            <a:pPr algn="ctr"/>
            <a:r>
              <a:rPr lang="en-US" b="1" dirty="0"/>
              <a:t>(Group Leader)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A079E9-F885-7DA4-8CA0-3E0B4A38F25E}"/>
              </a:ext>
            </a:extLst>
          </p:cNvPr>
          <p:cNvSpPr txBox="1"/>
          <p:nvPr/>
        </p:nvSpPr>
        <p:spPr>
          <a:xfrm>
            <a:off x="2945721" y="4711307"/>
            <a:ext cx="3383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IT22282118</a:t>
            </a:r>
          </a:p>
          <a:p>
            <a:pPr algn="ctr"/>
            <a:r>
              <a:rPr lang="fr-FR" b="1" dirty="0" err="1"/>
              <a:t>Illangasinhe</a:t>
            </a:r>
            <a:r>
              <a:rPr lang="fr-FR" b="1" dirty="0"/>
              <a:t> I.M.A.D.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001569-0B69-01F7-2CC9-A45C1F6C516F}"/>
              </a:ext>
            </a:extLst>
          </p:cNvPr>
          <p:cNvSpPr txBox="1"/>
          <p:nvPr/>
        </p:nvSpPr>
        <p:spPr>
          <a:xfrm>
            <a:off x="6329003" y="4720807"/>
            <a:ext cx="3383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IT22136138</a:t>
            </a:r>
          </a:p>
          <a:p>
            <a:pPr algn="ctr"/>
            <a:r>
              <a:rPr lang="en-US" b="1" dirty="0" err="1"/>
              <a:t>Jayawardhana</a:t>
            </a:r>
            <a:r>
              <a:rPr lang="en-US" b="1" dirty="0"/>
              <a:t> H.A.S.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BA0670-0084-AD25-65E0-87E35938BD43}"/>
              </a:ext>
            </a:extLst>
          </p:cNvPr>
          <p:cNvSpPr txBox="1"/>
          <p:nvPr/>
        </p:nvSpPr>
        <p:spPr>
          <a:xfrm>
            <a:off x="9272729" y="4720807"/>
            <a:ext cx="3383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IT22134608</a:t>
            </a:r>
          </a:p>
          <a:p>
            <a:pPr algn="ctr"/>
            <a:r>
              <a:rPr lang="en-US" b="1" dirty="0" err="1"/>
              <a:t>Arachchi</a:t>
            </a:r>
            <a:r>
              <a:rPr lang="en-US" b="1" dirty="0"/>
              <a:t> W.A.A.I.W.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176FCE-7C48-4D3C-1EA1-81829E8797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3" y="6131573"/>
            <a:ext cx="3558858" cy="72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7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CECAC-0766-DA05-C8DE-3E881376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/>
              <a:t>Problem &amp; Motivation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64C8F3-1D14-B2C5-ADBC-A2D4ADF95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4" b="8136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078DC-3BFB-353C-9E9B-0133B75D9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283" y="2047548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Observed Problems</a:t>
            </a:r>
          </a:p>
          <a:p>
            <a:pPr lvl="0"/>
            <a:r>
              <a:rPr lang="en-US" sz="1600" dirty="0"/>
              <a:t>Inconsistent feeding practices and difficulty in providing personalized nutrition. </a:t>
            </a:r>
          </a:p>
          <a:p>
            <a:pPr lvl="0"/>
            <a:r>
              <a:rPr lang="en-US" sz="1600" dirty="0"/>
              <a:t>Delayed detection of diseases and abnormal animal behavior. </a:t>
            </a:r>
          </a:p>
          <a:p>
            <a:pPr lvl="0"/>
            <a:r>
              <a:rPr lang="en-US" sz="1600" dirty="0"/>
              <a:t>Difficulty in predicting healthy births and successful egg hatching. </a:t>
            </a:r>
          </a:p>
          <a:p>
            <a:pPr lvl="0"/>
            <a:r>
              <a:rPr lang="en-US" sz="1600" dirty="0"/>
              <a:t>Limited real-time information about livestock market prices and demand. </a:t>
            </a:r>
          </a:p>
          <a:p>
            <a:pPr lvl="0"/>
            <a:r>
              <a:rPr lang="en-US" sz="1600" dirty="0"/>
              <a:t>Manual farm management reduces efficiency and increases operational costs. </a:t>
            </a:r>
          </a:p>
          <a:p>
            <a:pPr lvl="0"/>
            <a:r>
              <a:rPr lang="en-US" sz="1600" dirty="0"/>
              <a:t>Lack of one integrated intelligent platform for livestock management.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586D0-4344-88A9-E7AC-66819199D3D8}"/>
              </a:ext>
            </a:extLst>
          </p:cNvPr>
          <p:cNvSpPr txBox="1"/>
          <p:nvPr/>
        </p:nvSpPr>
        <p:spPr>
          <a:xfrm>
            <a:off x="5384912" y="798523"/>
            <a:ext cx="665643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Context</a:t>
            </a:r>
          </a:p>
          <a:p>
            <a:r>
              <a:rPr lang="en-US" dirty="0"/>
              <a:t>Traditional livestock farming still depends heavily on manual observation and experience for feeding, animal health monitoring, reproduction management, and market decisions.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0DCF194-D3A8-DACF-0954-A9245E586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535" y="6268720"/>
            <a:ext cx="2886968" cy="5892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2D16DB-2802-A2A1-0D48-B432B20D71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794" y="-3"/>
            <a:ext cx="894703" cy="2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5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0310-8BB2-B402-D0DD-E00A432F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11936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C96E3-43E5-8D41-D0CB-A656202F8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22" y="988297"/>
            <a:ext cx="11445977" cy="711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An </a:t>
            </a:r>
            <a:r>
              <a:rPr lang="en-US" sz="1900" b="1" dirty="0"/>
              <a:t>integrated AI/ML-powered smart livestock management platform</a:t>
            </a:r>
            <a:r>
              <a:rPr lang="en-US" sz="1900" dirty="0"/>
              <a:t> that transforms traditional farm operations through intelligent monitoring, prediction, automation, and decision support.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5C7AB-6B6A-62E1-5FEC-2FD65905F79F}"/>
              </a:ext>
            </a:extLst>
          </p:cNvPr>
          <p:cNvSpPr txBox="1"/>
          <p:nvPr/>
        </p:nvSpPr>
        <p:spPr>
          <a:xfrm>
            <a:off x="94018" y="1915699"/>
            <a:ext cx="59558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   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Birth &amp; Egg Hatch Prediction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image, sensor and historical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 healthy calf birth or successful egg hatching. </a:t>
            </a:r>
            <a:endParaRPr lang="en-US" b="1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   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Personalized Animal Feeding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Identify animal type, size and health condition.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Recommend suitable feed quantity and Nutrition.</a:t>
            </a:r>
          </a:p>
          <a:p>
            <a:pPr lvl="1"/>
            <a:r>
              <a:rPr lang="en-US" dirty="0"/>
              <a:t> </a:t>
            </a:r>
          </a:p>
          <a:p>
            <a:pPr lvl="0"/>
            <a:r>
              <a:rPr lang="en-US" b="1" dirty="0"/>
              <a:t>  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EC706-DB54-F4AF-FAD0-8EF59E9FAC37}"/>
              </a:ext>
            </a:extLst>
          </p:cNvPr>
          <p:cNvSpPr txBox="1"/>
          <p:nvPr/>
        </p:nvSpPr>
        <p:spPr>
          <a:xfrm>
            <a:off x="3809383" y="4672457"/>
            <a:ext cx="51831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                 Non-Functional Goals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Easy-to-use farm management interface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Real-time monitoring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Fast AI/ML predictions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Reliable recommendations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Scalable architecture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Secure farm data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D4811-81F6-1465-B21C-368AD89BFB5F}"/>
              </a:ext>
            </a:extLst>
          </p:cNvPr>
          <p:cNvSpPr txBox="1"/>
          <p:nvPr/>
        </p:nvSpPr>
        <p:spPr>
          <a:xfrm>
            <a:off x="5829299" y="1939644"/>
            <a:ext cx="75020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Disease Detection &amp; Emergency Alerts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Monitor animal behavior using cameras and sensors.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Detect abnormal behavior and early disease symptoms.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Notify farmers or veterinarians. </a:t>
            </a:r>
          </a:p>
          <a:p>
            <a:pPr lvl="1"/>
            <a:endParaRPr lang="en-US" dirty="0"/>
          </a:p>
          <a:p>
            <a:pPr lvl="0"/>
            <a:r>
              <a:rPr lang="en-US" b="1" dirty="0"/>
              <a:t>  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AI-Based Market Prediction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historical and real-time market information.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Forecast livestock/product prices and demand. 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4231CB-615E-8921-3761-029A62A3D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3" y="6349999"/>
            <a:ext cx="2488749" cy="5079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DFDBE-61C7-06F2-87AA-1002B48FD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794" y="-3"/>
            <a:ext cx="894703" cy="2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5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5BE0E-A090-BD87-0893-EAB4F074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Overall Research Gap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E69653F-A478-D355-CD71-475F8D718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095397"/>
              </p:ext>
            </p:extLst>
          </p:nvPr>
        </p:nvGraphicFramePr>
        <p:xfrm>
          <a:off x="262063" y="1758273"/>
          <a:ext cx="8741793" cy="475086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008949">
                  <a:extLst>
                    <a:ext uri="{9D8B030D-6E8A-4147-A177-3AD203B41FA5}">
                      <a16:colId xmlns:a16="http://schemas.microsoft.com/office/drawing/2014/main" val="855989883"/>
                    </a:ext>
                  </a:extLst>
                </a:gridCol>
                <a:gridCol w="1918362">
                  <a:extLst>
                    <a:ext uri="{9D8B030D-6E8A-4147-A177-3AD203B41FA5}">
                      <a16:colId xmlns:a16="http://schemas.microsoft.com/office/drawing/2014/main" val="2700415933"/>
                    </a:ext>
                  </a:extLst>
                </a:gridCol>
                <a:gridCol w="1905302">
                  <a:extLst>
                    <a:ext uri="{9D8B030D-6E8A-4147-A177-3AD203B41FA5}">
                      <a16:colId xmlns:a16="http://schemas.microsoft.com/office/drawing/2014/main" val="2413192098"/>
                    </a:ext>
                  </a:extLst>
                </a:gridCol>
                <a:gridCol w="1909180">
                  <a:extLst>
                    <a:ext uri="{9D8B030D-6E8A-4147-A177-3AD203B41FA5}">
                      <a16:colId xmlns:a16="http://schemas.microsoft.com/office/drawing/2014/main" val="3838195848"/>
                    </a:ext>
                  </a:extLst>
                </a:gridCol>
              </a:tblGrid>
              <a:tr h="448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Traditional Farm Management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Existing Single-Purpose Smart Systems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Proposed Smart Farm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1901574326"/>
                  </a:ext>
                </a:extLst>
              </a:tr>
              <a:tr h="44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Integrated livestock decision support platform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1939791870"/>
                  </a:ext>
                </a:extLst>
              </a:tr>
              <a:tr h="30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Real-time animal monitoring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2341846010"/>
                  </a:ext>
                </a:extLst>
              </a:tr>
              <a:tr h="44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Personalized feeding recommendation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4082591551"/>
                  </a:ext>
                </a:extLst>
              </a:tr>
              <a:tr h="44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Personalized nutrition recommendation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400264410"/>
                  </a:ext>
                </a:extLst>
              </a:tr>
              <a:tr h="44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AI-based abnormal behavior detection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1737675538"/>
                  </a:ext>
                </a:extLst>
              </a:tr>
              <a:tr h="44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Disease alerts &amp; preliminary recommendations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795818635"/>
                  </a:ext>
                </a:extLst>
              </a:tr>
              <a:tr h="30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Calf birth / egg hatch prediction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681256357"/>
                  </a:ext>
                </a:extLst>
              </a:tr>
              <a:tr h="44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Real-time livestock market forecasting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602698100"/>
                  </a:ext>
                </a:extLst>
              </a:tr>
              <a:tr h="30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Buy / Sell recommendations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1555654007"/>
                  </a:ext>
                </a:extLst>
              </a:tr>
              <a:tr h="30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Integration of all four modules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✕</a:t>
                      </a:r>
                    </a:p>
                  </a:txBody>
                  <a:tcPr marL="82502" marR="36386" marT="63463" marB="634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 marL="82502" marR="36386" marT="63463" marB="63463" anchor="ctr"/>
                </a:tc>
                <a:extLst>
                  <a:ext uri="{0D108BD9-81ED-4DB2-BD59-A6C34878D82A}">
                    <a16:rowId xmlns:a16="http://schemas.microsoft.com/office/drawing/2014/main" val="314521205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DFBF93-4126-0FF5-EFAA-D915DC26901D}"/>
              </a:ext>
            </a:extLst>
          </p:cNvPr>
          <p:cNvSpPr txBox="1"/>
          <p:nvPr/>
        </p:nvSpPr>
        <p:spPr>
          <a:xfrm>
            <a:off x="9321799" y="2148545"/>
            <a:ext cx="25522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Research Gap:</a:t>
            </a:r>
            <a:r>
              <a:rPr lang="en-US" dirty="0"/>
              <a:t> </a:t>
            </a:r>
            <a:r>
              <a:rPr lang="en-US" sz="1600" dirty="0"/>
              <a:t>Existing approaches mainly address individual livestock management problems separately. The proposed solution integrates feeding automation, health monitoring, reproduction prediction, and market forecasting into a single AI/ML-powered smart farm platform.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750ADD-E2E5-47DC-C007-D1D9EE366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260" y="6303678"/>
            <a:ext cx="2715712" cy="554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284790-5706-F9C1-548A-47E840997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794" y="-3"/>
            <a:ext cx="894703" cy="2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3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5EB48-2422-0567-42BF-E79C81DD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System Architecture &amp; Integration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CDA91F-DF4A-26B9-037F-C93DF4F14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1" y="78545"/>
            <a:ext cx="4466380" cy="669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0C9B-84EA-DFB9-5436-1DFFC6FC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" y="-153035"/>
            <a:ext cx="10515600" cy="1325563"/>
          </a:xfrm>
        </p:spPr>
        <p:txBody>
          <a:bodyPr/>
          <a:lstStyle/>
          <a:p>
            <a:r>
              <a:rPr lang="en-US" dirty="0"/>
              <a:t>Commercialization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21CAA836-B922-ED5A-6875-19C1BFA21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359076"/>
              </p:ext>
            </p:extLst>
          </p:nvPr>
        </p:nvGraphicFramePr>
        <p:xfrm>
          <a:off x="370840" y="992505"/>
          <a:ext cx="5450840" cy="39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350F6A-3A2B-490B-3A03-CB034354DA74}"/>
              </a:ext>
            </a:extLst>
          </p:cNvPr>
          <p:cNvSpPr txBox="1">
            <a:spLocks/>
          </p:cNvSpPr>
          <p:nvPr/>
        </p:nvSpPr>
        <p:spPr>
          <a:xfrm>
            <a:off x="6096000" y="747714"/>
            <a:ext cx="5999480" cy="3569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Value Proposition</a:t>
            </a:r>
          </a:p>
          <a:p>
            <a:pPr marL="0" indent="0">
              <a:buNone/>
            </a:pPr>
            <a:r>
              <a:rPr lang="en-US" sz="1600" dirty="0"/>
              <a:t>An integrated AI-driven livestock management platform that improves animal nutrition, health monitoring, reproduction management, farm productivity, and market decision-making.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9FBB6-21F6-1D53-9070-5E4D361249F5}"/>
              </a:ext>
            </a:extLst>
          </p:cNvPr>
          <p:cNvSpPr txBox="1"/>
          <p:nvPr/>
        </p:nvSpPr>
        <p:spPr>
          <a:xfrm>
            <a:off x="6096000" y="2180190"/>
            <a:ext cx="5872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Cost &amp; Feasibility</a:t>
            </a:r>
          </a:p>
          <a:p>
            <a:pPr lvl="0"/>
            <a:r>
              <a:rPr lang="en-US" dirty="0"/>
              <a:t>Can be developed using open-source AI/ML technologies. </a:t>
            </a:r>
          </a:p>
          <a:p>
            <a:pPr lvl="0"/>
            <a:r>
              <a:rPr lang="en-US" dirty="0"/>
              <a:t>Existing farm cameras and sensors can be integrated. </a:t>
            </a:r>
          </a:p>
          <a:p>
            <a:pPr lvl="0"/>
            <a:r>
              <a:rPr lang="en-US" dirty="0"/>
              <a:t>Cloud-based backend can support centralized farm data. </a:t>
            </a:r>
          </a:p>
          <a:p>
            <a:pPr lvl="0"/>
            <a:r>
              <a:rPr lang="en-US" dirty="0"/>
              <a:t>Modular architecture allows gradual implementation. </a:t>
            </a:r>
          </a:p>
          <a:p>
            <a:pPr lvl="0"/>
            <a:r>
              <a:rPr lang="en-US" dirty="0"/>
              <a:t>NLDB farm data can support model development and validation.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56FCE-B6DB-C4A7-E804-CC74D9E88D14}"/>
              </a:ext>
            </a:extLst>
          </p:cNvPr>
          <p:cNvSpPr txBox="1"/>
          <p:nvPr/>
        </p:nvSpPr>
        <p:spPr>
          <a:xfrm>
            <a:off x="2941320" y="5067637"/>
            <a:ext cx="548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Adoption Plan</a:t>
            </a:r>
          </a:p>
          <a:p>
            <a:r>
              <a:rPr lang="en-US" b="1" dirty="0"/>
              <a:t>Phase 1:</a:t>
            </a:r>
            <a:r>
              <a:rPr lang="en-US" dirty="0"/>
              <a:t> Model development and testing</a:t>
            </a:r>
            <a:br>
              <a:rPr lang="en-US" dirty="0"/>
            </a:br>
            <a:r>
              <a:rPr lang="en-US" b="1" dirty="0"/>
              <a:t>Phase 2:</a:t>
            </a:r>
            <a:r>
              <a:rPr lang="en-US" dirty="0"/>
              <a:t> Individual module integration</a:t>
            </a:r>
            <a:br>
              <a:rPr lang="en-US" dirty="0"/>
            </a:br>
            <a:r>
              <a:rPr lang="en-US" b="1" dirty="0"/>
              <a:t>Phase 3:</a:t>
            </a:r>
            <a:r>
              <a:rPr lang="en-US" dirty="0"/>
              <a:t> Pilot testing using farm data</a:t>
            </a:r>
            <a:br>
              <a:rPr lang="en-US" dirty="0"/>
            </a:br>
            <a:r>
              <a:rPr lang="en-US" b="1" dirty="0"/>
              <a:t>Phase 4:</a:t>
            </a:r>
            <a:r>
              <a:rPr lang="en-US" dirty="0"/>
              <a:t> Real-world testing in livestock farms</a:t>
            </a:r>
            <a:br>
              <a:rPr lang="en-US" dirty="0"/>
            </a:br>
            <a:r>
              <a:rPr lang="en-US" b="1" dirty="0"/>
              <a:t>Phase 5:</a:t>
            </a:r>
            <a:r>
              <a:rPr lang="en-US" dirty="0"/>
              <a:t> Full smart farm deployment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49E9C-39E3-4640-E65E-F1BD30D76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618" y="4325618"/>
            <a:ext cx="2532382" cy="25323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B42811-402C-5B11-CAD2-991D9133D5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178" y="6305151"/>
            <a:ext cx="2461577" cy="5024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C76D64-1699-3419-94E6-336BF3C974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794" y="-3"/>
            <a:ext cx="894703" cy="2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8AB5-8EAD-C02F-B5D0-E04455D85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-142875"/>
            <a:ext cx="10515600" cy="1325563"/>
          </a:xfrm>
        </p:spPr>
        <p:txBody>
          <a:bodyPr/>
          <a:lstStyle/>
          <a:p>
            <a:r>
              <a:rPr lang="en-US" b="1" dirty="0"/>
              <a:t>System Architecture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C966-4136-34DD-AC6F-EE28112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80" y="10331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Components</a:t>
            </a:r>
          </a:p>
          <a:p>
            <a:r>
              <a:rPr lang="en-US" sz="2000" dirty="0"/>
              <a:t>Animal Birth &amp; Egg Hatch Prediction System – </a:t>
            </a:r>
            <a:r>
              <a:rPr lang="en-US" sz="2000" b="1" dirty="0"/>
              <a:t>IT22139894</a:t>
            </a:r>
          </a:p>
          <a:p>
            <a:r>
              <a:rPr lang="en-US" sz="2000" dirty="0"/>
              <a:t>Personalized Animal Diet Recommender &amp; Automated Feeding System – </a:t>
            </a:r>
            <a:r>
              <a:rPr lang="en-US" sz="2000" b="1" dirty="0"/>
              <a:t>IT22136138</a:t>
            </a:r>
          </a:p>
          <a:p>
            <a:r>
              <a:rPr lang="en-US" sz="2000" dirty="0"/>
              <a:t>Animal Disease Detection and Emergency Alert System – </a:t>
            </a:r>
            <a:r>
              <a:rPr lang="en-US" sz="2000" b="1" dirty="0"/>
              <a:t>IT22282118</a:t>
            </a:r>
          </a:p>
          <a:p>
            <a:r>
              <a:rPr lang="en-US" sz="2000" dirty="0"/>
              <a:t>Customized Live Market Prediction &amp; AI Recommendation System – </a:t>
            </a:r>
            <a:r>
              <a:rPr lang="en-US" sz="2000" b="1" dirty="0"/>
              <a:t>IT22134608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0232B-2B83-4C67-7352-CCDC27B4F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272" y="2886390"/>
            <a:ext cx="2451648" cy="3674114"/>
          </a:xfrm>
          <a:prstGeom prst="rect">
            <a:avLst/>
          </a:prstGeom>
        </p:spPr>
      </p:pic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CD828712-0E91-1D1D-1B38-04978DCF35B3}"/>
              </a:ext>
            </a:extLst>
          </p:cNvPr>
          <p:cNvGraphicFramePr/>
          <p:nvPr/>
        </p:nvGraphicFramePr>
        <p:xfrm>
          <a:off x="360680" y="3501747"/>
          <a:ext cx="11104880" cy="2954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3745A96-9065-07BD-F5F2-2FD5FCE528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3" y="6397023"/>
            <a:ext cx="2258377" cy="460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4C5FA2-D340-0900-3670-B8996D3DAB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794" y="-3"/>
            <a:ext cx="894703" cy="2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33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9088D-F78E-DA07-023C-60E65BE3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b="1"/>
              <a:t>Expected Impact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BCB35-CF1E-DB76-E043-DC820B2EB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940A0-9820-5434-C9A7-1EB712A81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lvl="0"/>
            <a:r>
              <a:rPr lang="en-US" sz="2000"/>
              <a:t>Personalized and balanced animal nutrition </a:t>
            </a:r>
          </a:p>
          <a:p>
            <a:pPr lvl="0"/>
            <a:r>
              <a:rPr lang="en-US" sz="2000"/>
              <a:t>Reduced feed wastage </a:t>
            </a:r>
          </a:p>
          <a:p>
            <a:pPr lvl="0"/>
            <a:r>
              <a:rPr lang="en-US" sz="2000"/>
              <a:t>Early detection of health problems </a:t>
            </a:r>
          </a:p>
          <a:p>
            <a:pPr lvl="0"/>
            <a:r>
              <a:rPr lang="en-US" sz="2000"/>
              <a:t>Faster veterinary intervention </a:t>
            </a:r>
          </a:p>
          <a:p>
            <a:pPr lvl="0"/>
            <a:r>
              <a:rPr lang="en-US" sz="2000"/>
              <a:t>Reduced disease spread </a:t>
            </a:r>
          </a:p>
          <a:p>
            <a:pPr lvl="0"/>
            <a:r>
              <a:rPr lang="en-US" sz="2000"/>
              <a:t>Improved healthy birth and egg hatch rates </a:t>
            </a:r>
          </a:p>
          <a:p>
            <a:pPr lvl="0"/>
            <a:r>
              <a:rPr lang="en-US" sz="2000"/>
              <a:t>Reduced livestock losses </a:t>
            </a:r>
          </a:p>
          <a:p>
            <a:pPr lvl="0"/>
            <a:r>
              <a:rPr lang="en-US" sz="2000"/>
              <a:t>Better market decisions </a:t>
            </a:r>
          </a:p>
          <a:p>
            <a:pPr lvl="0"/>
            <a:r>
              <a:rPr lang="en-US" sz="2000"/>
              <a:t>Increased farmer profitability </a:t>
            </a:r>
          </a:p>
          <a:p>
            <a:pPr lvl="0"/>
            <a:r>
              <a:rPr lang="en-US" sz="2000"/>
              <a:t>Reduced manual workload </a:t>
            </a:r>
          </a:p>
          <a:p>
            <a:pPr lvl="0"/>
            <a:r>
              <a:rPr lang="en-US" sz="2000"/>
              <a:t>Improved animal welfare </a:t>
            </a:r>
          </a:p>
          <a:p>
            <a:pPr lvl="0"/>
            <a:r>
              <a:rPr lang="en-US" sz="2000"/>
              <a:t>Data-driven farm management</a:t>
            </a:r>
          </a:p>
          <a:p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F0CCF-3087-A9A1-C629-3A35A77EB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713" y="6400799"/>
            <a:ext cx="2161789" cy="441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0460E-4C70-F7EC-3BAA-A64F91107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794" y="-3"/>
            <a:ext cx="894703" cy="2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6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35904-BE03-0E5D-9458-5DA511F77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1905829" y="457200"/>
            <a:ext cx="838034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4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680</Words>
  <Application>Microsoft Office PowerPoint</Application>
  <PresentationFormat>Widescreen</PresentationFormat>
  <Paragraphs>144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Converting a Traditional Farm into an AI/ML-Powered Automated Smart Farm </vt:lpstr>
      <vt:lpstr>Our Team  R26 – IT - 093</vt:lpstr>
      <vt:lpstr>Problem &amp; Motivation</vt:lpstr>
      <vt:lpstr>Solution Overview</vt:lpstr>
      <vt:lpstr>Overall Research Gap</vt:lpstr>
      <vt:lpstr>System Architecture &amp; Integration</vt:lpstr>
      <vt:lpstr>Commercialization</vt:lpstr>
      <vt:lpstr>System Architecture &amp; Integration</vt:lpstr>
      <vt:lpstr>Expected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JAYAWARDHANA H.A.S it22136138</dc:creator>
  <cp:lastModifiedBy>JAYAWARDHANA H.A.S it22136138</cp:lastModifiedBy>
  <cp:revision>2</cp:revision>
  <dcterms:created xsi:type="dcterms:W3CDTF">2026-08-31T04:45:30Z</dcterms:created>
  <dcterms:modified xsi:type="dcterms:W3CDTF">2026-08-31T09:28:34Z</dcterms:modified>
</cp:coreProperties>
</file>