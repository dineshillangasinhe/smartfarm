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81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8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81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8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RESEARCH PROPOSAL PRESENTATION</a:t>
            </a:r>
            <a:endParaRPr lang="en-US" sz="1200" dirty="0"/>
          </a:p>
        </p:txBody>
      </p:sp>
      <p:pic>
        <p:nvPicPr>
          <p:cNvPr id="3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462530"/>
            <a:ext cx="762000" cy="381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754630"/>
            <a:ext cx="10883392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5F2E8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Converting a Traditional Farm into an AI/ML-Powered Automated Smart Farm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5532120"/>
            <a:ext cx="136131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6C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Research Group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5796280"/>
            <a:ext cx="1185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09227" y="5532120"/>
            <a:ext cx="22374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6C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09227" y="5796280"/>
            <a:ext cx="26067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Research Group Members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Introduction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3255"/>
            <a:ext cx="5175250" cy="1690370"/>
          </a:xfrm>
          <a:prstGeom prst="roundRect">
            <a:avLst>
              <a:gd name="adj" fmla="val 5823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169160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880" y="2600960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Traditional livestock farming relies heavily on manual monitoring and decision-making.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00775" y="1913255"/>
            <a:ext cx="5175250" cy="1690370"/>
          </a:xfrm>
          <a:prstGeom prst="roundRect">
            <a:avLst>
              <a:gd name="adj" fmla="val 5823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8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6680" y="2169160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6680" y="2600960"/>
            <a:ext cx="480334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Farmers face challenges in animal feeding, disease detection, reproduction management, and market price fluctuations.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15975" y="3813175"/>
            <a:ext cx="5175250" cy="1690370"/>
          </a:xfrm>
          <a:prstGeom prst="roundRect">
            <a:avLst>
              <a:gd name="adj" fmla="val 5823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11" name="Image 2" descr="Lightbulb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1880" y="4069080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1880" y="4500880"/>
            <a:ext cx="480334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Artificial Intelligence (AI), Machine Learning (ML), and Internet of Things (IoT) technologies can improve farm management.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200775" y="3813175"/>
            <a:ext cx="5175250" cy="1690370"/>
          </a:xfrm>
          <a:prstGeom prst="roundRect">
            <a:avLst>
              <a:gd name="adj" fmla="val 5823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14" name="Image 3" descr="Sta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56680" y="4069080"/>
            <a:ext cx="304800" cy="304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56680" y="4500880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This research proposes an integrated smart farm system to improve productivity, efficiency, and animal welfare.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12800" y="6238241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TRADITIONAL LIVESTOCK FARMING FACES SEVERAL CHALLENGES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5500" y="1910080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1922780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Inconsistent feeding practices can affect animal nutrition and productivity.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5500" y="2585720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" y="2598420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Delayed disease detection can increase treatment delays and health risks.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5500" y="3261361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600" y="3274061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Unpredictable animal reproduction cycles can lead to financial losses.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5500" y="3937000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3949700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Fluctuating market prices make profitable business decisions difficult.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5500" y="4612641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600" y="4625341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Limited real-time monitoring reduces the efficiency of farm management.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08800" y="1910080"/>
            <a:ext cx="4470400" cy="3225800"/>
          </a:xfrm>
          <a:prstGeom prst="roundRect">
            <a:avLst>
              <a:gd name="adj" fmla="val 3150"/>
            </a:avLst>
          </a:prstGeom>
          <a:solidFill>
            <a:srgbClr val="14281D"/>
          </a:solidFill>
          <a:ln/>
        </p:spPr>
      </p:sp>
      <p:sp>
        <p:nvSpPr>
          <p:cNvPr id="15" name="Text 13"/>
          <p:cNvSpPr/>
          <p:nvPr/>
        </p:nvSpPr>
        <p:spPr>
          <a:xfrm>
            <a:off x="7213600" y="2730500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MAIN PROBLEM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13600" y="3096261"/>
            <a:ext cx="3976624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5F2E8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The lack of an integrated, intelligent system for efficient livestock monitoring and data-driven farm management.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41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THE RESEARCH SETS OUT TO 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Research Aim and Objectives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10080"/>
            <a:ext cx="4470400" cy="2900680"/>
          </a:xfrm>
          <a:prstGeom prst="roundRect">
            <a:avLst>
              <a:gd name="adj" fmla="val 3503"/>
            </a:avLst>
          </a:prstGeom>
          <a:solidFill>
            <a:srgbClr val="14281D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415541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RESEARCH AIM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781300"/>
            <a:ext cx="3976624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5F2E8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To develop an integrated AI/ML-powered smart farm system that improves livestock management through intelligent monitoring, prediction, and automation.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8000" y="1910080"/>
            <a:ext cx="59649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Research Objectives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88000" y="2367280"/>
            <a:ext cx="3556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45200" y="2367280"/>
            <a:ext cx="54940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Develop an automated feeding and personalized nutrition system.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8000" y="3017520"/>
            <a:ext cx="35560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45200" y="3017520"/>
            <a:ext cx="549402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Detect abnormal animal behavior and generate emergency alerts.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8000" y="3667761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45200" y="3667761"/>
            <a:ext cx="5494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 healthy animal births and successful egg hatching.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8000" y="4099561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45200" y="4099561"/>
            <a:ext cx="5494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Forecast livestock-related market prices using AI/ML.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88000" y="4531361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45200" y="4531361"/>
            <a:ext cx="614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 farmers in making informed decisions using farm data.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FOUR MAIN COMPONENTS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Proposed Smart Farm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3257"/>
            <a:ext cx="2520950" cy="2625090"/>
          </a:xfrm>
          <a:prstGeom prst="roundRect">
            <a:avLst>
              <a:gd name="adj" fmla="val 3904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5" name="Image 0" descr="Setting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6480" y="214376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6480" y="2600961"/>
            <a:ext cx="21217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Automated Feeding &amp; Nutrition System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46480" y="3312161"/>
            <a:ext cx="212173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Recommends suitable feed and automates feeding based on animal requirements.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95675" y="1913257"/>
            <a:ext cx="2520950" cy="2625090"/>
          </a:xfrm>
          <a:prstGeom prst="roundRect">
            <a:avLst>
              <a:gd name="adj" fmla="val 3904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26180" y="2143761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26180" y="2600961"/>
            <a:ext cx="21217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Disease Detection &amp; Emergency Alerts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726180" y="3312161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Identifies abnormal behavior and notifies farmers or veterinarians.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75375" y="1913257"/>
            <a:ext cx="2520950" cy="2625090"/>
          </a:xfrm>
          <a:prstGeom prst="roundRect">
            <a:avLst>
              <a:gd name="adj" fmla="val 3904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13" name="Image 2" descr="C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5880" y="2143761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5880" y="2600961"/>
            <a:ext cx="21217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Animal Birth &amp; Egg Hatch Prediction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405880" y="3312161"/>
            <a:ext cx="2121738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Predicts birth or hatching outcomes using historical, image, and sensor data.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55075" y="1913257"/>
            <a:ext cx="2520950" cy="2625090"/>
          </a:xfrm>
          <a:prstGeom prst="roundRect">
            <a:avLst>
              <a:gd name="adj" fmla="val 3904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pic>
        <p:nvPicPr>
          <p:cNvPr id="17" name="Image 3" descr="Cha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85580" y="2143761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5580" y="2600961"/>
            <a:ext cx="212173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Customized Live Market Prediction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9085580" y="3312161"/>
            <a:ext cx="212173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Forecasts market prices and provides decision-support insights.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COMPONENT 1 OF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Automated Feeding &amp; Nutrition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0082"/>
            <a:ext cx="59649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Key Functions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5500" y="2367282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" y="2379982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Monitor animal behavior and feeding patterns.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500" y="2768600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" y="2781300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animals and assess their physical condition.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5500" y="3169921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" y="3182621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 species, breed, weight, size, and health condition.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5500" y="3571239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" y="3583939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 suitable feed type, quantity, and feeding schedule.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5500" y="3972561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3985261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Automatically dispense the recommended amount of feed.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8800" y="1910082"/>
            <a:ext cx="4470400" cy="2545080"/>
          </a:xfrm>
          <a:prstGeom prst="roundRect">
            <a:avLst>
              <a:gd name="adj" fmla="val 3992"/>
            </a:avLst>
          </a:prstGeom>
          <a:solidFill>
            <a:srgbClr val="14281D"/>
          </a:solidFill>
          <a:ln/>
        </p:spPr>
      </p:sp>
      <p:sp>
        <p:nvSpPr>
          <p:cNvPr id="16" name="Text 14"/>
          <p:cNvSpPr/>
          <p:nvPr/>
        </p:nvSpPr>
        <p:spPr>
          <a:xfrm>
            <a:off x="7213600" y="2214882"/>
            <a:ext cx="39766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E8B04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Expected Benefits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26300" y="2672082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1400" y="2684782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Personalized nutrition.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6300" y="3073400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1400" y="3086100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Reduced food wastage.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6300" y="3474721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1400" y="3487421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Improved animal growth and productivity.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6300" y="3876039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91400" y="3888739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More efficient farm management.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COMPONENT 2 OF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Disease Detection &amp; Emergency Alerts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0082"/>
            <a:ext cx="59649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Key Functions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5500" y="2367282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" y="2379982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Monitor animal movement, posture, and activity using cameras and sensors.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500" y="3017521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" y="3030221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 behavioral changes using AI/ML.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5500" y="3418839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" y="3431539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Identify possible signs of illness, such as limping and reduced activity.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5500" y="4069082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" y="4081782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Generate alerts when abnormal conditions are detected.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5500" y="4470400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4483100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Recommend initial actions and notify veterinarians when necessary.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8800" y="1910082"/>
            <a:ext cx="4470400" cy="2834640"/>
          </a:xfrm>
          <a:prstGeom prst="roundRect">
            <a:avLst>
              <a:gd name="adj" fmla="val 3584"/>
            </a:avLst>
          </a:prstGeom>
          <a:solidFill>
            <a:srgbClr val="14281D"/>
          </a:solidFill>
          <a:ln/>
        </p:spPr>
      </p:sp>
      <p:sp>
        <p:nvSpPr>
          <p:cNvPr id="16" name="Text 14"/>
          <p:cNvSpPr/>
          <p:nvPr/>
        </p:nvSpPr>
        <p:spPr>
          <a:xfrm>
            <a:off x="7213600" y="2214882"/>
            <a:ext cx="39766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E8B04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Expected Benefits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26300" y="2672082"/>
            <a:ext cx="0" cy="52324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1400" y="2684782"/>
            <a:ext cx="379349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Earlier identification of possible health problems.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6300" y="3322321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1400" y="3335021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Faster response to animal health issues.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6300" y="3723639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1400" y="3736339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Reduced risk of disease spreading.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6300" y="4124961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91400" y="4137661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Improved animal welfare.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COMPONENT 3 OF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Animal Birth &amp; Egg Hatch Prediction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0082"/>
            <a:ext cx="59649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Key Functions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5500" y="2367282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" y="2379982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Collect historical breeding records, sensor data, images, and environmental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500" y="3017521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" y="3030221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 relevant patterns using AI/ML models.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5500" y="3418839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" y="3431539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 the likelihood of a healthy calf birth or successful egg hatching.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5500" y="4069079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" y="4081779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Generate early warnings when abnormal conditions are identified.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5500" y="4470400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4483100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Suggest preventive actions to improve outcomes.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8800" y="1910082"/>
            <a:ext cx="4470400" cy="2834640"/>
          </a:xfrm>
          <a:prstGeom prst="roundRect">
            <a:avLst>
              <a:gd name="adj" fmla="val 3584"/>
            </a:avLst>
          </a:prstGeom>
          <a:solidFill>
            <a:srgbClr val="14281D"/>
          </a:solidFill>
          <a:ln/>
        </p:spPr>
      </p:sp>
      <p:sp>
        <p:nvSpPr>
          <p:cNvPr id="16" name="Text 14"/>
          <p:cNvSpPr/>
          <p:nvPr/>
        </p:nvSpPr>
        <p:spPr>
          <a:xfrm>
            <a:off x="7213600" y="2214882"/>
            <a:ext cx="39766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E8B04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Expected Benefits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26300" y="2672082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1400" y="2684782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Early identification of potential risks.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6300" y="3073400"/>
            <a:ext cx="0" cy="52324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1400" y="3086100"/>
            <a:ext cx="379349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Improved preparation for births and hatching.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6300" y="3723639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1400" y="3736339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Reduced livestock and poultry losses.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6300" y="4124964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91400" y="4137664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Better farm productivity.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COMPONENT 4 OF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Customized Live Market Prediction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0079"/>
            <a:ext cx="596493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Key Functions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5500" y="2367279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" y="2379979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Collect and update historical and available current market prices for milk, livestock, eggs, and meat.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5500" y="3017521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" y="3030221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Analyze price patterns, seasonal changes, and demand-supply trends.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5500" y="3667764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" y="3680464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Predict future market price movements using AI/ML.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5500" y="4069079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" y="4081779"/>
            <a:ext cx="5781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Provide market insights to support buying and selling decisions.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5500" y="4470400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600" y="4483100"/>
            <a:ext cx="578180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Help farmers understand potential income, price changes, and financial risks.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8800" y="1910079"/>
            <a:ext cx="4470400" cy="3083560"/>
          </a:xfrm>
          <a:prstGeom prst="roundRect">
            <a:avLst>
              <a:gd name="adj" fmla="val 3295"/>
            </a:avLst>
          </a:prstGeom>
          <a:solidFill>
            <a:srgbClr val="14281D"/>
          </a:solidFill>
          <a:ln/>
        </p:spPr>
      </p:sp>
      <p:sp>
        <p:nvSpPr>
          <p:cNvPr id="16" name="Text 14"/>
          <p:cNvSpPr/>
          <p:nvPr/>
        </p:nvSpPr>
        <p:spPr>
          <a:xfrm>
            <a:off x="7213600" y="2214879"/>
            <a:ext cx="397662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E8B04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Expected Benefits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226300" y="2672079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91400" y="2684779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Better market awareness.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6300" y="3073400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91400" y="3086100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Improved decision-making.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6300" y="3474721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1400" y="3487421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Support for income planning.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6300" y="3876042"/>
            <a:ext cx="0" cy="274320"/>
          </a:xfrm>
          <a:prstGeom prst="line">
            <a:avLst/>
          </a:prstGeom>
          <a:noFill/>
          <a:ln w="25400">
            <a:solidFill>
              <a:srgbClr val="E8B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91400" y="3888742"/>
            <a:ext cx="37934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Reduced financial uncertainty.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B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590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28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COMPONENT 4 · INNOVATION</a:t>
            </a:r>
            <a:endParaRPr lang="en-US" sz="1200" dirty="0"/>
          </a:p>
        </p:txBody>
      </p:sp>
      <p:pic>
        <p:nvPicPr>
          <p:cNvPr id="3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626364"/>
            <a:ext cx="762000" cy="381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title"/>
          </p:nvPr>
        </p:nvSpPr>
        <p:spPr>
          <a:xfrm>
            <a:off x="812800" y="2918464"/>
            <a:ext cx="10883392" cy="160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 customized livestock-market forecasting approach that combines market information with relevant farm production data and seasonal patterns.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81D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HOW THE RESEARCH WILL BE CARRIED OUT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Data Collection &amp; Methodology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3254"/>
            <a:ext cx="5549345" cy="3087370"/>
          </a:xfrm>
          <a:prstGeom prst="roundRect">
            <a:avLst>
              <a:gd name="adj" fmla="val 3188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169164"/>
            <a:ext cx="518866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Data Collection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84580" y="2626364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9680" y="2639064"/>
            <a:ext cx="500552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Collect relevant farm data from National Livestock Development Board (NLDB) farms.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84580" y="3276600"/>
            <a:ext cx="0" cy="52324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9680" y="3289300"/>
            <a:ext cx="500552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Use historical records related to animal health, breeding, production, and market prices.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84580" y="3926842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680" y="3939542"/>
            <a:ext cx="5005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Gather available image and sensor data where applicable.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84580" y="4328164"/>
            <a:ext cx="0" cy="274320"/>
          </a:xfrm>
          <a:prstGeom prst="line">
            <a:avLst/>
          </a:prstGeom>
          <a:noFill/>
          <a:ln w="25400">
            <a:solidFill>
              <a:srgbClr val="2F6B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9680" y="4340864"/>
            <a:ext cx="50055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Organize and validate the collected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73294" y="1910079"/>
            <a:ext cx="4705906" cy="3093720"/>
          </a:xfrm>
          <a:prstGeom prst="roundRect">
            <a:avLst>
              <a:gd name="adj" fmla="val 3284"/>
            </a:avLst>
          </a:prstGeom>
          <a:solidFill>
            <a:srgbClr val="14281D"/>
          </a:solidFill>
          <a:ln/>
        </p:spPr>
      </p:sp>
      <p:sp>
        <p:nvSpPr>
          <p:cNvPr id="15" name="Text 13"/>
          <p:cNvSpPr/>
          <p:nvPr/>
        </p:nvSpPr>
        <p:spPr>
          <a:xfrm>
            <a:off x="6927294" y="2164079"/>
            <a:ext cx="43238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E8B04A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Research Methodology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27294" y="2621279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08294" y="2621279"/>
            <a:ext cx="3931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27294" y="2997200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08294" y="2997200"/>
            <a:ext cx="3931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Data cleaning and preprocessing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27294" y="3373121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08294" y="3373121"/>
            <a:ext cx="3931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Feature selection and preparation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27294" y="3749042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08294" y="3749042"/>
            <a:ext cx="3931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AI/ML model development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27294" y="4124964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08294" y="4124964"/>
            <a:ext cx="3931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 testing and evaluation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27294" y="4500879"/>
            <a:ext cx="30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08294" y="4500879"/>
            <a:ext cx="3931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System integration and validation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WHAT THE SYSTEM SHOULD DELIVER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Expected Outcomes</a:t>
            </a:r>
            <a:endParaRPr lang="en-US" sz="3600" dirty="0"/>
          </a:p>
        </p:txBody>
      </p:sp>
      <p:pic>
        <p:nvPicPr>
          <p:cNvPr id="4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2942"/>
            <a:ext cx="203200" cy="20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910079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Improved livestock monitoring and management.</a:t>
            </a:r>
            <a:endParaRPr lang="en-US" sz="1400" dirty="0"/>
          </a:p>
        </p:txBody>
      </p:sp>
      <p:pic>
        <p:nvPicPr>
          <p:cNvPr id="6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321564"/>
            <a:ext cx="203200" cy="20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2298700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More personalized and efficient animal feeding.</a:t>
            </a:r>
            <a:endParaRPr lang="en-US" sz="1400" dirty="0"/>
          </a:p>
        </p:txBody>
      </p:sp>
      <p:pic>
        <p:nvPicPr>
          <p:cNvPr id="8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710179"/>
            <a:ext cx="203200" cy="203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687321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Earlier detection of potential animal health problems.</a:t>
            </a:r>
            <a:endParaRPr lang="en-US" sz="1400" dirty="0"/>
          </a:p>
        </p:txBody>
      </p:sp>
      <p:pic>
        <p:nvPicPr>
          <p:cNvPr id="10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098800"/>
            <a:ext cx="203200" cy="203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3075942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Better birth and egg-hatching risk prediction.</a:t>
            </a:r>
            <a:endParaRPr lang="en-US" sz="1400" dirty="0"/>
          </a:p>
        </p:txBody>
      </p:sp>
      <p:pic>
        <p:nvPicPr>
          <p:cNvPr id="12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487421"/>
            <a:ext cx="203200" cy="2032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464564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Improved market price forecasting and decision support.</a:t>
            </a:r>
            <a:endParaRPr lang="en-US" sz="1400" dirty="0"/>
          </a:p>
        </p:txBody>
      </p:sp>
      <p:pic>
        <p:nvPicPr>
          <p:cNvPr id="14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3876042"/>
            <a:ext cx="203200" cy="2032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43000" y="3853179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Reduced avoidable losses and operational costs.</a:t>
            </a:r>
            <a:endParaRPr lang="en-US" sz="1400" dirty="0"/>
          </a:p>
        </p:txBody>
      </p:sp>
      <p:pic>
        <p:nvPicPr>
          <p:cNvPr id="16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2800" y="4264664"/>
            <a:ext cx="203200" cy="2032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43000" y="4241800"/>
            <a:ext cx="5624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More efficient and data-driven farm management.</a:t>
            </a:r>
            <a:endParaRPr lang="en-US" sz="1400" dirty="0"/>
          </a:p>
        </p:txBody>
      </p:sp>
      <p:sp>
        <p:nvSpPr>
          <p:cNvPr id="18" name="Shape 9"/>
          <p:cNvSpPr/>
          <p:nvPr/>
        </p:nvSpPr>
        <p:spPr>
          <a:xfrm>
            <a:off x="6908800" y="1910079"/>
            <a:ext cx="4470400" cy="2580640"/>
          </a:xfrm>
          <a:prstGeom prst="roundRect">
            <a:avLst>
              <a:gd name="adj" fmla="val 3937"/>
            </a:avLst>
          </a:prstGeom>
          <a:solidFill>
            <a:srgbClr val="14281D"/>
          </a:solidFill>
          <a:ln/>
        </p:spPr>
      </p:sp>
      <p:sp>
        <p:nvSpPr>
          <p:cNvPr id="19" name="Text 10"/>
          <p:cNvSpPr/>
          <p:nvPr/>
        </p:nvSpPr>
        <p:spPr>
          <a:xfrm>
            <a:off x="7213600" y="2560321"/>
            <a:ext cx="39766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E8B04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RESEARCH CONTRIBUTION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7213600" y="2926079"/>
            <a:ext cx="397662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F5F2E8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An integrated smart farm approach combining four AI/ML components in one livestock management system.</a:t>
            </a:r>
            <a:endParaRPr lang="en-US" sz="2000" dirty="0"/>
          </a:p>
        </p:txBody>
      </p:sp>
      <p:sp>
        <p:nvSpPr>
          <p:cNvPr id="21" name="Text 1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F6B3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81D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3254"/>
            <a:ext cx="5175250" cy="1614170"/>
          </a:xfrm>
          <a:prstGeom prst="roundRect">
            <a:avLst>
              <a:gd name="adj" fmla="val 6098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169164"/>
            <a:ext cx="48033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880" y="2524764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proposed smart farm system addresses key challenges in traditional livestock farming.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913254"/>
            <a:ext cx="5175250" cy="1614170"/>
          </a:xfrm>
          <a:prstGeom prst="roundRect">
            <a:avLst>
              <a:gd name="adj" fmla="val 6098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2169164"/>
            <a:ext cx="48033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56680" y="2524764"/>
            <a:ext cx="4803343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AI/ML technologies support intelligent feeding, health monitoring, reproduction prediction, and market forecasting.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736975"/>
            <a:ext cx="5175250" cy="1365250"/>
          </a:xfrm>
          <a:prstGeom prst="roundRect">
            <a:avLst>
              <a:gd name="adj" fmla="val 7209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1880" y="3992879"/>
            <a:ext cx="48033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1880" y="4348479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integration of these components aims to improve farm efficiency, animal welfare, and decision-making.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3736975"/>
            <a:ext cx="5175250" cy="1365250"/>
          </a:xfrm>
          <a:prstGeom prst="roundRect">
            <a:avLst>
              <a:gd name="adj" fmla="val 7209"/>
            </a:avLst>
          </a:prstGeom>
          <a:solidFill>
            <a:srgbClr val="FBFAF4"/>
          </a:solidFill>
          <a:ln w="6350">
            <a:solidFill>
              <a:srgbClr val="D9D4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6680" y="3992879"/>
            <a:ext cx="48033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2F6B3F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56680" y="4348479"/>
            <a:ext cx="4803343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3423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The system provides a foundation for more intelligent and sustainable livestock farming.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R26-IT-093 · AI/ML-Powered Smart Farm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75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696214"/>
            <a:ext cx="762000" cy="381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2988314"/>
            <a:ext cx="108833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0" i="0" dirty="0">
                <a:solidFill>
                  <a:srgbClr val="F5F2E8"/>
                </a:solidFill>
                <a:latin typeface="EB Garamond" pitchFamily="18" charset="0"/>
                <a:ea typeface="EB Garamond" pitchFamily="18" charset="-122"/>
                <a:cs typeface="EB Garamond" pitchFamily="18" charset="-120"/>
              </a:rPr>
              <a:t>Thank You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12800" y="391287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D6C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Research Group R26-IT-093 · AI/ML-Powered Automated Smart Farm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/ML-Powered Smart Farm: Research Proposal">
  <a:themeElements>
    <a:clrScheme name="AI/ML-Powered Smart Farm: Research Proposal">
      <a:dk1>
        <a:srgbClr val="14281D"/>
      </a:dk1>
      <a:lt1>
        <a:srgbClr val="F5F2E8"/>
      </a:lt1>
      <a:dk2>
        <a:srgbClr val="4C5B50"/>
      </a:dk2>
      <a:lt2>
        <a:srgbClr val="DFDED4"/>
      </a:lt2>
      <a:accent1>
        <a:srgbClr val="2F6B3F"/>
      </a:accent1>
      <a:accent2>
        <a:srgbClr val="E8B04A"/>
      </a:accent2>
      <a:accent3>
        <a:srgbClr val="33423A"/>
      </a:accent3>
      <a:accent4>
        <a:srgbClr val="5A675F"/>
      </a:accent4>
      <a:accent5>
        <a:srgbClr val="C5D6C8"/>
      </a:accent5>
      <a:accent6>
        <a:srgbClr val="9AA0A6"/>
      </a:accent6>
      <a:hlink>
        <a:srgbClr val="0563C1"/>
      </a:hlink>
      <a:folHlink>
        <a:srgbClr val="954F72"/>
      </a:folHlink>
    </a:clrScheme>
    <a:fontScheme name="AI/ML-Powered Smart Farm: Research Proposal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AI/ML-Powered Smart Farm: Research Proposal</dc:title>
  <dc:subject/>
  <dc:creator/>
  <cp:lastModifiedBy/>
  <cp:revision>1</cp:revision>
  <dcterms:created xsi:type="dcterms:W3CDTF">2026-10-20T07:11:04Z</dcterms:created>
  <dcterms:modified xsi:type="dcterms:W3CDTF">2026-10-20T07:11:04Z</dcterms:modified>
</cp:coreProperties>
</file>